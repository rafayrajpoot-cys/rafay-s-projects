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3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70" r:id="rId13"/>
    <p:sldId id="296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79" r:id="rId22"/>
    <p:sldId id="280" r:id="rId23"/>
    <p:sldId id="292" r:id="rId24"/>
    <p:sldId id="293" r:id="rId25"/>
    <p:sldId id="294" r:id="rId26"/>
    <p:sldId id="295" r:id="rId27"/>
    <p:sldId id="281" r:id="rId28"/>
    <p:sldId id="282" r:id="rId29"/>
    <p:sldId id="283" r:id="rId30"/>
    <p:sldId id="284" r:id="rId31"/>
    <p:sldId id="285" r:id="rId32"/>
    <p:sldId id="288" r:id="rId33"/>
    <p:sldId id="289" r:id="rId34"/>
    <p:sldId id="290" r:id="rId35"/>
  </p:sldIdLst>
  <p:sldSz cx="14630400" cy="8229600"/>
  <p:notesSz cx="8229600" cy="14630400"/>
  <p:embeddedFontLst>
    <p:embeddedFont>
      <p:font typeface="Consolas" panose="020B0609020204030204" pitchFamily="49" charset="0"/>
      <p:regular r:id="rId37"/>
      <p:bold r:id="rId38"/>
      <p:italic r:id="rId39"/>
      <p:boldItalic r:id="rId40"/>
    </p:embeddedFont>
    <p:embeddedFont>
      <p:font typeface="Mona Sans Expanded SemiBold" panose="020B0604020202020204" charset="0"/>
      <p:bold r:id="rId41"/>
      <p:boldItalic r:id="rId42"/>
    </p:embeddedFont>
    <p:embeddedFont>
      <p:font typeface="Roboto" pitchFamily="2" charset="0"/>
      <p:regular r:id="rId43"/>
      <p:bold r:id="rId44"/>
      <p:italic r:id="rId45"/>
      <p:boldItalic r:id="rId46"/>
    </p:embeddedFont>
    <p:embeddedFont>
      <p:font typeface="Roboto Slab" pitchFamily="2" charset="0"/>
      <p:regular r:id="rId47"/>
      <p:bold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2D8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14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8C8FE-EF0F-FE0B-1EB7-C18A3D446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3C6626-A77E-DB48-BC7E-8C76D0BC6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6879F-67A9-1B77-C636-0C9A91A3C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74544-2AC3-4F5A-A1A9-1353A2BCA05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0F50C-E956-9CCC-41DC-4CA88A9BB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9727C-E6FD-9D16-899B-8B900DCA7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8849-F39B-4E64-8894-0760723F9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5381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49AE9-95E1-0C6C-D507-EDE0F017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CEE65-FE37-5D39-32DD-5E19E8E49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1AF4E-6CAE-4D4D-ACD2-C768FA77D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74544-2AC3-4F5A-A1A9-1353A2BCA05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62ECE-688D-75D9-A1AF-15A97B86B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0AE01-973E-8977-AB63-863C48AF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8849-F39B-4E64-8894-0760723F9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31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EBA98-C204-7B9C-2298-C8A8C7CF3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E4A7D-5304-95B0-BED7-A3345B996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D364D-EF58-2D78-DD4E-A0755422E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74544-2AC3-4F5A-A1A9-1353A2BCA05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2F32A-2CE6-BE95-2C60-4BFEE3EC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00605-A99D-08D2-4FE1-951661E40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8849-F39B-4E64-8894-0760723F9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313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F62F8-829A-90F4-39EA-DB9963DAF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8C900-E7B0-EC79-3F4C-3FD7B7215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52F7AD-E24B-0765-3230-DEF1D76C6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8F856-8CD9-A944-B60B-98AC60F65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74544-2AC3-4F5A-A1A9-1353A2BCA05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7C102-71BD-492F-E21B-6ABD71850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E6C22-B61B-A4B6-3A4F-EBD4ABC4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8849-F39B-4E64-8894-0760723F9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872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56F2-399C-F773-FE0C-1AA524B7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5096B-B11E-0E55-827F-4B2C22EDE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7D76F-FEA5-F992-3D12-B136E11F9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AFBFDC-EFAA-D701-3BD0-98BFAF8F0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BF2B55-F0EF-AE85-F859-DA9A17844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DF2C4D-033D-EFB4-FF29-D87A013B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74544-2AC3-4F5A-A1A9-1353A2BCA05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056B7-53F1-929D-73F8-3E18CDFFE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2BEEED-28A4-C580-FC95-82A922D9D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8849-F39B-4E64-8894-0760723F9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176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3A707-33C2-13EB-B2C8-51A878C8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972F16-39CE-1F16-0008-65B2AA4B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74544-2AC3-4F5A-A1A9-1353A2BCA05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F0F396-1211-AD35-AD3E-3869E5D68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C7DE47-E32D-DA83-DD75-693AD85EA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8849-F39B-4E64-8894-0760723F9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68194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2A2CBC-DBA7-E704-3987-F9613B053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74544-2AC3-4F5A-A1A9-1353A2BCA05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C44563-96BD-E5CE-D442-ADA798F7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326CE-4E46-72A8-0110-AEE054FFF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8849-F39B-4E64-8894-0760723F9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147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A10E2-4EA0-0D0F-CA90-FB8AC43C6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64C26-A6B4-6A79-CFE4-886CB789D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DE828-5BAF-3E09-8F9C-9D1C2C940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76E2D-2924-4C59-D3F9-DCF3B3B05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74544-2AC3-4F5A-A1A9-1353A2BCA05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64531-CBBD-B8E4-F7BF-4180AAAD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40C0D-C91D-4B08-DC98-6873EAECB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8849-F39B-4E64-8894-0760723F9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2746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CAE17-AD22-6FA3-BD9B-BDA69B917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A1114-B0AF-6A36-4E7A-2D92FC803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8FF60-15C4-5E37-22F4-9A9AD283F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22251-7C73-39E4-874B-5CEB55337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74544-2AC3-4F5A-A1A9-1353A2BCA05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C8D25-A5C7-219F-477B-8A1031E69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4C092-641C-4654-4126-F4F15B4CA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8849-F39B-4E64-8894-0760723F9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151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E3DC6-371E-E426-E406-B7F46C186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DCD24-AF2B-7056-A38A-D042145A3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CDB8E-F4F6-829F-409C-0F865D41C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74544-2AC3-4F5A-A1A9-1353A2BCA05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F8379-1745-6A45-8717-9427BC048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0F44F-C0E1-2965-1DFA-94B1F7157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8849-F39B-4E64-8894-0760723F9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49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D8D52-7234-19B3-5146-98A8D7448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BC793-5AFD-A948-3E02-E4713BD2F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6D959-C0FE-010C-B162-FFD7F2233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74544-2AC3-4F5A-A1A9-1353A2BCA05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309F0-699A-687D-7704-DB1289CF2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1E970-1F57-604F-794C-2DDAF91AE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8849-F39B-4E64-8894-0760723F9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0324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14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151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102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3806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8913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412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9807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3635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8448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806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40CDD7-03A8-E741-1489-ECF940BAD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3D08D-122A-1BF3-4548-92418E179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39D12-0015-BDA3-391D-52042FA15B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474544-2AC3-4F5A-A1A9-1353A2BCA05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CA47D-0F3F-6E7E-5D62-789ACF0D2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E400B-B1AB-6EAA-8082-78630D9A1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68849-F39B-4E64-8894-0760723F9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5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9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8633"/>
            <a:ext cx="128547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PENNYSTACK: Smart Personal Expense Tracker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81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Hybrid Data Structure Approach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3790" y="4257675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Abdul Rafay (243705)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3790" y="4803100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 Structures - Spring 2025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3790" y="5348526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Instructor: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Mr. Syed Atta Ur Rehman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3597E-99A6-FD9A-A4B8-9740279AFB1C}"/>
              </a:ext>
            </a:extLst>
          </p:cNvPr>
          <p:cNvSpPr txBox="1"/>
          <p:nvPr/>
        </p:nvSpPr>
        <p:spPr>
          <a:xfrm>
            <a:off x="706056" y="581924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 University Multan Campus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78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Presentation Agenda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06823"/>
            <a:ext cx="4196358" cy="1223248"/>
          </a:xfrm>
          <a:prstGeom prst="roundRect">
            <a:avLst>
              <a:gd name="adj" fmla="val 11960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206823"/>
            <a:ext cx="121920" cy="1223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464118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Statement &amp; Motivation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216962" y="2206823"/>
            <a:ext cx="4196358" cy="1223248"/>
          </a:xfrm>
          <a:prstGeom prst="roundRect">
            <a:avLst>
              <a:gd name="adj" fmla="val 11960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2206823"/>
            <a:ext cx="121920" cy="12232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65696" y="2464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9640133" y="2206823"/>
            <a:ext cx="4196358" cy="1223248"/>
          </a:xfrm>
          <a:prstGeom prst="roundRect">
            <a:avLst>
              <a:gd name="adj" fmla="val 11960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2206823"/>
            <a:ext cx="121920" cy="12232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988868" y="2464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12" name="Shape 7"/>
          <p:cNvSpPr/>
          <p:nvPr/>
        </p:nvSpPr>
        <p:spPr>
          <a:xfrm>
            <a:off x="793790" y="3656886"/>
            <a:ext cx="4196358" cy="1223248"/>
          </a:xfrm>
          <a:prstGeom prst="roundRect">
            <a:avLst>
              <a:gd name="adj" fmla="val 11960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656886"/>
            <a:ext cx="121920" cy="12232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2524" y="3914180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Structures Implementation</a:t>
            </a:r>
            <a:endParaRPr lang="en-US" sz="2200" dirty="0"/>
          </a:p>
        </p:txBody>
      </p:sp>
      <p:sp>
        <p:nvSpPr>
          <p:cNvPr id="15" name="Shape 9"/>
          <p:cNvSpPr/>
          <p:nvPr/>
        </p:nvSpPr>
        <p:spPr>
          <a:xfrm>
            <a:off x="5216962" y="3656886"/>
            <a:ext cx="4196358" cy="1223248"/>
          </a:xfrm>
          <a:prstGeom prst="roundRect">
            <a:avLst>
              <a:gd name="adj" fmla="val 11960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3656886"/>
            <a:ext cx="121920" cy="12232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565696" y="39141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18" name="Shape 11"/>
          <p:cNvSpPr/>
          <p:nvPr/>
        </p:nvSpPr>
        <p:spPr>
          <a:xfrm>
            <a:off x="9640133" y="3656886"/>
            <a:ext cx="4196358" cy="1223248"/>
          </a:xfrm>
          <a:prstGeom prst="roundRect">
            <a:avLst>
              <a:gd name="adj" fmla="val 11960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656886"/>
            <a:ext cx="121920" cy="12232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988868" y="39141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 &amp; Demo</a:t>
            </a:r>
            <a:endParaRPr lang="en-US" sz="2200" dirty="0"/>
          </a:p>
        </p:txBody>
      </p:sp>
      <p:sp>
        <p:nvSpPr>
          <p:cNvPr id="21" name="Shape 13"/>
          <p:cNvSpPr/>
          <p:nvPr/>
        </p:nvSpPr>
        <p:spPr>
          <a:xfrm>
            <a:off x="793790" y="5106948"/>
            <a:ext cx="4196358" cy="868918"/>
          </a:xfrm>
          <a:prstGeom prst="roundRect">
            <a:avLst>
              <a:gd name="adj" fmla="val 16837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5106948"/>
            <a:ext cx="121920" cy="86891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142524" y="5364242"/>
            <a:ext cx="31394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Implementation Details</a:t>
            </a:r>
            <a:endParaRPr lang="en-US" sz="2200" dirty="0"/>
          </a:p>
        </p:txBody>
      </p:sp>
      <p:sp>
        <p:nvSpPr>
          <p:cNvPr id="24" name="Shape 15"/>
          <p:cNvSpPr/>
          <p:nvPr/>
        </p:nvSpPr>
        <p:spPr>
          <a:xfrm>
            <a:off x="5216962" y="5106948"/>
            <a:ext cx="4196358" cy="868918"/>
          </a:xfrm>
          <a:prstGeom prst="roundRect">
            <a:avLst>
              <a:gd name="adj" fmla="val 16837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482" y="5106948"/>
            <a:ext cx="121920" cy="86891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565696" y="5364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Testing &amp; Results</a:t>
            </a:r>
            <a:endParaRPr lang="en-US" sz="2200" dirty="0"/>
          </a:p>
        </p:txBody>
      </p:sp>
      <p:sp>
        <p:nvSpPr>
          <p:cNvPr id="27" name="Shape 17"/>
          <p:cNvSpPr/>
          <p:nvPr/>
        </p:nvSpPr>
        <p:spPr>
          <a:xfrm>
            <a:off x="9640133" y="5106948"/>
            <a:ext cx="4196358" cy="868918"/>
          </a:xfrm>
          <a:prstGeom prst="roundRect">
            <a:avLst>
              <a:gd name="adj" fmla="val 16837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9653" y="5106948"/>
            <a:ext cx="121920" cy="86891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9988868" y="5364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Challenges Faced</a:t>
            </a:r>
            <a:endParaRPr lang="en-US" sz="2200" dirty="0"/>
          </a:p>
        </p:txBody>
      </p:sp>
      <p:sp>
        <p:nvSpPr>
          <p:cNvPr id="30" name="Shape 19"/>
          <p:cNvSpPr/>
          <p:nvPr/>
        </p:nvSpPr>
        <p:spPr>
          <a:xfrm>
            <a:off x="793790" y="6202680"/>
            <a:ext cx="4196358" cy="868918"/>
          </a:xfrm>
          <a:prstGeom prst="roundRect">
            <a:avLst>
              <a:gd name="adj" fmla="val 16837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6202680"/>
            <a:ext cx="121920" cy="86891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142524" y="6459974"/>
            <a:ext cx="29765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33" name="Shape 21"/>
          <p:cNvSpPr/>
          <p:nvPr/>
        </p:nvSpPr>
        <p:spPr>
          <a:xfrm>
            <a:off x="5216962" y="6202680"/>
            <a:ext cx="4196358" cy="868918"/>
          </a:xfrm>
          <a:prstGeom prst="roundRect">
            <a:avLst>
              <a:gd name="adj" fmla="val 16837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482" y="6202680"/>
            <a:ext cx="121920" cy="868918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565696" y="6459974"/>
            <a:ext cx="35006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 &amp; Q&amp;A Session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4485"/>
            <a:ext cx="109339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Problem: Financial Mismanagement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7024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Current Challenges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52234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tracking takes too much time and leads to mistakes.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2744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There's no organized system for paying bills.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6964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It's hard to understand where your money is going.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1184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could lose important financial data without reliable backups.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87024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Real-World Impact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352234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60%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people don't track their spending regularly.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96454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average person makes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3-4 financial mistakes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each month.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76964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Bills are often paid late because of poor scheduling.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21184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knowing your spending usually leads to overspending.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2720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common problems show a clear need for a better financial management tool.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7389"/>
            <a:ext cx="92823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PENNYSTACK: The Smart Solution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7979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PennyStack is a console-based C++ application designed to tackle common financial mismanagement issues head-on, leveraging advanced data structures for optimal performance and reliability.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60752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084" y="3418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Multiple Data Types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3908465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5 different data types. They work together to handle all features.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160752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74256" y="3418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Fast Processing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74256" y="390846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Processes information quickly. This ensures a smooth and speedy experience.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160752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97427" y="3418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Auto-Save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97427" y="390846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data is saved automatically. You won't lose your financial records.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481280"/>
            <a:ext cx="6407944" cy="1730812"/>
          </a:xfrm>
          <a:prstGeom prst="roundRect">
            <a:avLst>
              <a:gd name="adj" fmla="val 196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084" y="57385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PIN Protection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084" y="6228993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 in securely with a PIN. Extra security measures protect your account.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481280"/>
            <a:ext cx="6407944" cy="1730812"/>
          </a:xfrm>
          <a:prstGeom prst="roundRect">
            <a:avLst>
              <a:gd name="adj" fmla="val 196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85842" y="57385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Quick Undo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85842" y="6228993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Instantly undo any mistakes. Easily correct entries if needed.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53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2112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Primary Goals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9732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an expense tracker.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154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5 data structures.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576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it fast.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998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 data between sessions.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420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secure login.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32112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Secondary Goals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39732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a user-friendly design.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4154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errors well.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8576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spending visually.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2998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bills and payments.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7420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clean, scalable code.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2579" y="496967"/>
            <a:ext cx="4518779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32579" y="1423154"/>
            <a:ext cx="13365242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PennyStack system is structured in a clear, layered architecture to ensure modularity, scalability, and maintainability.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59" y="1557973"/>
            <a:ext cx="13365242" cy="61165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51583" y="2304640"/>
            <a:ext cx="2956557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&amp; Storage</a:t>
            </a:r>
            <a:endParaRPr lang="en-US" sz="1600" b="1" dirty="0"/>
          </a:p>
        </p:txBody>
      </p:sp>
      <p:sp>
        <p:nvSpPr>
          <p:cNvPr id="6" name="Text 3"/>
          <p:cNvSpPr/>
          <p:nvPr/>
        </p:nvSpPr>
        <p:spPr>
          <a:xfrm>
            <a:off x="10351583" y="2738691"/>
            <a:ext cx="3258783" cy="591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Doubly list, stack, queue, BST, file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6881" y="4315099"/>
            <a:ext cx="2956557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Logic</a:t>
            </a:r>
            <a:endParaRPr lang="en-US" sz="1600" b="1" dirty="0"/>
          </a:p>
        </p:txBody>
      </p:sp>
      <p:sp>
        <p:nvSpPr>
          <p:cNvPr id="8" name="Text 5"/>
          <p:cNvSpPr/>
          <p:nvPr/>
        </p:nvSpPr>
        <p:spPr>
          <a:xfrm>
            <a:off x="406400" y="4820270"/>
            <a:ext cx="3467038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Auth, transactions, billing, reporting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351583" y="5353179"/>
            <a:ext cx="2956557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Interface</a:t>
            </a:r>
            <a:endParaRPr lang="en-US" sz="1600" b="1" dirty="0"/>
          </a:p>
        </p:txBody>
      </p:sp>
      <p:sp>
        <p:nvSpPr>
          <p:cNvPr id="10" name="Text 7"/>
          <p:cNvSpPr/>
          <p:nvPr/>
        </p:nvSpPr>
        <p:spPr>
          <a:xfrm>
            <a:off x="10351583" y="5787230"/>
            <a:ext cx="3258783" cy="591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Console-based interaction layer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61459" y="7606575"/>
            <a:ext cx="13365242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design promotes efficient data flow and clear separation of concerns, crucial for a complex application.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787" y="607933"/>
            <a:ext cx="13082826" cy="1381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Doubly Linked List: Transaction History Management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3787" y="2431613"/>
            <a:ext cx="13082826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Doubly Linked List is fundamental to managing and navigating the user's transaction history with ease and efficiency.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3787" y="3034070"/>
            <a:ext cx="6430923" cy="2174796"/>
          </a:xfrm>
          <a:prstGeom prst="roundRect">
            <a:avLst>
              <a:gd name="adj" fmla="val 152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5247" y="3285530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Purpose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025247" y="3763566"/>
            <a:ext cx="5928003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store and enable seamless traversal of all recorded financial transactions.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25690" y="3034070"/>
            <a:ext cx="6430923" cy="2174796"/>
          </a:xfrm>
          <a:prstGeom prst="roundRect">
            <a:avLst>
              <a:gd name="adj" fmla="val 152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77150" y="3285530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Structure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677150" y="3763566"/>
            <a:ext cx="5928003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node represents a transaction, linked bidirectionally for forward and backward navigation.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77150" y="4603671"/>
            <a:ext cx="592800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 → [Trans 1] ⇄ [Trans 2] ⇄ [Trans 3] → NULL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3787" y="5429845"/>
            <a:ext cx="6430923" cy="2196703"/>
          </a:xfrm>
          <a:prstGeom prst="roundRect">
            <a:avLst>
              <a:gd name="adj" fmla="val 1510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5247" y="5681305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Operations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1025247" y="6159341"/>
            <a:ext cx="592800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Insert at front:</a:t>
            </a: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O(1)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25247" y="6590348"/>
            <a:ext cx="592800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Delete node:</a:t>
            </a: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O(1)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25247" y="7021354"/>
            <a:ext cx="592800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Traverse both directions:</a:t>
            </a: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O(n)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5690" y="5429845"/>
            <a:ext cx="6430923" cy="2196703"/>
          </a:xfrm>
          <a:prstGeom prst="roundRect">
            <a:avLst>
              <a:gd name="adj" fmla="val 1510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77150" y="5681305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Doubly Linked?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7677150" y="6159341"/>
            <a:ext cx="592800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Facilitates bidirectional traversal.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677150" y="6590348"/>
            <a:ext cx="592800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easy deletion of specific transactions.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677150" y="7021354"/>
            <a:ext cx="592800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Offers dynamic sizing without memory waste.</a:t>
            </a:r>
            <a:endParaRPr lang="en-US" sz="17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98E0D8-CD54-8738-90C2-9CF5500368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2907" y="1417926"/>
            <a:ext cx="5236488" cy="873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8658"/>
            <a:ext cx="86970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Stack (LIFO): Undo Functionality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40743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Stack data structure provides a Last-In, First-Out (LIFO) mechanism, essential for PennyStack's instant undo functionality, allowing users to correct mistakes effortlessly.</a:t>
            </a:r>
            <a:endParaRPr lang="en-US" sz="17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3C0A3C6-934A-113F-1D0C-BEE2E3C73FC9}"/>
              </a:ext>
            </a:extLst>
          </p:cNvPr>
          <p:cNvGrpSpPr/>
          <p:nvPr/>
        </p:nvGrpSpPr>
        <p:grpSpPr>
          <a:xfrm>
            <a:off x="793790" y="2306519"/>
            <a:ext cx="6407944" cy="1306949"/>
            <a:chOff x="793790" y="3303548"/>
            <a:chExt cx="6407944" cy="1306949"/>
          </a:xfrm>
        </p:grpSpPr>
        <p:sp>
          <p:nvSpPr>
            <p:cNvPr id="4" name="Shape 2"/>
            <p:cNvSpPr/>
            <p:nvPr/>
          </p:nvSpPr>
          <p:spPr>
            <a:xfrm>
              <a:off x="793790" y="3303548"/>
              <a:ext cx="6407944" cy="1306949"/>
            </a:xfrm>
            <a:prstGeom prst="roundRect">
              <a:avLst>
                <a:gd name="adj" fmla="val 2603"/>
              </a:avLst>
            </a:prstGeom>
            <a:noFill/>
            <a:ln w="28575">
              <a:solidFill>
                <a:srgbClr val="CFD2D8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1020604" y="3550682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Purpose</a:t>
              </a:r>
              <a:endParaRPr lang="en-US" sz="2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20604" y="4041100"/>
              <a:ext cx="595431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Undo your last action instantly.</a:t>
              </a:r>
              <a:endParaRPr lang="en-US" sz="175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BF5530E-635E-A201-9967-E0BD4C5978DD}"/>
              </a:ext>
            </a:extLst>
          </p:cNvPr>
          <p:cNvGrpSpPr/>
          <p:nvPr/>
        </p:nvGrpSpPr>
        <p:grpSpPr>
          <a:xfrm>
            <a:off x="793790" y="3872508"/>
            <a:ext cx="6408063" cy="1306949"/>
            <a:chOff x="7428548" y="3323868"/>
            <a:chExt cx="6408063" cy="1306949"/>
          </a:xfrm>
        </p:grpSpPr>
        <p:sp>
          <p:nvSpPr>
            <p:cNvPr id="7" name="Shape 5"/>
            <p:cNvSpPr/>
            <p:nvPr/>
          </p:nvSpPr>
          <p:spPr>
            <a:xfrm>
              <a:off x="7428548" y="3323868"/>
              <a:ext cx="6408063" cy="1306949"/>
            </a:xfrm>
            <a:prstGeom prst="roundRect">
              <a:avLst>
                <a:gd name="adj" fmla="val 2603"/>
              </a:avLst>
            </a:prstGeom>
            <a:noFill/>
            <a:ln w="28575">
              <a:solidFill>
                <a:srgbClr val="CFD2D8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7655362" y="3550682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Structure</a:t>
              </a:r>
              <a:endParaRPr lang="en-US" sz="2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655362" y="4041100"/>
              <a:ext cx="595443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Last action added is first to undo.</a:t>
              </a:r>
              <a:endParaRPr lang="en-US" sz="17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076023F-3FDB-5FC1-E4BA-72455413448B}"/>
              </a:ext>
            </a:extLst>
          </p:cNvPr>
          <p:cNvGrpSpPr/>
          <p:nvPr/>
        </p:nvGrpSpPr>
        <p:grpSpPr>
          <a:xfrm>
            <a:off x="7513439" y="4991775"/>
            <a:ext cx="6407944" cy="2191345"/>
            <a:chOff x="793790" y="4857631"/>
            <a:chExt cx="6407944" cy="2191345"/>
          </a:xfrm>
        </p:grpSpPr>
        <p:sp>
          <p:nvSpPr>
            <p:cNvPr id="10" name="Shape 8"/>
            <p:cNvSpPr/>
            <p:nvPr/>
          </p:nvSpPr>
          <p:spPr>
            <a:xfrm>
              <a:off x="793790" y="4857631"/>
              <a:ext cx="6407944" cy="2191345"/>
            </a:xfrm>
            <a:prstGeom prst="roundRect">
              <a:avLst>
                <a:gd name="adj" fmla="val 1553"/>
              </a:avLst>
            </a:prstGeom>
            <a:noFill/>
            <a:ln w="28575">
              <a:solidFill>
                <a:srgbClr val="CFD2D8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1020604" y="508444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Operations</a:t>
              </a:r>
              <a:endParaRPr lang="en-US" sz="2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20604" y="5574863"/>
              <a:ext cx="595431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Add:</a:t>
              </a:r>
              <a:r>
                <a:rPr lang="en-US" sz="17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O(1)</a:t>
              </a:r>
              <a:endParaRPr lang="en-US" sz="17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020604" y="6017062"/>
              <a:ext cx="595431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Remove:</a:t>
              </a:r>
              <a:r>
                <a:rPr lang="en-US" sz="17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O(1)</a:t>
              </a:r>
              <a:endParaRPr lang="en-US" sz="17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020604" y="6459260"/>
              <a:ext cx="595431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Check:</a:t>
              </a:r>
              <a:r>
                <a:rPr lang="en-US" sz="17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O(1)</a:t>
              </a:r>
              <a:endParaRPr lang="en-US" sz="1750" dirty="0"/>
            </a:p>
          </p:txBody>
        </p:sp>
      </p:grpSp>
      <p:sp>
        <p:nvSpPr>
          <p:cNvPr id="15" name="Shape 13"/>
          <p:cNvSpPr/>
          <p:nvPr/>
        </p:nvSpPr>
        <p:spPr>
          <a:xfrm>
            <a:off x="793671" y="5315545"/>
            <a:ext cx="6408063" cy="1867575"/>
          </a:xfrm>
          <a:prstGeom prst="roundRect">
            <a:avLst>
              <a:gd name="adj" fmla="val 1553"/>
            </a:avLst>
          </a:prstGeom>
          <a:noFill/>
          <a:ln w="28575">
            <a:solidFill>
              <a:srgbClr val="CFD2D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20485" y="55423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0485" y="6032777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Made a mistake? Click undo and it's gone!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80B8DE-37C4-6BF0-B767-B851EAFD96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253" y="2803908"/>
            <a:ext cx="5616892" cy="1679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7194"/>
            <a:ext cx="102742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Queue (FIFO): Bill Payment Scheduling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89" y="15720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Queue data structure ensures fair and organised bill payment processing by adhering to a First-In, First-Out (FIFO) principle.</a:t>
            </a:r>
            <a:endParaRPr lang="en-US" sz="175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C1B9E35-28BD-88D5-D68C-BF3AC5039BBE}"/>
              </a:ext>
            </a:extLst>
          </p:cNvPr>
          <p:cNvGrpSpPr/>
          <p:nvPr/>
        </p:nvGrpSpPr>
        <p:grpSpPr>
          <a:xfrm>
            <a:off x="762356" y="2504480"/>
            <a:ext cx="6407944" cy="1306949"/>
            <a:chOff x="793790" y="3584615"/>
            <a:chExt cx="6407944" cy="1306949"/>
          </a:xfrm>
        </p:grpSpPr>
        <p:sp>
          <p:nvSpPr>
            <p:cNvPr id="4" name="Shape 2"/>
            <p:cNvSpPr/>
            <p:nvPr/>
          </p:nvSpPr>
          <p:spPr>
            <a:xfrm>
              <a:off x="793790" y="3584615"/>
              <a:ext cx="6407944" cy="1306949"/>
            </a:xfrm>
            <a:prstGeom prst="roundRect">
              <a:avLst>
                <a:gd name="adj" fmla="val 2603"/>
              </a:avLst>
            </a:prstGeom>
            <a:noFill/>
            <a:ln w="28575">
              <a:solidFill>
                <a:srgbClr val="CFD2D8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1020604" y="381142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Purpose</a:t>
              </a:r>
              <a:endParaRPr lang="en-US" sz="2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20604" y="4301847"/>
              <a:ext cx="595431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Pay bills in order, never miss a deadline.</a:t>
              </a:r>
              <a:endParaRPr lang="en-US" sz="175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277E5AB-DAB3-D4FB-71B2-31A04418022C}"/>
              </a:ext>
            </a:extLst>
          </p:cNvPr>
          <p:cNvGrpSpPr/>
          <p:nvPr/>
        </p:nvGrpSpPr>
        <p:grpSpPr>
          <a:xfrm>
            <a:off x="7397114" y="5771851"/>
            <a:ext cx="6408063" cy="1306949"/>
            <a:chOff x="7428548" y="3584615"/>
            <a:chExt cx="6408063" cy="1306949"/>
          </a:xfrm>
        </p:grpSpPr>
        <p:sp>
          <p:nvSpPr>
            <p:cNvPr id="7" name="Shape 5"/>
            <p:cNvSpPr/>
            <p:nvPr/>
          </p:nvSpPr>
          <p:spPr>
            <a:xfrm>
              <a:off x="7428548" y="3584615"/>
              <a:ext cx="6408063" cy="1306949"/>
            </a:xfrm>
            <a:prstGeom prst="roundRect">
              <a:avLst>
                <a:gd name="adj" fmla="val 2603"/>
              </a:avLst>
            </a:prstGeom>
            <a:noFill/>
            <a:ln w="28575">
              <a:solidFill>
                <a:srgbClr val="CFD2D8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7655362" y="381142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Structure</a:t>
              </a:r>
              <a:endParaRPr lang="en-US" sz="2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655362" y="4301847"/>
              <a:ext cx="595443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First bill scheduled is first to pay.</a:t>
              </a:r>
              <a:endParaRPr lang="en-US" sz="17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706C8E6-2508-9748-2785-3F462F21EB6D}"/>
              </a:ext>
            </a:extLst>
          </p:cNvPr>
          <p:cNvGrpSpPr/>
          <p:nvPr/>
        </p:nvGrpSpPr>
        <p:grpSpPr>
          <a:xfrm>
            <a:off x="762356" y="5771852"/>
            <a:ext cx="6407944" cy="1306949"/>
            <a:chOff x="793790" y="5118378"/>
            <a:chExt cx="6407944" cy="1306949"/>
          </a:xfrm>
        </p:grpSpPr>
        <p:sp>
          <p:nvSpPr>
            <p:cNvPr id="10" name="Shape 8"/>
            <p:cNvSpPr/>
            <p:nvPr/>
          </p:nvSpPr>
          <p:spPr>
            <a:xfrm>
              <a:off x="793790" y="5118378"/>
              <a:ext cx="6407944" cy="1306949"/>
            </a:xfrm>
            <a:prstGeom prst="roundRect">
              <a:avLst>
                <a:gd name="adj" fmla="val 2603"/>
              </a:avLst>
            </a:prstGeom>
            <a:noFill/>
            <a:ln w="28575">
              <a:solidFill>
                <a:srgbClr val="CFD2D8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1020604" y="5345192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Operations</a:t>
              </a:r>
              <a:endParaRPr lang="en-US" sz="2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20604" y="5835610"/>
              <a:ext cx="595431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Add O(1), Remove O(1)</a:t>
              </a:r>
              <a:endParaRPr lang="en-US" sz="175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FFE80C-FC1F-EEBB-8542-A4649AD6FC36}"/>
              </a:ext>
            </a:extLst>
          </p:cNvPr>
          <p:cNvGrpSpPr/>
          <p:nvPr/>
        </p:nvGrpSpPr>
        <p:grpSpPr>
          <a:xfrm>
            <a:off x="762356" y="4138166"/>
            <a:ext cx="6408063" cy="1306949"/>
            <a:chOff x="7428548" y="5118378"/>
            <a:chExt cx="6408063" cy="1306949"/>
          </a:xfrm>
        </p:grpSpPr>
        <p:sp>
          <p:nvSpPr>
            <p:cNvPr id="13" name="Shape 11"/>
            <p:cNvSpPr/>
            <p:nvPr/>
          </p:nvSpPr>
          <p:spPr>
            <a:xfrm>
              <a:off x="7428548" y="5118378"/>
              <a:ext cx="6408063" cy="1306949"/>
            </a:xfrm>
            <a:prstGeom prst="roundRect">
              <a:avLst>
                <a:gd name="adj" fmla="val 2603"/>
              </a:avLst>
            </a:prstGeom>
            <a:noFill/>
            <a:ln w="28575">
              <a:solidFill>
                <a:srgbClr val="CFD2D8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7655362" y="5345192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Why Queue?</a:t>
              </a:r>
              <a:endParaRPr lang="en-US" sz="2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655362" y="5835610"/>
              <a:ext cx="595443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Bills paid fairly, no bill forgotten, avoid late fees.</a:t>
              </a:r>
              <a:endParaRPr lang="en-US" sz="1750" dirty="0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04052055-2BDA-8CB9-ADBA-E388EA718A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363" y="3080743"/>
            <a:ext cx="6104867" cy="1869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0932" y="1042630"/>
            <a:ext cx="8583216" cy="536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Binary Search Tree: Category Organisation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790932" y="1901190"/>
            <a:ext cx="13048536" cy="6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Binary Search Tree (BST) is employed for fast, category-based searching and organisation of financial data. This structure ensures alphabetically sorted categories and efficient retrieval.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r="18897"/>
          <a:stretch>
            <a:fillRect/>
          </a:stretch>
        </p:blipFill>
        <p:spPr>
          <a:xfrm>
            <a:off x="280116" y="2797133"/>
            <a:ext cx="9493804" cy="47990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58309" y="3427429"/>
            <a:ext cx="2789055" cy="348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Operations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358309" y="3875227"/>
            <a:ext cx="5640089" cy="27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Insert/Search/Delete: O(log n)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58309" y="4815759"/>
            <a:ext cx="2789055" cy="348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Structure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358309" y="5263557"/>
            <a:ext cx="5640089" cy="27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[Food:5000] [Bills:3000] [Transport:2000]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58309" y="6216484"/>
            <a:ext cx="2789055" cy="348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Purpose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5358309" y="6664282"/>
            <a:ext cx="5640089" cy="27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category-based searching</a:t>
            </a:r>
            <a:endParaRPr lang="en-US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FE531A-B69C-1B41-8ED7-FD05A47E79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694" y="3608950"/>
            <a:ext cx="4339590" cy="2762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57887A-9A51-BFBC-3056-D6628EEAA706}"/>
              </a:ext>
            </a:extLst>
          </p:cNvPr>
          <p:cNvCxnSpPr/>
          <p:nvPr/>
        </p:nvCxnSpPr>
        <p:spPr>
          <a:xfrm>
            <a:off x="9773920" y="3210560"/>
            <a:ext cx="0" cy="3931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2021"/>
            <a:ext cx="7197923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Benefits of BST for Financial Categories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3790" y="1799511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Binary Search Tree offers several advantages for managing financial categories, contributing to a fluid and responsive application.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3790" y="2324695"/>
            <a:ext cx="1630323" cy="1170980"/>
          </a:xfrm>
          <a:prstGeom prst="roundRect">
            <a:avLst>
              <a:gd name="adj" fmla="val 2470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73398" y="2740700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616875" y="2517458"/>
            <a:ext cx="2950845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Alphabetically Sorted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616875" y="2994541"/>
            <a:ext cx="5276255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Categories are always presented in a clear, organised manner.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20434" y="3486150"/>
            <a:ext cx="11219855" cy="11430"/>
          </a:xfrm>
          <a:prstGeom prst="roundRect">
            <a:avLst>
              <a:gd name="adj" fmla="val 253023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3790" y="3591997"/>
            <a:ext cx="3260646" cy="1170980"/>
          </a:xfrm>
          <a:prstGeom prst="roundRect">
            <a:avLst>
              <a:gd name="adj" fmla="val 2470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8500" y="4008001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247198" y="3784759"/>
            <a:ext cx="3139797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Fast Search &amp; Retrieval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247198" y="4261842"/>
            <a:ext cx="5200174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Quickly locate specific spending patterns or income sources.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50757" y="4753451"/>
            <a:ext cx="9589532" cy="11430"/>
          </a:xfrm>
          <a:prstGeom prst="roundRect">
            <a:avLst>
              <a:gd name="adj" fmla="val 253023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3790" y="4859298"/>
            <a:ext cx="4890968" cy="1170980"/>
          </a:xfrm>
          <a:prstGeom prst="roundRect">
            <a:avLst>
              <a:gd name="adj" fmla="val 2470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03721" y="5275302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877520" y="5052060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Efficient Updates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5877520" y="5529143"/>
            <a:ext cx="591395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Adding or modifying categories is handled with optimal performance.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781080" y="6020753"/>
            <a:ext cx="7959209" cy="11430"/>
          </a:xfrm>
          <a:prstGeom prst="roundRect">
            <a:avLst>
              <a:gd name="adj" fmla="val 253023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3790" y="6126599"/>
            <a:ext cx="6521410" cy="1170980"/>
          </a:xfrm>
          <a:prstGeom prst="roundRect">
            <a:avLst>
              <a:gd name="adj" fmla="val 2470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18942" y="6542603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507962" y="6319361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 Hierarchy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7507962" y="6796445"/>
            <a:ext cx="6096119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Represents spending in a structured, easily understandable tree format.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1238011"/>
            <a:ext cx="6544985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Hashing: Secure PIN Authentication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93790" y="1832074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Hashing is fundamental to securing user data, especially for PIN authentication, providing robust, one-way encryption for sensitive information.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775347"/>
            <a:ext cx="2152055" cy="14191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18823" y="3499366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323165" y="312229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Purpose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323165" y="3539133"/>
            <a:ext cx="4968835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 user data and ensure secure login with encryption.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178504" y="4208978"/>
            <a:ext cx="8610005" cy="11430"/>
          </a:xfrm>
          <a:prstGeom prst="roundRect">
            <a:avLst>
              <a:gd name="adj" fmla="val 253023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4242554"/>
            <a:ext cx="4304109" cy="14191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18823" y="4782622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6399252" y="458188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Hash Function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6399252" y="4998720"/>
            <a:ext cx="2416016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 = (PIN % 1000) × 5 + 7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254591" y="5676186"/>
            <a:ext cx="7533918" cy="11430"/>
          </a:xfrm>
          <a:prstGeom prst="roundRect">
            <a:avLst>
              <a:gd name="adj" fmla="val 253023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709761"/>
            <a:ext cx="6456164" cy="14191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18704" y="6249829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7475220" y="590252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Process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7475220" y="6319361"/>
            <a:ext cx="616862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PIN (2471) → Hash Function → Stored Hash (2362). Login PIN → Hash Function → Computed Hash → Compare → Access Granted.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table with black text&#10;&#10;AI-generated content may be incorrect.">
            <a:extLst>
              <a:ext uri="{FF2B5EF4-FFF2-40B4-BE49-F238E27FC236}">
                <a16:creationId xmlns:a16="http://schemas.microsoft.com/office/drawing/2014/main" id="{AA984C62-AF6C-949F-0B6A-13A3A7E80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36" y="772160"/>
            <a:ext cx="12437726" cy="668527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09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1532"/>
            <a:ext cx="670798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Hashing for Enhanced Security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5213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hashing implementation ensures that user authentication is not only fast but also highly secure, safeguarding personal financial data.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857256" y="32811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One-Way Encryption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771543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PINs are irreversible, adding a layer of security.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26731" y="3596164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9937790" y="3281124"/>
            <a:ext cx="28956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O(1) Verification Time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937790" y="3771543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 authentication without performance bottlenecks.</a:t>
            </a:r>
            <a:endParaRPr lang="en-US" sz="1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52604" y="3984665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8"/>
          <p:cNvSpPr/>
          <p:nvPr/>
        </p:nvSpPr>
        <p:spPr>
          <a:xfrm>
            <a:off x="9937790" y="5733693"/>
            <a:ext cx="29240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Plain-Text Storage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9937790" y="6224111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PINs are never stored in an accessible format.</a:t>
            </a:r>
            <a:endParaRPr lang="en-US" sz="17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64103" y="621053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1"/>
          <p:cNvSpPr/>
          <p:nvPr/>
        </p:nvSpPr>
        <p:spPr>
          <a:xfrm>
            <a:off x="1708190" y="5733693"/>
            <a:ext cx="29843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Authentication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793790" y="6224111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Protects against unauthorised access and data breaches.</a:t>
            </a:r>
            <a:endParaRPr lang="en-US" sz="17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38230" y="5822037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044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Capabilities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793790" y="959763"/>
            <a:ext cx="3186589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 Overview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1549479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application is designed with a comprehensive set of features to manage personal finances effectively, from transaction handling to advanced reporting and security.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93790" y="1951077"/>
            <a:ext cx="6447711" cy="442198"/>
          </a:xfrm>
          <a:prstGeom prst="roundRect">
            <a:avLst>
              <a:gd name="adj" fmla="val 48012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07036" y="2033945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41189" y="2540675"/>
            <a:ext cx="225683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Transaction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189" y="2859405"/>
            <a:ext cx="615291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income/expense, automatic balance, category assignment.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88900" y="1951077"/>
            <a:ext cx="6447711" cy="442198"/>
          </a:xfrm>
          <a:prstGeom prst="roundRect">
            <a:avLst>
              <a:gd name="adj" fmla="val 48012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02146" y="2033945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36299" y="254067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Undo Functionality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36299" y="2859405"/>
            <a:ext cx="615291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 error correction with stack-based implementation.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3790" y="3389947"/>
            <a:ext cx="6447711" cy="442198"/>
          </a:xfrm>
          <a:prstGeom prst="roundRect">
            <a:avLst>
              <a:gd name="adj" fmla="val 48012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07036" y="3472815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41189" y="397954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Bill Scheduling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1189" y="4298275"/>
            <a:ext cx="615291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Queue-based management, fair payment order, reminder system.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88900" y="3389947"/>
            <a:ext cx="6447711" cy="442198"/>
          </a:xfrm>
          <a:prstGeom prst="roundRect">
            <a:avLst>
              <a:gd name="adj" fmla="val 48012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02146" y="3472815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36299" y="397954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Transaction History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36299" y="4298275"/>
            <a:ext cx="615291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record viewing and chronological display.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3790" y="4828818"/>
            <a:ext cx="6447711" cy="442198"/>
          </a:xfrm>
          <a:prstGeom prst="roundRect">
            <a:avLst>
              <a:gd name="adj" fmla="val 48012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07036" y="4911685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1189" y="541841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Bill Payment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1189" y="5737146"/>
            <a:ext cx="615291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verification, automatic processing, confirmation.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88900" y="4828818"/>
            <a:ext cx="6447711" cy="442198"/>
          </a:xfrm>
          <a:prstGeom prst="roundRect">
            <a:avLst>
              <a:gd name="adj" fmla="val 48012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502146" y="4911685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536299" y="541841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Category Reports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36299" y="5737146"/>
            <a:ext cx="615291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BST-based search for spending analysis and visual charts.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3790" y="6267688"/>
            <a:ext cx="6447711" cy="442198"/>
          </a:xfrm>
          <a:prstGeom prst="roundRect">
            <a:avLst>
              <a:gd name="adj" fmla="val 48012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07036" y="6350556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41189" y="685728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Persistence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1189" y="7176016"/>
            <a:ext cx="615291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saving, file-based storage, session recovery.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88900" y="6267688"/>
            <a:ext cx="6447711" cy="442198"/>
          </a:xfrm>
          <a:prstGeom prst="roundRect">
            <a:avLst>
              <a:gd name="adj" fmla="val 48012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502146" y="6350556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536299" y="685728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Security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36299" y="7176016"/>
            <a:ext cx="615291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 authentication, hash-based protection, access control.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52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Experience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760339"/>
            <a:ext cx="509313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Login Screen &amp; Security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6674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login screen combines a clean, professional interface with robust security measures to protect user financial data.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51234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41644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Clean, professional interface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0664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PIN-based authentication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04884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Hash verification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49104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control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51234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Security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599521" y="41644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Encrypted PIN storage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60664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plain-text passwords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04884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 verification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49104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denied on wrong PIN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18839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ensures that personal identification numbers are always encrypted and never stored in a readable format, providing peace of mind to the user.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6389"/>
            <a:ext cx="699444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Main Menu: Intuitive Navigation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65699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main menu offers a clear and easy-to-use interface, enabling users to quickly access all functionalities of the personal finance application.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86476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Menu Options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5168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Transaction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9590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Undo Last Action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4012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Transaction History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8434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 Bill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28566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 Pending Bill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72785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6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Category Report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17005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7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286476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Display Elements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7599521" y="35168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balance (top)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39590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menu structure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44012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Numbered options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99521" y="48434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navigation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686740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prominently displayed current balance ensures users are always aware of their financial standing, while numbered options simplify interaction.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4878"/>
            <a:ext cx="291107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Operations in Action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793790" y="1303139"/>
            <a:ext cx="5156121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Demo: Adding a Transaction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93790" y="2074307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Witness the seamless process of adding a new financial transaction, from input to confirmation and data saving, highlighting the system's efficiency.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88694"/>
            <a:ext cx="642497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6552" y="365986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Amount Input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86552" y="4076700"/>
            <a:ext cx="6039445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Amount: 5000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522" y="2856310"/>
            <a:ext cx="6425089" cy="1143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04284" y="363688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Type Selection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7604284" y="4053721"/>
            <a:ext cx="6039564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Type: Income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075039"/>
            <a:ext cx="6424970" cy="1143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6552" y="584620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Category Input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986552" y="6263045"/>
            <a:ext cx="6039445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Category: Salary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522" y="5038487"/>
            <a:ext cx="6425089" cy="1143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04284" y="582322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Confirmation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7604284" y="6240066"/>
            <a:ext cx="6039564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✓ Transaction Added! ✓ Data Saved! Balance: PKR 5000.00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793790" y="6996232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Complexity: O(log n) due to efficient BST insertion for expenses, ensuring performance even with a large number of transactions.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2971"/>
            <a:ext cx="558415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Demo: Undo Functionality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93357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 the instant error correction provided by the undo feature, showcasing how easily users can revert mistakes and restore their balance.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14134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Before Undo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79345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Balance: PKR 5000.00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Transaction: Income - Salary - 5000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4606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After Undo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93790" y="5398175"/>
            <a:ext cx="6244709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Balance: PKR 0.00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✓ Last Action Undone! ✓ Data Saved!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14134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Stack Operation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3793450"/>
            <a:ext cx="6244709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Remove last transaction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243268"/>
            <a:ext cx="6244709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Reverse balance change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693087"/>
            <a:ext cx="6244709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Persist changes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26768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Complexity: O(1)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59082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stack-based implementation allows for an immediate and efficient undo operation, guaranteeing data integrity and user convenience.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8062"/>
            <a:ext cx="6707029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Demo Flow: Undo Operation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734264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the immediate impact of the undo function, a critical feature for user control and error correction in PennyStack.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3790" y="2494598"/>
            <a:ext cx="306216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Before Undo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93790" y="3081457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Balance: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PKR 5000.00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3790" y="3479602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Transaction: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Income - Salary - 5000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71780" y="2494598"/>
            <a:ext cx="306216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After Undo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571780" y="3081457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Balance: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PKR 0.00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71780" y="3479602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Last Action Undone!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71780" y="3877747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Data Saved!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3790" y="4607439"/>
            <a:ext cx="13042821" cy="33099"/>
          </a:xfrm>
          <a:prstGeom prst="rect">
            <a:avLst/>
          </a:prstGeom>
          <a:solidFill>
            <a:srgbClr val="15213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3790" y="4870013"/>
            <a:ext cx="6419374" cy="2671524"/>
          </a:xfrm>
          <a:prstGeom prst="roundRect">
            <a:avLst>
              <a:gd name="adj" fmla="val 4107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4870013"/>
            <a:ext cx="91440" cy="26715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89303" y="509694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Stack Operation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89303" y="5538192"/>
            <a:ext cx="58969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POP: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Remove last transaction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89303" y="5936337"/>
            <a:ext cx="58969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Update: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Reverse balance change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89303" y="6334482"/>
            <a:ext cx="58969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Save: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Persist changes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417237" y="4870013"/>
            <a:ext cx="6419374" cy="2671524"/>
          </a:xfrm>
          <a:prstGeom prst="roundRect">
            <a:avLst>
              <a:gd name="adj" fmla="val 4107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377" y="4870013"/>
            <a:ext cx="91440" cy="26715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712750" y="509694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Efficiency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7712750" y="5538192"/>
            <a:ext cx="58969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Complexity: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O(1)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712750" y="5936337"/>
            <a:ext cx="589692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Notes: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Emphasises immediate feedback and data integrity.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712750" y="6661190"/>
            <a:ext cx="589692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Elements: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Before/After comparison, Stack visualisation, Success message, Performance metric.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2461"/>
            <a:ext cx="807731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Demo Flow: Bill Management Simplified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514237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PennyStack’s intuitive bill management system allows users to effortlessly schedule and pay recurring expenses, ensuring financial obligations are met on time.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1277" y="2548176"/>
            <a:ext cx="150254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Schedule Bill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3790" y="3082409"/>
            <a:ext cx="446936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Bill Name: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Electricity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3790" y="3414117"/>
            <a:ext cx="446936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Amount: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PKR 2000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3790" y="3745825"/>
            <a:ext cx="446936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Bill Scheduled!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3790" y="4120039"/>
            <a:ext cx="446936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up recurring payments with ease, preventing late fees and managing cash flow efficiently.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319" y="1977747"/>
            <a:ext cx="3423642" cy="34236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89558" y="3530441"/>
            <a:ext cx="254437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367123" y="254877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Pay Bill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367123" y="2916555"/>
            <a:ext cx="446948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Bill: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Electricity - PKR 2000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367123" y="3248263"/>
            <a:ext cx="446948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Balance: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PKR 5000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367123" y="3579971"/>
            <a:ext cx="446948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Bill Paid Successfully!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367123" y="3911679"/>
            <a:ext cx="446948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Balance: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PKR 3000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367123" y="4285893"/>
            <a:ext cx="446948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 payments instantly with real-time balance updates and clear transaction records.</a:t>
            </a:r>
            <a:endParaRPr lang="en-US" sz="13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319" y="1977747"/>
            <a:ext cx="3423642" cy="342364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386048" y="3530441"/>
            <a:ext cx="254437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793790" y="5677759"/>
            <a:ext cx="13042821" cy="28813"/>
          </a:xfrm>
          <a:prstGeom prst="rect">
            <a:avLst/>
          </a:prstGeom>
          <a:solidFill>
            <a:srgbClr val="15213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93790" y="5897880"/>
            <a:ext cx="6436400" cy="1689140"/>
          </a:xfrm>
          <a:prstGeom prst="roundRect">
            <a:avLst>
              <a:gd name="adj" fmla="val 6496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930" y="5897880"/>
            <a:ext cx="91440" cy="16891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55251" y="609076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Queue Operations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1055251" y="6458545"/>
            <a:ext cx="598205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Enqueue: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 to rear - O(1)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055251" y="6790253"/>
            <a:ext cx="598205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Dequeue: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Remove from front - O(1)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055251" y="7121962"/>
            <a:ext cx="598205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processing of scheduled payments.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7400211" y="5897880"/>
            <a:ext cx="6436400" cy="1689140"/>
          </a:xfrm>
          <a:prstGeom prst="roundRect">
            <a:avLst>
              <a:gd name="adj" fmla="val 6496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7351" y="5897880"/>
            <a:ext cx="91440" cy="16891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661672" y="609076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 Notes</a:t>
            </a:r>
            <a:endParaRPr lang="en-US" sz="1650" dirty="0"/>
          </a:p>
        </p:txBody>
      </p:sp>
      <p:sp>
        <p:nvSpPr>
          <p:cNvPr id="29" name="Text 23"/>
          <p:cNvSpPr/>
          <p:nvPr/>
        </p:nvSpPr>
        <p:spPr>
          <a:xfrm>
            <a:off x="7661672" y="6458545"/>
            <a:ext cx="598205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payment flow with balance updates.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661672" y="6790253"/>
            <a:ext cx="598205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queue representation for pending bills.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661672" y="7121962"/>
            <a:ext cx="598205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Ensures data integrity and seamless user experience.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830" y="579715"/>
            <a:ext cx="4553783" cy="428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Demo Flow: Category Report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37830" y="1281827"/>
            <a:ext cx="13154739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Gain instant insights into spending habits with PennyStack's Category Report, allowing for effective financial analysis and budget management.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7830" y="2014657"/>
            <a:ext cx="6410206" cy="1800939"/>
          </a:xfrm>
          <a:prstGeom prst="roundRect">
            <a:avLst>
              <a:gd name="adj" fmla="val 4062"/>
            </a:avLst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30" y="1999417"/>
            <a:ext cx="6410206" cy="609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7372" y="1809155"/>
            <a:ext cx="411004" cy="4110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60602" y="1911906"/>
            <a:ext cx="164425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89992" y="2357199"/>
            <a:ext cx="1712833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Category Input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89992" y="2708196"/>
            <a:ext cx="610588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 Category: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Food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89992" y="3081457"/>
            <a:ext cx="6105882" cy="581978"/>
          </a:xfrm>
          <a:prstGeom prst="roundRect">
            <a:avLst>
              <a:gd name="adj" fmla="val 3532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914" y="3285053"/>
            <a:ext cx="171212" cy="13692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35048" y="3252549"/>
            <a:ext cx="5523905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Seamless search functionality for quick data retrieval.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7489984" y="2014657"/>
            <a:ext cx="6410206" cy="1749742"/>
          </a:xfrm>
          <a:prstGeom prst="roundRect">
            <a:avLst>
              <a:gd name="adj" fmla="val 4181"/>
            </a:avLst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984" y="1999417"/>
            <a:ext cx="6410206" cy="60960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9525" y="1809155"/>
            <a:ext cx="411004" cy="41100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612755" y="1911906"/>
            <a:ext cx="164425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7642146" y="2357199"/>
            <a:ext cx="2004060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Search Results Overview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7642146" y="2708196"/>
            <a:ext cx="610588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Category: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Food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7642146" y="3050619"/>
            <a:ext cx="610588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Spent: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PKR 1500.00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7642146" y="3393043"/>
            <a:ext cx="610588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Quickly view aggregated spending for any chosen category.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737830" y="4277797"/>
            <a:ext cx="6410206" cy="1408628"/>
          </a:xfrm>
          <a:prstGeom prst="roundRect">
            <a:avLst>
              <a:gd name="adj" fmla="val 1459"/>
            </a:avLst>
          </a:prstGeom>
          <a:solidFill>
            <a:srgbClr val="FBFCFE"/>
          </a:solidFill>
          <a:ln w="1524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753070" y="4293037"/>
            <a:ext cx="136922" cy="1378148"/>
          </a:xfrm>
          <a:prstGeom prst="roundRect">
            <a:avLst>
              <a:gd name="adj" fmla="val 165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1026914" y="4429958"/>
            <a:ext cx="1774031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Foundation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026914" y="4780955"/>
            <a:ext cx="610588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BST Search: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O(log n) efficiency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1026914" y="5048012"/>
            <a:ext cx="610588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category lookup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1026914" y="5315069"/>
            <a:ext cx="610588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Sorted alphabetically for speed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943332" y="5823347"/>
            <a:ext cx="6204704" cy="1675686"/>
          </a:xfrm>
          <a:prstGeom prst="roundRect">
            <a:avLst>
              <a:gd name="adj" fmla="val 1227"/>
            </a:avLst>
          </a:prstGeom>
          <a:solidFill>
            <a:srgbClr val="FBFCFE"/>
          </a:solidFill>
          <a:ln w="1524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958572" y="5838587"/>
            <a:ext cx="136922" cy="1645206"/>
          </a:xfrm>
          <a:prstGeom prst="roundRect">
            <a:avLst>
              <a:gd name="adj" fmla="val 165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1232416" y="5975509"/>
            <a:ext cx="1712833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232416" y="6326505"/>
            <a:ext cx="5900380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Intuitive search interface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1232416" y="6593562"/>
            <a:ext cx="5900380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bar chart visualization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232416" y="6860619"/>
            <a:ext cx="5900380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Optimised BST search path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232416" y="7127677"/>
            <a:ext cx="5900380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performance</a:t>
            </a:r>
            <a:endParaRPr lang="en-US" sz="11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40B2C90-65B3-4F61-A023-40E1DEF0874F}"/>
              </a:ext>
            </a:extLst>
          </p:cNvPr>
          <p:cNvGrpSpPr/>
          <p:nvPr/>
        </p:nvGrpSpPr>
        <p:grpSpPr>
          <a:xfrm>
            <a:off x="8731210" y="4295656"/>
            <a:ext cx="4872276" cy="2564963"/>
            <a:chOff x="7489984" y="4277797"/>
            <a:chExt cx="4872276" cy="2564963"/>
          </a:xfrm>
        </p:grpSpPr>
        <p:pic>
          <p:nvPicPr>
            <p:cNvPr id="34" name="Image 5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89984" y="4277797"/>
              <a:ext cx="4872276" cy="2397442"/>
            </a:xfrm>
            <a:prstGeom prst="rect">
              <a:avLst/>
            </a:prstGeom>
          </p:spPr>
        </p:pic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5FFDF22-0AD7-3648-7FBE-3881BCC70E24}"/>
                </a:ext>
              </a:extLst>
            </p:cNvPr>
            <p:cNvGrpSpPr/>
            <p:nvPr/>
          </p:nvGrpSpPr>
          <p:grpSpPr>
            <a:xfrm>
              <a:off x="8506778" y="6705719"/>
              <a:ext cx="505658" cy="137041"/>
              <a:chOff x="8506778" y="6705719"/>
              <a:chExt cx="505658" cy="137041"/>
            </a:xfrm>
          </p:grpSpPr>
          <p:sp>
            <p:nvSpPr>
              <p:cNvPr id="35" name="Shape 27"/>
              <p:cNvSpPr/>
              <p:nvPr/>
            </p:nvSpPr>
            <p:spPr>
              <a:xfrm>
                <a:off x="8506778" y="6705719"/>
                <a:ext cx="136922" cy="136922"/>
              </a:xfrm>
              <a:prstGeom prst="roundRect">
                <a:avLst>
                  <a:gd name="adj" fmla="val 13357"/>
                </a:avLst>
              </a:prstGeom>
              <a:solidFill>
                <a:srgbClr val="101C3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 28"/>
              <p:cNvSpPr/>
              <p:nvPr/>
            </p:nvSpPr>
            <p:spPr>
              <a:xfrm>
                <a:off x="8704659" y="6705719"/>
                <a:ext cx="307777" cy="13704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050"/>
                  </a:lnSpc>
                  <a:buNone/>
                </a:pPr>
                <a:r>
                  <a:rPr lang="en-US" sz="105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Food</a:t>
                </a:r>
                <a:endParaRPr lang="en-US" sz="1050" dirty="0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3D67635-5C32-F128-22A1-98263ADC663C}"/>
                </a:ext>
              </a:extLst>
            </p:cNvPr>
            <p:cNvGrpSpPr/>
            <p:nvPr/>
          </p:nvGrpSpPr>
          <p:grpSpPr>
            <a:xfrm>
              <a:off x="9531668" y="6705719"/>
              <a:ext cx="788669" cy="137041"/>
              <a:chOff x="9531668" y="6705719"/>
              <a:chExt cx="788669" cy="137041"/>
            </a:xfrm>
          </p:grpSpPr>
          <p:sp>
            <p:nvSpPr>
              <p:cNvPr id="37" name="Shape 29"/>
              <p:cNvSpPr/>
              <p:nvPr/>
            </p:nvSpPr>
            <p:spPr>
              <a:xfrm>
                <a:off x="9531668" y="6705719"/>
                <a:ext cx="136922" cy="136922"/>
              </a:xfrm>
              <a:prstGeom prst="roundRect">
                <a:avLst>
                  <a:gd name="adj" fmla="val 13357"/>
                </a:avLst>
              </a:prstGeom>
              <a:solidFill>
                <a:srgbClr val="2B4B9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 30"/>
              <p:cNvSpPr/>
              <p:nvPr/>
            </p:nvSpPr>
            <p:spPr>
              <a:xfrm>
                <a:off x="9729549" y="6705719"/>
                <a:ext cx="590788" cy="13704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050"/>
                  </a:lnSpc>
                  <a:buNone/>
                </a:pPr>
                <a:r>
                  <a:rPr lang="en-US" sz="105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Transport</a:t>
                </a:r>
                <a:endParaRPr lang="en-US" sz="1050" dirty="0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0C944C2-7A82-98C7-9DFA-7317F290D23F}"/>
                </a:ext>
              </a:extLst>
            </p:cNvPr>
            <p:cNvGrpSpPr/>
            <p:nvPr/>
          </p:nvGrpSpPr>
          <p:grpSpPr>
            <a:xfrm>
              <a:off x="10839688" y="6705719"/>
              <a:ext cx="453747" cy="137041"/>
              <a:chOff x="10839688" y="6705719"/>
              <a:chExt cx="453747" cy="137041"/>
            </a:xfrm>
          </p:grpSpPr>
          <p:sp>
            <p:nvSpPr>
              <p:cNvPr id="39" name="Shape 31"/>
              <p:cNvSpPr/>
              <p:nvPr/>
            </p:nvSpPr>
            <p:spPr>
              <a:xfrm>
                <a:off x="10839688" y="6705719"/>
                <a:ext cx="136922" cy="136922"/>
              </a:xfrm>
              <a:prstGeom prst="roundRect">
                <a:avLst>
                  <a:gd name="adj" fmla="val 13357"/>
                </a:avLst>
              </a:prstGeom>
              <a:solidFill>
                <a:srgbClr val="708DD8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 32"/>
              <p:cNvSpPr/>
              <p:nvPr/>
            </p:nvSpPr>
            <p:spPr>
              <a:xfrm>
                <a:off x="11037570" y="6705719"/>
                <a:ext cx="255865" cy="13704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050"/>
                  </a:lnSpc>
                  <a:buNone/>
                </a:pPr>
                <a:r>
                  <a:rPr lang="en-US" sz="105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Bills</a:t>
                </a:r>
                <a:endParaRPr lang="en-US" sz="1050" dirty="0"/>
              </a:p>
            </p:txBody>
          </p:sp>
        </p:grpSp>
      </p:grpSp>
      <p:sp>
        <p:nvSpPr>
          <p:cNvPr id="41" name="Text 33"/>
          <p:cNvSpPr/>
          <p:nvPr/>
        </p:nvSpPr>
        <p:spPr>
          <a:xfrm>
            <a:off x="7489984" y="6996827"/>
            <a:ext cx="6410206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bar chart visually represents spending distribution, highlighting key expenditure areas at a glance.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 shot of a black screen&#10;&#10;AI-generated content may be incorrect.">
            <a:extLst>
              <a:ext uri="{FF2B5EF4-FFF2-40B4-BE49-F238E27FC236}">
                <a16:creationId xmlns:a16="http://schemas.microsoft.com/office/drawing/2014/main" id="{68C0306A-11BE-C365-1D83-7178BC9FF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345" y="2076083"/>
            <a:ext cx="5167057" cy="17143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9D67A5-BD5D-1E28-FB71-31E176FA72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2297" y="1994954"/>
            <a:ext cx="5821063" cy="4388148"/>
          </a:xfrm>
          <a:prstGeom prst="rect">
            <a:avLst/>
          </a:prstGeom>
        </p:spPr>
      </p:pic>
      <p:pic>
        <p:nvPicPr>
          <p:cNvPr id="11" name="Picture 10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F38862E-C7B2-DB96-651E-FFB09FD8E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805" y="4396154"/>
            <a:ext cx="5167053" cy="2125041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15EE3E5A-9E20-EA4F-1C7C-66316F5815CE}"/>
              </a:ext>
            </a:extLst>
          </p:cNvPr>
          <p:cNvSpPr/>
          <p:nvPr/>
        </p:nvSpPr>
        <p:spPr>
          <a:xfrm>
            <a:off x="2926163" y="7062515"/>
            <a:ext cx="14628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>
                    <a:lumMod val="95000"/>
                  </a:schemeClr>
                </a:solidFill>
                <a:latin typeface="Mona Sans Expanded SemiBold" pitchFamily="2" charset="0"/>
              </a:rPr>
              <a:t>Front Page.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EE556370-F518-21CF-FB23-F3A45135FC2F}"/>
              </a:ext>
            </a:extLst>
          </p:cNvPr>
          <p:cNvSpPr/>
          <p:nvPr/>
        </p:nvSpPr>
        <p:spPr>
          <a:xfrm>
            <a:off x="8087805" y="1632051"/>
            <a:ext cx="14628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73B48"/>
                </a:solidFill>
                <a:latin typeface="Mona Sans Expanded SemiBold" pitchFamily="2" charset="0"/>
              </a:rPr>
              <a:t>Login Page:</a:t>
            </a:r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E3C9F554-EDBC-58B1-6750-DE37BB468898}"/>
              </a:ext>
            </a:extLst>
          </p:cNvPr>
          <p:cNvSpPr/>
          <p:nvPr/>
        </p:nvSpPr>
        <p:spPr>
          <a:xfrm>
            <a:off x="8087805" y="3933348"/>
            <a:ext cx="28230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73B48"/>
                </a:solidFill>
                <a:latin typeface="Mona Sans Expanded SemiBold" pitchFamily="2" charset="0"/>
              </a:rPr>
              <a:t>Login Page:</a:t>
            </a:r>
            <a:r>
              <a:rPr lang="en-US" sz="1750" dirty="0">
                <a:solidFill>
                  <a:srgbClr val="373B48"/>
                </a:solidFill>
                <a:latin typeface="Mona Sans Expanded SemiBold" pitchFamily="2" charset="0"/>
              </a:rPr>
              <a:t> Pin (2471) 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589664D-FD20-F881-37EF-16C091A25219}"/>
              </a:ext>
            </a:extLst>
          </p:cNvPr>
          <p:cNvSpPr/>
          <p:nvPr/>
        </p:nvSpPr>
        <p:spPr>
          <a:xfrm>
            <a:off x="852297" y="790341"/>
            <a:ext cx="703440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Interface &amp; Navigation</a:t>
            </a:r>
          </a:p>
        </p:txBody>
      </p:sp>
    </p:spTree>
    <p:extLst>
      <p:ext uri="{BB962C8B-B14F-4D97-AF65-F5344CB8AC3E}">
        <p14:creationId xmlns:p14="http://schemas.microsoft.com/office/powerpoint/2010/main" val="3486619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4">
            <a:extLst>
              <a:ext uri="{FF2B5EF4-FFF2-40B4-BE49-F238E27FC236}">
                <a16:creationId xmlns:a16="http://schemas.microsoft.com/office/drawing/2014/main" id="{98F32BD6-D6A2-1A60-D1E1-6B33B569C7FF}"/>
              </a:ext>
            </a:extLst>
          </p:cNvPr>
          <p:cNvSpPr/>
          <p:nvPr/>
        </p:nvSpPr>
        <p:spPr>
          <a:xfrm>
            <a:off x="1704529" y="7226593"/>
            <a:ext cx="15363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Mona Sans Expanded SemiBold" pitchFamily="2" charset="0"/>
              </a:rPr>
              <a:t>Add Income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EA43BB8-1E4E-D768-43E2-40FBB4689127}"/>
              </a:ext>
            </a:extLst>
          </p:cNvPr>
          <p:cNvSpPr/>
          <p:nvPr/>
        </p:nvSpPr>
        <p:spPr>
          <a:xfrm>
            <a:off x="6276527" y="7226593"/>
            <a:ext cx="17021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Mona Sans Expanded SemiBold" pitchFamily="2" charset="0"/>
              </a:rPr>
              <a:t>Add Expense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17A0AB-00B6-9839-9820-6E71FC0BE950}"/>
              </a:ext>
            </a:extLst>
          </p:cNvPr>
          <p:cNvSpPr/>
          <p:nvPr/>
        </p:nvSpPr>
        <p:spPr>
          <a:xfrm>
            <a:off x="426164" y="2699370"/>
            <a:ext cx="13778072" cy="4376806"/>
          </a:xfrm>
          <a:custGeom>
            <a:avLst/>
            <a:gdLst>
              <a:gd name="csX0" fmla="*/ 0 w 13778072"/>
              <a:gd name="csY0" fmla="*/ 0 h 4376806"/>
              <a:gd name="csX1" fmla="*/ 964465 w 13778072"/>
              <a:gd name="csY1" fmla="*/ 0 h 4376806"/>
              <a:gd name="csX2" fmla="*/ 1791149 w 13778072"/>
              <a:gd name="csY2" fmla="*/ 0 h 4376806"/>
              <a:gd name="csX3" fmla="*/ 2342272 w 13778072"/>
              <a:gd name="csY3" fmla="*/ 0 h 4376806"/>
              <a:gd name="csX4" fmla="*/ 3031176 w 13778072"/>
              <a:gd name="csY4" fmla="*/ 0 h 4376806"/>
              <a:gd name="csX5" fmla="*/ 3306737 w 13778072"/>
              <a:gd name="csY5" fmla="*/ 0 h 4376806"/>
              <a:gd name="csX6" fmla="*/ 3720079 w 13778072"/>
              <a:gd name="csY6" fmla="*/ 0 h 4376806"/>
              <a:gd name="csX7" fmla="*/ 4133422 w 13778072"/>
              <a:gd name="csY7" fmla="*/ 0 h 4376806"/>
              <a:gd name="csX8" fmla="*/ 5097887 w 13778072"/>
              <a:gd name="csY8" fmla="*/ 0 h 4376806"/>
              <a:gd name="csX9" fmla="*/ 6062352 w 13778072"/>
              <a:gd name="csY9" fmla="*/ 0 h 4376806"/>
              <a:gd name="csX10" fmla="*/ 6613475 w 13778072"/>
              <a:gd name="csY10" fmla="*/ 0 h 4376806"/>
              <a:gd name="csX11" fmla="*/ 7026817 w 13778072"/>
              <a:gd name="csY11" fmla="*/ 0 h 4376806"/>
              <a:gd name="csX12" fmla="*/ 7715720 w 13778072"/>
              <a:gd name="csY12" fmla="*/ 0 h 4376806"/>
              <a:gd name="csX13" fmla="*/ 8542405 w 13778072"/>
              <a:gd name="csY13" fmla="*/ 0 h 4376806"/>
              <a:gd name="csX14" fmla="*/ 9231308 w 13778072"/>
              <a:gd name="csY14" fmla="*/ 0 h 4376806"/>
              <a:gd name="csX15" fmla="*/ 9644650 w 13778072"/>
              <a:gd name="csY15" fmla="*/ 0 h 4376806"/>
              <a:gd name="csX16" fmla="*/ 10057993 w 13778072"/>
              <a:gd name="csY16" fmla="*/ 0 h 4376806"/>
              <a:gd name="csX17" fmla="*/ 11022458 w 13778072"/>
              <a:gd name="csY17" fmla="*/ 0 h 4376806"/>
              <a:gd name="csX18" fmla="*/ 11298019 w 13778072"/>
              <a:gd name="csY18" fmla="*/ 0 h 4376806"/>
              <a:gd name="csX19" fmla="*/ 11573580 w 13778072"/>
              <a:gd name="csY19" fmla="*/ 0 h 4376806"/>
              <a:gd name="csX20" fmla="*/ 11986923 w 13778072"/>
              <a:gd name="csY20" fmla="*/ 0 h 4376806"/>
              <a:gd name="csX21" fmla="*/ 12813607 w 13778072"/>
              <a:gd name="csY21" fmla="*/ 0 h 4376806"/>
              <a:gd name="csX22" fmla="*/ 13778072 w 13778072"/>
              <a:gd name="csY22" fmla="*/ 0 h 4376806"/>
              <a:gd name="csX23" fmla="*/ 13778072 w 13778072"/>
              <a:gd name="csY23" fmla="*/ 712794 h 4376806"/>
              <a:gd name="csX24" fmla="*/ 13778072 w 13778072"/>
              <a:gd name="csY24" fmla="*/ 1294284 h 4376806"/>
              <a:gd name="csX25" fmla="*/ 13778072 w 13778072"/>
              <a:gd name="csY25" fmla="*/ 1919542 h 4376806"/>
              <a:gd name="csX26" fmla="*/ 13778072 w 13778072"/>
              <a:gd name="csY26" fmla="*/ 2413496 h 4376806"/>
              <a:gd name="csX27" fmla="*/ 13778072 w 13778072"/>
              <a:gd name="csY27" fmla="*/ 3082522 h 4376806"/>
              <a:gd name="csX28" fmla="*/ 13778072 w 13778072"/>
              <a:gd name="csY28" fmla="*/ 3664012 h 4376806"/>
              <a:gd name="csX29" fmla="*/ 13778072 w 13778072"/>
              <a:gd name="csY29" fmla="*/ 4376806 h 4376806"/>
              <a:gd name="csX30" fmla="*/ 13089168 w 13778072"/>
              <a:gd name="csY30" fmla="*/ 4376806 h 4376806"/>
              <a:gd name="csX31" fmla="*/ 12813607 w 13778072"/>
              <a:gd name="csY31" fmla="*/ 4376806 h 4376806"/>
              <a:gd name="csX32" fmla="*/ 12538046 w 13778072"/>
              <a:gd name="csY32" fmla="*/ 4376806 h 4376806"/>
              <a:gd name="csX33" fmla="*/ 11986923 w 13778072"/>
              <a:gd name="csY33" fmla="*/ 4376806 h 4376806"/>
              <a:gd name="csX34" fmla="*/ 11160238 w 13778072"/>
              <a:gd name="csY34" fmla="*/ 4376806 h 4376806"/>
              <a:gd name="csX35" fmla="*/ 10195773 w 13778072"/>
              <a:gd name="csY35" fmla="*/ 4376806 h 4376806"/>
              <a:gd name="csX36" fmla="*/ 9920212 w 13778072"/>
              <a:gd name="csY36" fmla="*/ 4376806 h 4376806"/>
              <a:gd name="csX37" fmla="*/ 9093528 w 13778072"/>
              <a:gd name="csY37" fmla="*/ 4376806 h 4376806"/>
              <a:gd name="csX38" fmla="*/ 8266843 w 13778072"/>
              <a:gd name="csY38" fmla="*/ 4376806 h 4376806"/>
              <a:gd name="csX39" fmla="*/ 7577940 w 13778072"/>
              <a:gd name="csY39" fmla="*/ 4376806 h 4376806"/>
              <a:gd name="csX40" fmla="*/ 7026817 w 13778072"/>
              <a:gd name="csY40" fmla="*/ 4376806 h 4376806"/>
              <a:gd name="csX41" fmla="*/ 6613475 w 13778072"/>
              <a:gd name="csY41" fmla="*/ 4376806 h 4376806"/>
              <a:gd name="csX42" fmla="*/ 6062352 w 13778072"/>
              <a:gd name="csY42" fmla="*/ 4376806 h 4376806"/>
              <a:gd name="csX43" fmla="*/ 5511229 w 13778072"/>
              <a:gd name="csY43" fmla="*/ 4376806 h 4376806"/>
              <a:gd name="csX44" fmla="*/ 4822325 w 13778072"/>
              <a:gd name="csY44" fmla="*/ 4376806 h 4376806"/>
              <a:gd name="csX45" fmla="*/ 4546764 w 13778072"/>
              <a:gd name="csY45" fmla="*/ 4376806 h 4376806"/>
              <a:gd name="csX46" fmla="*/ 4133422 w 13778072"/>
              <a:gd name="csY46" fmla="*/ 4376806 h 4376806"/>
              <a:gd name="csX47" fmla="*/ 3720079 w 13778072"/>
              <a:gd name="csY47" fmla="*/ 4376806 h 4376806"/>
              <a:gd name="csX48" fmla="*/ 3168957 w 13778072"/>
              <a:gd name="csY48" fmla="*/ 4376806 h 4376806"/>
              <a:gd name="csX49" fmla="*/ 2893395 w 13778072"/>
              <a:gd name="csY49" fmla="*/ 4376806 h 4376806"/>
              <a:gd name="csX50" fmla="*/ 2066711 w 13778072"/>
              <a:gd name="csY50" fmla="*/ 4376806 h 4376806"/>
              <a:gd name="csX51" fmla="*/ 1377807 w 13778072"/>
              <a:gd name="csY51" fmla="*/ 4376806 h 4376806"/>
              <a:gd name="csX52" fmla="*/ 964465 w 13778072"/>
              <a:gd name="csY52" fmla="*/ 4376806 h 4376806"/>
              <a:gd name="csX53" fmla="*/ 0 w 13778072"/>
              <a:gd name="csY53" fmla="*/ 4376806 h 4376806"/>
              <a:gd name="csX54" fmla="*/ 0 w 13778072"/>
              <a:gd name="csY54" fmla="*/ 3795316 h 4376806"/>
              <a:gd name="csX55" fmla="*/ 0 w 13778072"/>
              <a:gd name="csY55" fmla="*/ 3213826 h 4376806"/>
              <a:gd name="csX56" fmla="*/ 0 w 13778072"/>
              <a:gd name="csY56" fmla="*/ 2632336 h 4376806"/>
              <a:gd name="csX57" fmla="*/ 0 w 13778072"/>
              <a:gd name="csY57" fmla="*/ 2050846 h 4376806"/>
              <a:gd name="csX58" fmla="*/ 0 w 13778072"/>
              <a:gd name="csY58" fmla="*/ 1381820 h 4376806"/>
              <a:gd name="csX59" fmla="*/ 0 w 13778072"/>
              <a:gd name="csY59" fmla="*/ 800330 h 4376806"/>
              <a:gd name="csX60" fmla="*/ 0 w 13778072"/>
              <a:gd name="csY60" fmla="*/ 0 h 4376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3778072" h="4376806" fill="none" extrusionOk="0">
                <a:moveTo>
                  <a:pt x="0" y="0"/>
                </a:moveTo>
                <a:cubicBezTo>
                  <a:pt x="440973" y="19910"/>
                  <a:pt x="679368" y="-26983"/>
                  <a:pt x="964465" y="0"/>
                </a:cubicBezTo>
                <a:cubicBezTo>
                  <a:pt x="1249562" y="26983"/>
                  <a:pt x="1467102" y="-7472"/>
                  <a:pt x="1791149" y="0"/>
                </a:cubicBezTo>
                <a:cubicBezTo>
                  <a:pt x="2115196" y="7472"/>
                  <a:pt x="2223158" y="2548"/>
                  <a:pt x="2342272" y="0"/>
                </a:cubicBezTo>
                <a:cubicBezTo>
                  <a:pt x="2461386" y="-2548"/>
                  <a:pt x="2698158" y="-6795"/>
                  <a:pt x="3031176" y="0"/>
                </a:cubicBezTo>
                <a:cubicBezTo>
                  <a:pt x="3364194" y="6795"/>
                  <a:pt x="3211917" y="-8794"/>
                  <a:pt x="3306737" y="0"/>
                </a:cubicBezTo>
                <a:cubicBezTo>
                  <a:pt x="3401557" y="8794"/>
                  <a:pt x="3527963" y="13371"/>
                  <a:pt x="3720079" y="0"/>
                </a:cubicBezTo>
                <a:cubicBezTo>
                  <a:pt x="3912195" y="-13371"/>
                  <a:pt x="4040322" y="-18314"/>
                  <a:pt x="4133422" y="0"/>
                </a:cubicBezTo>
                <a:cubicBezTo>
                  <a:pt x="4226522" y="18314"/>
                  <a:pt x="4790356" y="-16270"/>
                  <a:pt x="5097887" y="0"/>
                </a:cubicBezTo>
                <a:cubicBezTo>
                  <a:pt x="5405419" y="16270"/>
                  <a:pt x="5703649" y="-17446"/>
                  <a:pt x="6062352" y="0"/>
                </a:cubicBezTo>
                <a:cubicBezTo>
                  <a:pt x="6421055" y="17446"/>
                  <a:pt x="6471331" y="-20653"/>
                  <a:pt x="6613475" y="0"/>
                </a:cubicBezTo>
                <a:cubicBezTo>
                  <a:pt x="6755619" y="20653"/>
                  <a:pt x="6924410" y="18274"/>
                  <a:pt x="7026817" y="0"/>
                </a:cubicBezTo>
                <a:cubicBezTo>
                  <a:pt x="7129224" y="-18274"/>
                  <a:pt x="7485945" y="1215"/>
                  <a:pt x="7715720" y="0"/>
                </a:cubicBezTo>
                <a:cubicBezTo>
                  <a:pt x="7945495" y="-1215"/>
                  <a:pt x="8140158" y="6012"/>
                  <a:pt x="8542405" y="0"/>
                </a:cubicBezTo>
                <a:cubicBezTo>
                  <a:pt x="8944653" y="-6012"/>
                  <a:pt x="9027387" y="15232"/>
                  <a:pt x="9231308" y="0"/>
                </a:cubicBezTo>
                <a:cubicBezTo>
                  <a:pt x="9435229" y="-15232"/>
                  <a:pt x="9501325" y="-15616"/>
                  <a:pt x="9644650" y="0"/>
                </a:cubicBezTo>
                <a:cubicBezTo>
                  <a:pt x="9787975" y="15616"/>
                  <a:pt x="9864418" y="-20195"/>
                  <a:pt x="10057993" y="0"/>
                </a:cubicBezTo>
                <a:cubicBezTo>
                  <a:pt x="10251568" y="20195"/>
                  <a:pt x="10696793" y="-33534"/>
                  <a:pt x="11022458" y="0"/>
                </a:cubicBezTo>
                <a:cubicBezTo>
                  <a:pt x="11348124" y="33534"/>
                  <a:pt x="11242279" y="3922"/>
                  <a:pt x="11298019" y="0"/>
                </a:cubicBezTo>
                <a:cubicBezTo>
                  <a:pt x="11353759" y="-3922"/>
                  <a:pt x="11441075" y="-10136"/>
                  <a:pt x="11573580" y="0"/>
                </a:cubicBezTo>
                <a:cubicBezTo>
                  <a:pt x="11706085" y="10136"/>
                  <a:pt x="11791505" y="-9607"/>
                  <a:pt x="11986923" y="0"/>
                </a:cubicBezTo>
                <a:cubicBezTo>
                  <a:pt x="12182341" y="9607"/>
                  <a:pt x="12616862" y="14580"/>
                  <a:pt x="12813607" y="0"/>
                </a:cubicBezTo>
                <a:cubicBezTo>
                  <a:pt x="13010352" y="-14580"/>
                  <a:pt x="13538650" y="-10824"/>
                  <a:pt x="13778072" y="0"/>
                </a:cubicBezTo>
                <a:cubicBezTo>
                  <a:pt x="13809018" y="285789"/>
                  <a:pt x="13759445" y="413336"/>
                  <a:pt x="13778072" y="712794"/>
                </a:cubicBezTo>
                <a:cubicBezTo>
                  <a:pt x="13796699" y="1012252"/>
                  <a:pt x="13794232" y="1142253"/>
                  <a:pt x="13778072" y="1294284"/>
                </a:cubicBezTo>
                <a:cubicBezTo>
                  <a:pt x="13761913" y="1446315"/>
                  <a:pt x="13808912" y="1771813"/>
                  <a:pt x="13778072" y="1919542"/>
                </a:cubicBezTo>
                <a:cubicBezTo>
                  <a:pt x="13747232" y="2067271"/>
                  <a:pt x="13760963" y="2274669"/>
                  <a:pt x="13778072" y="2413496"/>
                </a:cubicBezTo>
                <a:cubicBezTo>
                  <a:pt x="13795181" y="2552323"/>
                  <a:pt x="13754707" y="2812814"/>
                  <a:pt x="13778072" y="3082522"/>
                </a:cubicBezTo>
                <a:cubicBezTo>
                  <a:pt x="13801437" y="3352230"/>
                  <a:pt x="13755380" y="3509376"/>
                  <a:pt x="13778072" y="3664012"/>
                </a:cubicBezTo>
                <a:cubicBezTo>
                  <a:pt x="13800765" y="3818648"/>
                  <a:pt x="13788889" y="4037781"/>
                  <a:pt x="13778072" y="4376806"/>
                </a:cubicBezTo>
                <a:cubicBezTo>
                  <a:pt x="13588654" y="4343435"/>
                  <a:pt x="13301240" y="4363584"/>
                  <a:pt x="13089168" y="4376806"/>
                </a:cubicBezTo>
                <a:cubicBezTo>
                  <a:pt x="12877096" y="4390028"/>
                  <a:pt x="12929500" y="4374438"/>
                  <a:pt x="12813607" y="4376806"/>
                </a:cubicBezTo>
                <a:cubicBezTo>
                  <a:pt x="12697714" y="4379174"/>
                  <a:pt x="12614310" y="4373096"/>
                  <a:pt x="12538046" y="4376806"/>
                </a:cubicBezTo>
                <a:cubicBezTo>
                  <a:pt x="12461782" y="4380516"/>
                  <a:pt x="12228002" y="4382235"/>
                  <a:pt x="11986923" y="4376806"/>
                </a:cubicBezTo>
                <a:cubicBezTo>
                  <a:pt x="11745844" y="4371377"/>
                  <a:pt x="11328301" y="4365072"/>
                  <a:pt x="11160238" y="4376806"/>
                </a:cubicBezTo>
                <a:cubicBezTo>
                  <a:pt x="10992175" y="4388540"/>
                  <a:pt x="10605606" y="4387783"/>
                  <a:pt x="10195773" y="4376806"/>
                </a:cubicBezTo>
                <a:cubicBezTo>
                  <a:pt x="9785940" y="4365829"/>
                  <a:pt x="10047465" y="4365736"/>
                  <a:pt x="9920212" y="4376806"/>
                </a:cubicBezTo>
                <a:cubicBezTo>
                  <a:pt x="9792959" y="4387876"/>
                  <a:pt x="9304426" y="4407650"/>
                  <a:pt x="9093528" y="4376806"/>
                </a:cubicBezTo>
                <a:cubicBezTo>
                  <a:pt x="8882630" y="4345962"/>
                  <a:pt x="8471559" y="4398594"/>
                  <a:pt x="8266843" y="4376806"/>
                </a:cubicBezTo>
                <a:cubicBezTo>
                  <a:pt x="8062128" y="4355018"/>
                  <a:pt x="7921274" y="4375624"/>
                  <a:pt x="7577940" y="4376806"/>
                </a:cubicBezTo>
                <a:cubicBezTo>
                  <a:pt x="7234606" y="4377988"/>
                  <a:pt x="7194048" y="4379727"/>
                  <a:pt x="7026817" y="4376806"/>
                </a:cubicBezTo>
                <a:cubicBezTo>
                  <a:pt x="6859586" y="4373885"/>
                  <a:pt x="6818878" y="4395019"/>
                  <a:pt x="6613475" y="4376806"/>
                </a:cubicBezTo>
                <a:cubicBezTo>
                  <a:pt x="6408072" y="4358593"/>
                  <a:pt x="6327854" y="4379279"/>
                  <a:pt x="6062352" y="4376806"/>
                </a:cubicBezTo>
                <a:cubicBezTo>
                  <a:pt x="5796850" y="4374333"/>
                  <a:pt x="5683354" y="4387975"/>
                  <a:pt x="5511229" y="4376806"/>
                </a:cubicBezTo>
                <a:cubicBezTo>
                  <a:pt x="5339104" y="4365637"/>
                  <a:pt x="4980459" y="4351528"/>
                  <a:pt x="4822325" y="4376806"/>
                </a:cubicBezTo>
                <a:cubicBezTo>
                  <a:pt x="4664191" y="4402084"/>
                  <a:pt x="4667918" y="4386929"/>
                  <a:pt x="4546764" y="4376806"/>
                </a:cubicBezTo>
                <a:cubicBezTo>
                  <a:pt x="4425610" y="4366683"/>
                  <a:pt x="4253469" y="4392896"/>
                  <a:pt x="4133422" y="4376806"/>
                </a:cubicBezTo>
                <a:cubicBezTo>
                  <a:pt x="4013375" y="4360716"/>
                  <a:pt x="3876026" y="4363366"/>
                  <a:pt x="3720079" y="4376806"/>
                </a:cubicBezTo>
                <a:cubicBezTo>
                  <a:pt x="3564132" y="4390246"/>
                  <a:pt x="3408061" y="4391319"/>
                  <a:pt x="3168957" y="4376806"/>
                </a:cubicBezTo>
                <a:cubicBezTo>
                  <a:pt x="2929853" y="4362293"/>
                  <a:pt x="3007583" y="4378838"/>
                  <a:pt x="2893395" y="4376806"/>
                </a:cubicBezTo>
                <a:cubicBezTo>
                  <a:pt x="2779207" y="4374774"/>
                  <a:pt x="2309134" y="4384477"/>
                  <a:pt x="2066711" y="4376806"/>
                </a:cubicBezTo>
                <a:cubicBezTo>
                  <a:pt x="1824288" y="4369135"/>
                  <a:pt x="1639389" y="4401852"/>
                  <a:pt x="1377807" y="4376806"/>
                </a:cubicBezTo>
                <a:cubicBezTo>
                  <a:pt x="1116225" y="4351760"/>
                  <a:pt x="1073870" y="4363303"/>
                  <a:pt x="964465" y="4376806"/>
                </a:cubicBezTo>
                <a:cubicBezTo>
                  <a:pt x="855060" y="4390309"/>
                  <a:pt x="443273" y="4386468"/>
                  <a:pt x="0" y="4376806"/>
                </a:cubicBezTo>
                <a:cubicBezTo>
                  <a:pt x="-12803" y="4226057"/>
                  <a:pt x="763" y="4014524"/>
                  <a:pt x="0" y="3795316"/>
                </a:cubicBezTo>
                <a:cubicBezTo>
                  <a:pt x="-763" y="3576108"/>
                  <a:pt x="-13662" y="3343021"/>
                  <a:pt x="0" y="3213826"/>
                </a:cubicBezTo>
                <a:cubicBezTo>
                  <a:pt x="13662" y="3084631"/>
                  <a:pt x="24766" y="2901926"/>
                  <a:pt x="0" y="2632336"/>
                </a:cubicBezTo>
                <a:cubicBezTo>
                  <a:pt x="-24766" y="2362746"/>
                  <a:pt x="-20128" y="2284374"/>
                  <a:pt x="0" y="2050846"/>
                </a:cubicBezTo>
                <a:cubicBezTo>
                  <a:pt x="20128" y="1817318"/>
                  <a:pt x="-30069" y="1669559"/>
                  <a:pt x="0" y="1381820"/>
                </a:cubicBezTo>
                <a:cubicBezTo>
                  <a:pt x="30069" y="1094081"/>
                  <a:pt x="-280" y="999598"/>
                  <a:pt x="0" y="800330"/>
                </a:cubicBezTo>
                <a:cubicBezTo>
                  <a:pt x="280" y="601062"/>
                  <a:pt x="33026" y="361561"/>
                  <a:pt x="0" y="0"/>
                </a:cubicBezTo>
                <a:close/>
              </a:path>
              <a:path w="13778072" h="4376806" stroke="0" extrusionOk="0">
                <a:moveTo>
                  <a:pt x="0" y="0"/>
                </a:moveTo>
                <a:cubicBezTo>
                  <a:pt x="349272" y="-27059"/>
                  <a:pt x="535583" y="-4854"/>
                  <a:pt x="826684" y="0"/>
                </a:cubicBezTo>
                <a:cubicBezTo>
                  <a:pt x="1117785" y="4854"/>
                  <a:pt x="1564962" y="28539"/>
                  <a:pt x="1791149" y="0"/>
                </a:cubicBezTo>
                <a:cubicBezTo>
                  <a:pt x="2017337" y="-28539"/>
                  <a:pt x="2370713" y="-25878"/>
                  <a:pt x="2617834" y="0"/>
                </a:cubicBezTo>
                <a:cubicBezTo>
                  <a:pt x="2864955" y="25878"/>
                  <a:pt x="2860707" y="7905"/>
                  <a:pt x="3031176" y="0"/>
                </a:cubicBezTo>
                <a:cubicBezTo>
                  <a:pt x="3201645" y="-7905"/>
                  <a:pt x="3374186" y="2823"/>
                  <a:pt x="3582299" y="0"/>
                </a:cubicBezTo>
                <a:cubicBezTo>
                  <a:pt x="3790412" y="-2823"/>
                  <a:pt x="4122539" y="-31597"/>
                  <a:pt x="4546764" y="0"/>
                </a:cubicBezTo>
                <a:cubicBezTo>
                  <a:pt x="4970989" y="31597"/>
                  <a:pt x="4984387" y="-7119"/>
                  <a:pt x="5097887" y="0"/>
                </a:cubicBezTo>
                <a:cubicBezTo>
                  <a:pt x="5211387" y="7119"/>
                  <a:pt x="5540200" y="32648"/>
                  <a:pt x="5924571" y="0"/>
                </a:cubicBezTo>
                <a:cubicBezTo>
                  <a:pt x="6308942" y="-32648"/>
                  <a:pt x="6194894" y="-17823"/>
                  <a:pt x="6337913" y="0"/>
                </a:cubicBezTo>
                <a:cubicBezTo>
                  <a:pt x="6480932" y="17823"/>
                  <a:pt x="6740604" y="-20237"/>
                  <a:pt x="7026817" y="0"/>
                </a:cubicBezTo>
                <a:cubicBezTo>
                  <a:pt x="7313030" y="20237"/>
                  <a:pt x="7331014" y="-14339"/>
                  <a:pt x="7577940" y="0"/>
                </a:cubicBezTo>
                <a:cubicBezTo>
                  <a:pt x="7824866" y="14339"/>
                  <a:pt x="8062029" y="-2717"/>
                  <a:pt x="8404624" y="0"/>
                </a:cubicBezTo>
                <a:cubicBezTo>
                  <a:pt x="8747219" y="2717"/>
                  <a:pt x="8740209" y="6091"/>
                  <a:pt x="8955747" y="0"/>
                </a:cubicBezTo>
                <a:cubicBezTo>
                  <a:pt x="9171285" y="-6091"/>
                  <a:pt x="9542485" y="-23311"/>
                  <a:pt x="9782431" y="0"/>
                </a:cubicBezTo>
                <a:cubicBezTo>
                  <a:pt x="10022377" y="23311"/>
                  <a:pt x="9990394" y="18468"/>
                  <a:pt x="10195773" y="0"/>
                </a:cubicBezTo>
                <a:cubicBezTo>
                  <a:pt x="10401152" y="-18468"/>
                  <a:pt x="10695655" y="-41033"/>
                  <a:pt x="11022458" y="0"/>
                </a:cubicBezTo>
                <a:cubicBezTo>
                  <a:pt x="11349262" y="41033"/>
                  <a:pt x="11186763" y="11853"/>
                  <a:pt x="11298019" y="0"/>
                </a:cubicBezTo>
                <a:cubicBezTo>
                  <a:pt x="11409275" y="-11853"/>
                  <a:pt x="11511924" y="-4113"/>
                  <a:pt x="11573580" y="0"/>
                </a:cubicBezTo>
                <a:cubicBezTo>
                  <a:pt x="11635236" y="4113"/>
                  <a:pt x="12067579" y="-27608"/>
                  <a:pt x="12400265" y="0"/>
                </a:cubicBezTo>
                <a:cubicBezTo>
                  <a:pt x="12732951" y="27608"/>
                  <a:pt x="12924555" y="24496"/>
                  <a:pt x="13089168" y="0"/>
                </a:cubicBezTo>
                <a:cubicBezTo>
                  <a:pt x="13253781" y="-24496"/>
                  <a:pt x="13520876" y="-34395"/>
                  <a:pt x="13778072" y="0"/>
                </a:cubicBezTo>
                <a:cubicBezTo>
                  <a:pt x="13756471" y="199165"/>
                  <a:pt x="13771792" y="389215"/>
                  <a:pt x="13778072" y="625258"/>
                </a:cubicBezTo>
                <a:cubicBezTo>
                  <a:pt x="13784352" y="861301"/>
                  <a:pt x="13789293" y="923665"/>
                  <a:pt x="13778072" y="1162980"/>
                </a:cubicBezTo>
                <a:cubicBezTo>
                  <a:pt x="13766851" y="1402295"/>
                  <a:pt x="13782067" y="1437101"/>
                  <a:pt x="13778072" y="1700702"/>
                </a:cubicBezTo>
                <a:cubicBezTo>
                  <a:pt x="13774077" y="1964303"/>
                  <a:pt x="13759117" y="2145970"/>
                  <a:pt x="13778072" y="2282192"/>
                </a:cubicBezTo>
                <a:cubicBezTo>
                  <a:pt x="13797028" y="2418414"/>
                  <a:pt x="13797905" y="2764362"/>
                  <a:pt x="13778072" y="2907450"/>
                </a:cubicBezTo>
                <a:cubicBezTo>
                  <a:pt x="13758239" y="3050538"/>
                  <a:pt x="13758744" y="3378469"/>
                  <a:pt x="13778072" y="3576476"/>
                </a:cubicBezTo>
                <a:cubicBezTo>
                  <a:pt x="13797400" y="3774483"/>
                  <a:pt x="13808577" y="3987201"/>
                  <a:pt x="13778072" y="4376806"/>
                </a:cubicBezTo>
                <a:cubicBezTo>
                  <a:pt x="13576427" y="4401039"/>
                  <a:pt x="13344203" y="4375226"/>
                  <a:pt x="13089168" y="4376806"/>
                </a:cubicBezTo>
                <a:cubicBezTo>
                  <a:pt x="12834133" y="4378386"/>
                  <a:pt x="12507396" y="4338281"/>
                  <a:pt x="12124703" y="4376806"/>
                </a:cubicBezTo>
                <a:cubicBezTo>
                  <a:pt x="11742011" y="4415331"/>
                  <a:pt x="11492372" y="4346912"/>
                  <a:pt x="11298019" y="4376806"/>
                </a:cubicBezTo>
                <a:cubicBezTo>
                  <a:pt x="11103666" y="4406700"/>
                  <a:pt x="10987471" y="4363790"/>
                  <a:pt x="10884677" y="4376806"/>
                </a:cubicBezTo>
                <a:cubicBezTo>
                  <a:pt x="10781883" y="4389822"/>
                  <a:pt x="10380249" y="4396333"/>
                  <a:pt x="10057993" y="4376806"/>
                </a:cubicBezTo>
                <a:cubicBezTo>
                  <a:pt x="9735737" y="4357279"/>
                  <a:pt x="9674624" y="4363047"/>
                  <a:pt x="9506870" y="4376806"/>
                </a:cubicBezTo>
                <a:cubicBezTo>
                  <a:pt x="9339116" y="4390565"/>
                  <a:pt x="9310919" y="4383729"/>
                  <a:pt x="9231308" y="4376806"/>
                </a:cubicBezTo>
                <a:cubicBezTo>
                  <a:pt x="9151697" y="4369883"/>
                  <a:pt x="8954266" y="4355861"/>
                  <a:pt x="8680185" y="4376806"/>
                </a:cubicBezTo>
                <a:cubicBezTo>
                  <a:pt x="8406104" y="4397751"/>
                  <a:pt x="8372215" y="4356537"/>
                  <a:pt x="8266843" y="4376806"/>
                </a:cubicBezTo>
                <a:cubicBezTo>
                  <a:pt x="8161471" y="4397075"/>
                  <a:pt x="7839339" y="4399399"/>
                  <a:pt x="7715720" y="4376806"/>
                </a:cubicBezTo>
                <a:cubicBezTo>
                  <a:pt x="7592101" y="4354213"/>
                  <a:pt x="7251193" y="4397275"/>
                  <a:pt x="7026817" y="4376806"/>
                </a:cubicBezTo>
                <a:cubicBezTo>
                  <a:pt x="6802441" y="4356337"/>
                  <a:pt x="6854926" y="4381410"/>
                  <a:pt x="6751255" y="4376806"/>
                </a:cubicBezTo>
                <a:cubicBezTo>
                  <a:pt x="6647584" y="4372202"/>
                  <a:pt x="6379007" y="4401177"/>
                  <a:pt x="6062352" y="4376806"/>
                </a:cubicBezTo>
                <a:cubicBezTo>
                  <a:pt x="5745697" y="4352435"/>
                  <a:pt x="5755141" y="4367318"/>
                  <a:pt x="5649010" y="4376806"/>
                </a:cubicBezTo>
                <a:cubicBezTo>
                  <a:pt x="5542879" y="4386294"/>
                  <a:pt x="5339460" y="4357264"/>
                  <a:pt x="5235667" y="4376806"/>
                </a:cubicBezTo>
                <a:cubicBezTo>
                  <a:pt x="5131874" y="4396348"/>
                  <a:pt x="4550594" y="4367231"/>
                  <a:pt x="4271202" y="4376806"/>
                </a:cubicBezTo>
                <a:cubicBezTo>
                  <a:pt x="3991811" y="4386381"/>
                  <a:pt x="4123974" y="4374833"/>
                  <a:pt x="3995641" y="4376806"/>
                </a:cubicBezTo>
                <a:cubicBezTo>
                  <a:pt x="3867308" y="4378779"/>
                  <a:pt x="3648854" y="4345250"/>
                  <a:pt x="3306737" y="4376806"/>
                </a:cubicBezTo>
                <a:cubicBezTo>
                  <a:pt x="2964620" y="4408362"/>
                  <a:pt x="3167666" y="4389356"/>
                  <a:pt x="3031176" y="4376806"/>
                </a:cubicBezTo>
                <a:cubicBezTo>
                  <a:pt x="2894686" y="4364256"/>
                  <a:pt x="2599718" y="4374386"/>
                  <a:pt x="2204492" y="4376806"/>
                </a:cubicBezTo>
                <a:cubicBezTo>
                  <a:pt x="1809266" y="4379226"/>
                  <a:pt x="1721055" y="4404434"/>
                  <a:pt x="1377807" y="4376806"/>
                </a:cubicBezTo>
                <a:cubicBezTo>
                  <a:pt x="1034560" y="4349178"/>
                  <a:pt x="1073697" y="4397343"/>
                  <a:pt x="964465" y="4376806"/>
                </a:cubicBezTo>
                <a:cubicBezTo>
                  <a:pt x="855233" y="4356269"/>
                  <a:pt x="426732" y="4354710"/>
                  <a:pt x="0" y="4376806"/>
                </a:cubicBezTo>
                <a:cubicBezTo>
                  <a:pt x="9243" y="4043362"/>
                  <a:pt x="32085" y="3850382"/>
                  <a:pt x="0" y="3664012"/>
                </a:cubicBezTo>
                <a:cubicBezTo>
                  <a:pt x="-32085" y="3477642"/>
                  <a:pt x="-29656" y="3335677"/>
                  <a:pt x="0" y="3038754"/>
                </a:cubicBezTo>
                <a:cubicBezTo>
                  <a:pt x="29656" y="2741831"/>
                  <a:pt x="-2514" y="2767580"/>
                  <a:pt x="0" y="2544800"/>
                </a:cubicBezTo>
                <a:cubicBezTo>
                  <a:pt x="2514" y="2322020"/>
                  <a:pt x="24526" y="2206112"/>
                  <a:pt x="0" y="1963310"/>
                </a:cubicBezTo>
                <a:cubicBezTo>
                  <a:pt x="-24526" y="1720508"/>
                  <a:pt x="22667" y="1670746"/>
                  <a:pt x="0" y="1381820"/>
                </a:cubicBezTo>
                <a:cubicBezTo>
                  <a:pt x="-22667" y="1092894"/>
                  <a:pt x="24158" y="1011719"/>
                  <a:pt x="0" y="800330"/>
                </a:cubicBezTo>
                <a:cubicBezTo>
                  <a:pt x="-24158" y="588941"/>
                  <a:pt x="-7980" y="253327"/>
                  <a:pt x="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816633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63AD93E5-A4A6-774F-1E2F-628FA450369E}"/>
              </a:ext>
            </a:extLst>
          </p:cNvPr>
          <p:cNvSpPr/>
          <p:nvPr/>
        </p:nvSpPr>
        <p:spPr>
          <a:xfrm>
            <a:off x="11067178" y="7197541"/>
            <a:ext cx="17021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Mona Sans Expanded SemiBold" pitchFamily="2" charset="0"/>
              </a:rPr>
              <a:t>Undo Action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63F9172-167A-3BEC-AA59-1DECA1D84098}"/>
              </a:ext>
            </a:extLst>
          </p:cNvPr>
          <p:cNvSpPr/>
          <p:nvPr/>
        </p:nvSpPr>
        <p:spPr>
          <a:xfrm>
            <a:off x="547497" y="1375472"/>
            <a:ext cx="703440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5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Transaction Engine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08222F-B907-5421-2CB5-65EC2FCE41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702"/>
          <a:stretch>
            <a:fillRect/>
          </a:stretch>
        </p:blipFill>
        <p:spPr>
          <a:xfrm>
            <a:off x="426165" y="2757300"/>
            <a:ext cx="4523232" cy="4318876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0C8FB3-F862-8627-2E41-33F7450A08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056"/>
          <a:stretch>
            <a:fillRect/>
          </a:stretch>
        </p:blipFill>
        <p:spPr>
          <a:xfrm>
            <a:off x="5170792" y="2766352"/>
            <a:ext cx="4288815" cy="4313859"/>
          </a:xfrm>
          <a:prstGeom prst="rect">
            <a:avLst/>
          </a:prstGeom>
        </p:spPr>
      </p:pic>
      <p:pic>
        <p:nvPicPr>
          <p:cNvPr id="13" name="Picture 12" descr="A screen shot of a black screen&#10;&#10;AI-generated content may be incorrect.">
            <a:extLst>
              <a:ext uri="{FF2B5EF4-FFF2-40B4-BE49-F238E27FC236}">
                <a16:creationId xmlns:a16="http://schemas.microsoft.com/office/drawing/2014/main" id="{FF9C6DAD-35A4-847E-279D-265408112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8604" y="2766352"/>
            <a:ext cx="4555631" cy="430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21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7AAC0-D019-1874-D600-BDAC4A58D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4">
            <a:extLst>
              <a:ext uri="{FF2B5EF4-FFF2-40B4-BE49-F238E27FC236}">
                <a16:creationId xmlns:a16="http://schemas.microsoft.com/office/drawing/2014/main" id="{97997576-E85F-A61E-935E-AEBF32370DD5}"/>
              </a:ext>
            </a:extLst>
          </p:cNvPr>
          <p:cNvSpPr/>
          <p:nvPr/>
        </p:nvSpPr>
        <p:spPr>
          <a:xfrm>
            <a:off x="1704529" y="7226593"/>
            <a:ext cx="15363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73B48"/>
                </a:solidFill>
                <a:latin typeface="Mona Sans Expanded SemiBold" pitchFamily="2" charset="0"/>
              </a:rPr>
              <a:t>Schedule Bills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993188F-F03F-AF6A-13AB-6E0764107E51}"/>
              </a:ext>
            </a:extLst>
          </p:cNvPr>
          <p:cNvSpPr/>
          <p:nvPr/>
        </p:nvSpPr>
        <p:spPr>
          <a:xfrm>
            <a:off x="6367558" y="7226593"/>
            <a:ext cx="1245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73B48"/>
                </a:solidFill>
                <a:latin typeface="Mona Sans Expanded SemiBold" pitchFamily="2" charset="0"/>
              </a:rPr>
              <a:t>Pay Bills</a:t>
            </a: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3A8282C0-1892-572D-0CFA-3252ED54303C}"/>
              </a:ext>
            </a:extLst>
          </p:cNvPr>
          <p:cNvSpPr/>
          <p:nvPr/>
        </p:nvSpPr>
        <p:spPr>
          <a:xfrm>
            <a:off x="10740036" y="7197541"/>
            <a:ext cx="21858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73B48"/>
                </a:solidFill>
                <a:latin typeface="Mona Sans Expanded SemiBold" pitchFamily="2" charset="0"/>
              </a:rPr>
              <a:t>Transitions History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13645E-8AA9-64FF-C77D-0B22B0C62924}"/>
              </a:ext>
            </a:extLst>
          </p:cNvPr>
          <p:cNvSpPr/>
          <p:nvPr/>
        </p:nvSpPr>
        <p:spPr>
          <a:xfrm>
            <a:off x="9331835" y="2703405"/>
            <a:ext cx="4872401" cy="4376806"/>
          </a:xfrm>
          <a:custGeom>
            <a:avLst/>
            <a:gdLst>
              <a:gd name="csX0" fmla="*/ 0 w 4872401"/>
              <a:gd name="csY0" fmla="*/ 0 h 4376806"/>
              <a:gd name="csX1" fmla="*/ 638826 w 4872401"/>
              <a:gd name="csY1" fmla="*/ 0 h 4376806"/>
              <a:gd name="csX2" fmla="*/ 1228928 w 4872401"/>
              <a:gd name="csY2" fmla="*/ 0 h 4376806"/>
              <a:gd name="csX3" fmla="*/ 1867754 w 4872401"/>
              <a:gd name="csY3" fmla="*/ 0 h 4376806"/>
              <a:gd name="csX4" fmla="*/ 2360408 w 4872401"/>
              <a:gd name="csY4" fmla="*/ 0 h 4376806"/>
              <a:gd name="csX5" fmla="*/ 2901785 w 4872401"/>
              <a:gd name="csY5" fmla="*/ 0 h 4376806"/>
              <a:gd name="csX6" fmla="*/ 3345715 w 4872401"/>
              <a:gd name="csY6" fmla="*/ 0 h 4376806"/>
              <a:gd name="csX7" fmla="*/ 3935817 w 4872401"/>
              <a:gd name="csY7" fmla="*/ 0 h 4376806"/>
              <a:gd name="csX8" fmla="*/ 4872401 w 4872401"/>
              <a:gd name="csY8" fmla="*/ 0 h 4376806"/>
              <a:gd name="csX9" fmla="*/ 4872401 w 4872401"/>
              <a:gd name="csY9" fmla="*/ 634637 h 4376806"/>
              <a:gd name="csX10" fmla="*/ 4872401 w 4872401"/>
              <a:gd name="csY10" fmla="*/ 1137970 h 4376806"/>
              <a:gd name="csX11" fmla="*/ 4872401 w 4872401"/>
              <a:gd name="csY11" fmla="*/ 1685070 h 4376806"/>
              <a:gd name="csX12" fmla="*/ 4872401 w 4872401"/>
              <a:gd name="csY12" fmla="*/ 2144635 h 4376806"/>
              <a:gd name="csX13" fmla="*/ 4872401 w 4872401"/>
              <a:gd name="csY13" fmla="*/ 2647968 h 4376806"/>
              <a:gd name="csX14" fmla="*/ 4872401 w 4872401"/>
              <a:gd name="csY14" fmla="*/ 3063764 h 4376806"/>
              <a:gd name="csX15" fmla="*/ 4872401 w 4872401"/>
              <a:gd name="csY15" fmla="*/ 3698401 h 4376806"/>
              <a:gd name="csX16" fmla="*/ 4872401 w 4872401"/>
              <a:gd name="csY16" fmla="*/ 4376806 h 4376806"/>
              <a:gd name="csX17" fmla="*/ 4428471 w 4872401"/>
              <a:gd name="csY17" fmla="*/ 4376806 h 4376806"/>
              <a:gd name="csX18" fmla="*/ 3935817 w 4872401"/>
              <a:gd name="csY18" fmla="*/ 4376806 h 4376806"/>
              <a:gd name="csX19" fmla="*/ 3491887 w 4872401"/>
              <a:gd name="csY19" fmla="*/ 4376806 h 4376806"/>
              <a:gd name="csX20" fmla="*/ 2950509 w 4872401"/>
              <a:gd name="csY20" fmla="*/ 4376806 h 4376806"/>
              <a:gd name="csX21" fmla="*/ 2360408 w 4872401"/>
              <a:gd name="csY21" fmla="*/ 4376806 h 4376806"/>
              <a:gd name="csX22" fmla="*/ 1965202 w 4872401"/>
              <a:gd name="csY22" fmla="*/ 4376806 h 4376806"/>
              <a:gd name="csX23" fmla="*/ 1423824 w 4872401"/>
              <a:gd name="csY23" fmla="*/ 4376806 h 4376806"/>
              <a:gd name="csX24" fmla="*/ 1028618 w 4872401"/>
              <a:gd name="csY24" fmla="*/ 4376806 h 4376806"/>
              <a:gd name="csX25" fmla="*/ 0 w 4872401"/>
              <a:gd name="csY25" fmla="*/ 4376806 h 4376806"/>
              <a:gd name="csX26" fmla="*/ 0 w 4872401"/>
              <a:gd name="csY26" fmla="*/ 3829705 h 4376806"/>
              <a:gd name="csX27" fmla="*/ 0 w 4872401"/>
              <a:gd name="csY27" fmla="*/ 3413909 h 4376806"/>
              <a:gd name="csX28" fmla="*/ 0 w 4872401"/>
              <a:gd name="csY28" fmla="*/ 2866808 h 4376806"/>
              <a:gd name="csX29" fmla="*/ 0 w 4872401"/>
              <a:gd name="csY29" fmla="*/ 2275939 h 4376806"/>
              <a:gd name="csX30" fmla="*/ 0 w 4872401"/>
              <a:gd name="csY30" fmla="*/ 1772606 h 4376806"/>
              <a:gd name="csX31" fmla="*/ 0 w 4872401"/>
              <a:gd name="csY31" fmla="*/ 1137970 h 4376806"/>
              <a:gd name="csX32" fmla="*/ 0 w 4872401"/>
              <a:gd name="csY32" fmla="*/ 503333 h 4376806"/>
              <a:gd name="csX33" fmla="*/ 0 w 4872401"/>
              <a:gd name="csY33" fmla="*/ 0 h 4376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4872401" h="4376806" extrusionOk="0">
                <a:moveTo>
                  <a:pt x="0" y="0"/>
                </a:moveTo>
                <a:cubicBezTo>
                  <a:pt x="128070" y="-13196"/>
                  <a:pt x="437806" y="9456"/>
                  <a:pt x="638826" y="0"/>
                </a:cubicBezTo>
                <a:cubicBezTo>
                  <a:pt x="839846" y="-9456"/>
                  <a:pt x="1075816" y="11207"/>
                  <a:pt x="1228928" y="0"/>
                </a:cubicBezTo>
                <a:cubicBezTo>
                  <a:pt x="1382040" y="-11207"/>
                  <a:pt x="1566454" y="22533"/>
                  <a:pt x="1867754" y="0"/>
                </a:cubicBezTo>
                <a:cubicBezTo>
                  <a:pt x="2169054" y="-22533"/>
                  <a:pt x="2219312" y="50465"/>
                  <a:pt x="2360408" y="0"/>
                </a:cubicBezTo>
                <a:cubicBezTo>
                  <a:pt x="2501504" y="-50465"/>
                  <a:pt x="2716122" y="28601"/>
                  <a:pt x="2901785" y="0"/>
                </a:cubicBezTo>
                <a:cubicBezTo>
                  <a:pt x="3087448" y="-28601"/>
                  <a:pt x="3221131" y="12695"/>
                  <a:pt x="3345715" y="0"/>
                </a:cubicBezTo>
                <a:cubicBezTo>
                  <a:pt x="3470299" y="-12695"/>
                  <a:pt x="3676512" y="35572"/>
                  <a:pt x="3935817" y="0"/>
                </a:cubicBezTo>
                <a:cubicBezTo>
                  <a:pt x="4195122" y="-35572"/>
                  <a:pt x="4684553" y="93297"/>
                  <a:pt x="4872401" y="0"/>
                </a:cubicBezTo>
                <a:cubicBezTo>
                  <a:pt x="4894408" y="242541"/>
                  <a:pt x="4857789" y="371950"/>
                  <a:pt x="4872401" y="634637"/>
                </a:cubicBezTo>
                <a:cubicBezTo>
                  <a:pt x="4887013" y="897324"/>
                  <a:pt x="4814376" y="937734"/>
                  <a:pt x="4872401" y="1137970"/>
                </a:cubicBezTo>
                <a:cubicBezTo>
                  <a:pt x="4930426" y="1338206"/>
                  <a:pt x="4852580" y="1417624"/>
                  <a:pt x="4872401" y="1685070"/>
                </a:cubicBezTo>
                <a:cubicBezTo>
                  <a:pt x="4892222" y="1952516"/>
                  <a:pt x="4852122" y="1975284"/>
                  <a:pt x="4872401" y="2144635"/>
                </a:cubicBezTo>
                <a:cubicBezTo>
                  <a:pt x="4892680" y="2313986"/>
                  <a:pt x="4824271" y="2479875"/>
                  <a:pt x="4872401" y="2647968"/>
                </a:cubicBezTo>
                <a:cubicBezTo>
                  <a:pt x="4920531" y="2816061"/>
                  <a:pt x="4870099" y="2926150"/>
                  <a:pt x="4872401" y="3063764"/>
                </a:cubicBezTo>
                <a:cubicBezTo>
                  <a:pt x="4874703" y="3201378"/>
                  <a:pt x="4825142" y="3412104"/>
                  <a:pt x="4872401" y="3698401"/>
                </a:cubicBezTo>
                <a:cubicBezTo>
                  <a:pt x="4919660" y="3984698"/>
                  <a:pt x="4868515" y="4152362"/>
                  <a:pt x="4872401" y="4376806"/>
                </a:cubicBezTo>
                <a:cubicBezTo>
                  <a:pt x="4744325" y="4404721"/>
                  <a:pt x="4567137" y="4334644"/>
                  <a:pt x="4428471" y="4376806"/>
                </a:cubicBezTo>
                <a:cubicBezTo>
                  <a:pt x="4289805" y="4418968"/>
                  <a:pt x="4134798" y="4344639"/>
                  <a:pt x="3935817" y="4376806"/>
                </a:cubicBezTo>
                <a:cubicBezTo>
                  <a:pt x="3736836" y="4408973"/>
                  <a:pt x="3671154" y="4349161"/>
                  <a:pt x="3491887" y="4376806"/>
                </a:cubicBezTo>
                <a:cubicBezTo>
                  <a:pt x="3312620" y="4404451"/>
                  <a:pt x="3132542" y="4373427"/>
                  <a:pt x="2950509" y="4376806"/>
                </a:cubicBezTo>
                <a:cubicBezTo>
                  <a:pt x="2768476" y="4380185"/>
                  <a:pt x="2624451" y="4356322"/>
                  <a:pt x="2360408" y="4376806"/>
                </a:cubicBezTo>
                <a:cubicBezTo>
                  <a:pt x="2096365" y="4397290"/>
                  <a:pt x="2060017" y="4336856"/>
                  <a:pt x="1965202" y="4376806"/>
                </a:cubicBezTo>
                <a:cubicBezTo>
                  <a:pt x="1870387" y="4416756"/>
                  <a:pt x="1646480" y="4341619"/>
                  <a:pt x="1423824" y="4376806"/>
                </a:cubicBezTo>
                <a:cubicBezTo>
                  <a:pt x="1201168" y="4411993"/>
                  <a:pt x="1170637" y="4365206"/>
                  <a:pt x="1028618" y="4376806"/>
                </a:cubicBezTo>
                <a:cubicBezTo>
                  <a:pt x="886599" y="4388406"/>
                  <a:pt x="274265" y="4373557"/>
                  <a:pt x="0" y="4376806"/>
                </a:cubicBezTo>
                <a:cubicBezTo>
                  <a:pt x="-48982" y="4132319"/>
                  <a:pt x="8518" y="4056248"/>
                  <a:pt x="0" y="3829705"/>
                </a:cubicBezTo>
                <a:cubicBezTo>
                  <a:pt x="-8518" y="3603162"/>
                  <a:pt x="28288" y="3569541"/>
                  <a:pt x="0" y="3413909"/>
                </a:cubicBezTo>
                <a:cubicBezTo>
                  <a:pt x="-28288" y="3258277"/>
                  <a:pt x="47515" y="3020138"/>
                  <a:pt x="0" y="2866808"/>
                </a:cubicBezTo>
                <a:cubicBezTo>
                  <a:pt x="-47515" y="2713478"/>
                  <a:pt x="70418" y="2445392"/>
                  <a:pt x="0" y="2275939"/>
                </a:cubicBezTo>
                <a:cubicBezTo>
                  <a:pt x="-70418" y="2106486"/>
                  <a:pt x="45709" y="1962911"/>
                  <a:pt x="0" y="1772606"/>
                </a:cubicBezTo>
                <a:cubicBezTo>
                  <a:pt x="-45709" y="1582301"/>
                  <a:pt x="968" y="1328327"/>
                  <a:pt x="0" y="1137970"/>
                </a:cubicBezTo>
                <a:cubicBezTo>
                  <a:pt x="-968" y="947613"/>
                  <a:pt x="47514" y="767552"/>
                  <a:pt x="0" y="503333"/>
                </a:cubicBezTo>
                <a:cubicBezTo>
                  <a:pt x="-47514" y="239114"/>
                  <a:pt x="5571" y="143373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1FD16F-924C-D8A1-25AF-9BA1342041B5}"/>
              </a:ext>
            </a:extLst>
          </p:cNvPr>
          <p:cNvSpPr/>
          <p:nvPr/>
        </p:nvSpPr>
        <p:spPr>
          <a:xfrm>
            <a:off x="426164" y="2692250"/>
            <a:ext cx="13778072" cy="4376806"/>
          </a:xfrm>
          <a:custGeom>
            <a:avLst/>
            <a:gdLst>
              <a:gd name="csX0" fmla="*/ 0 w 13778072"/>
              <a:gd name="csY0" fmla="*/ 0 h 4376806"/>
              <a:gd name="csX1" fmla="*/ 964465 w 13778072"/>
              <a:gd name="csY1" fmla="*/ 0 h 4376806"/>
              <a:gd name="csX2" fmla="*/ 1791149 w 13778072"/>
              <a:gd name="csY2" fmla="*/ 0 h 4376806"/>
              <a:gd name="csX3" fmla="*/ 2342272 w 13778072"/>
              <a:gd name="csY3" fmla="*/ 0 h 4376806"/>
              <a:gd name="csX4" fmla="*/ 3031176 w 13778072"/>
              <a:gd name="csY4" fmla="*/ 0 h 4376806"/>
              <a:gd name="csX5" fmla="*/ 3306737 w 13778072"/>
              <a:gd name="csY5" fmla="*/ 0 h 4376806"/>
              <a:gd name="csX6" fmla="*/ 3720079 w 13778072"/>
              <a:gd name="csY6" fmla="*/ 0 h 4376806"/>
              <a:gd name="csX7" fmla="*/ 4133422 w 13778072"/>
              <a:gd name="csY7" fmla="*/ 0 h 4376806"/>
              <a:gd name="csX8" fmla="*/ 5097887 w 13778072"/>
              <a:gd name="csY8" fmla="*/ 0 h 4376806"/>
              <a:gd name="csX9" fmla="*/ 6062352 w 13778072"/>
              <a:gd name="csY9" fmla="*/ 0 h 4376806"/>
              <a:gd name="csX10" fmla="*/ 6613475 w 13778072"/>
              <a:gd name="csY10" fmla="*/ 0 h 4376806"/>
              <a:gd name="csX11" fmla="*/ 7026817 w 13778072"/>
              <a:gd name="csY11" fmla="*/ 0 h 4376806"/>
              <a:gd name="csX12" fmla="*/ 7715720 w 13778072"/>
              <a:gd name="csY12" fmla="*/ 0 h 4376806"/>
              <a:gd name="csX13" fmla="*/ 8542405 w 13778072"/>
              <a:gd name="csY13" fmla="*/ 0 h 4376806"/>
              <a:gd name="csX14" fmla="*/ 9231308 w 13778072"/>
              <a:gd name="csY14" fmla="*/ 0 h 4376806"/>
              <a:gd name="csX15" fmla="*/ 9644650 w 13778072"/>
              <a:gd name="csY15" fmla="*/ 0 h 4376806"/>
              <a:gd name="csX16" fmla="*/ 10057993 w 13778072"/>
              <a:gd name="csY16" fmla="*/ 0 h 4376806"/>
              <a:gd name="csX17" fmla="*/ 11022458 w 13778072"/>
              <a:gd name="csY17" fmla="*/ 0 h 4376806"/>
              <a:gd name="csX18" fmla="*/ 11298019 w 13778072"/>
              <a:gd name="csY18" fmla="*/ 0 h 4376806"/>
              <a:gd name="csX19" fmla="*/ 11573580 w 13778072"/>
              <a:gd name="csY19" fmla="*/ 0 h 4376806"/>
              <a:gd name="csX20" fmla="*/ 11986923 w 13778072"/>
              <a:gd name="csY20" fmla="*/ 0 h 4376806"/>
              <a:gd name="csX21" fmla="*/ 12813607 w 13778072"/>
              <a:gd name="csY21" fmla="*/ 0 h 4376806"/>
              <a:gd name="csX22" fmla="*/ 13778072 w 13778072"/>
              <a:gd name="csY22" fmla="*/ 0 h 4376806"/>
              <a:gd name="csX23" fmla="*/ 13778072 w 13778072"/>
              <a:gd name="csY23" fmla="*/ 712794 h 4376806"/>
              <a:gd name="csX24" fmla="*/ 13778072 w 13778072"/>
              <a:gd name="csY24" fmla="*/ 1294284 h 4376806"/>
              <a:gd name="csX25" fmla="*/ 13778072 w 13778072"/>
              <a:gd name="csY25" fmla="*/ 1919542 h 4376806"/>
              <a:gd name="csX26" fmla="*/ 13778072 w 13778072"/>
              <a:gd name="csY26" fmla="*/ 2413496 h 4376806"/>
              <a:gd name="csX27" fmla="*/ 13778072 w 13778072"/>
              <a:gd name="csY27" fmla="*/ 3082522 h 4376806"/>
              <a:gd name="csX28" fmla="*/ 13778072 w 13778072"/>
              <a:gd name="csY28" fmla="*/ 3664012 h 4376806"/>
              <a:gd name="csX29" fmla="*/ 13778072 w 13778072"/>
              <a:gd name="csY29" fmla="*/ 4376806 h 4376806"/>
              <a:gd name="csX30" fmla="*/ 13089168 w 13778072"/>
              <a:gd name="csY30" fmla="*/ 4376806 h 4376806"/>
              <a:gd name="csX31" fmla="*/ 12813607 w 13778072"/>
              <a:gd name="csY31" fmla="*/ 4376806 h 4376806"/>
              <a:gd name="csX32" fmla="*/ 12538046 w 13778072"/>
              <a:gd name="csY32" fmla="*/ 4376806 h 4376806"/>
              <a:gd name="csX33" fmla="*/ 11986923 w 13778072"/>
              <a:gd name="csY33" fmla="*/ 4376806 h 4376806"/>
              <a:gd name="csX34" fmla="*/ 11160238 w 13778072"/>
              <a:gd name="csY34" fmla="*/ 4376806 h 4376806"/>
              <a:gd name="csX35" fmla="*/ 10195773 w 13778072"/>
              <a:gd name="csY35" fmla="*/ 4376806 h 4376806"/>
              <a:gd name="csX36" fmla="*/ 9920212 w 13778072"/>
              <a:gd name="csY36" fmla="*/ 4376806 h 4376806"/>
              <a:gd name="csX37" fmla="*/ 9093528 w 13778072"/>
              <a:gd name="csY37" fmla="*/ 4376806 h 4376806"/>
              <a:gd name="csX38" fmla="*/ 8266843 w 13778072"/>
              <a:gd name="csY38" fmla="*/ 4376806 h 4376806"/>
              <a:gd name="csX39" fmla="*/ 7577940 w 13778072"/>
              <a:gd name="csY39" fmla="*/ 4376806 h 4376806"/>
              <a:gd name="csX40" fmla="*/ 7026817 w 13778072"/>
              <a:gd name="csY40" fmla="*/ 4376806 h 4376806"/>
              <a:gd name="csX41" fmla="*/ 6613475 w 13778072"/>
              <a:gd name="csY41" fmla="*/ 4376806 h 4376806"/>
              <a:gd name="csX42" fmla="*/ 6062352 w 13778072"/>
              <a:gd name="csY42" fmla="*/ 4376806 h 4376806"/>
              <a:gd name="csX43" fmla="*/ 5511229 w 13778072"/>
              <a:gd name="csY43" fmla="*/ 4376806 h 4376806"/>
              <a:gd name="csX44" fmla="*/ 4822325 w 13778072"/>
              <a:gd name="csY44" fmla="*/ 4376806 h 4376806"/>
              <a:gd name="csX45" fmla="*/ 4546764 w 13778072"/>
              <a:gd name="csY45" fmla="*/ 4376806 h 4376806"/>
              <a:gd name="csX46" fmla="*/ 4133422 w 13778072"/>
              <a:gd name="csY46" fmla="*/ 4376806 h 4376806"/>
              <a:gd name="csX47" fmla="*/ 3720079 w 13778072"/>
              <a:gd name="csY47" fmla="*/ 4376806 h 4376806"/>
              <a:gd name="csX48" fmla="*/ 3168957 w 13778072"/>
              <a:gd name="csY48" fmla="*/ 4376806 h 4376806"/>
              <a:gd name="csX49" fmla="*/ 2893395 w 13778072"/>
              <a:gd name="csY49" fmla="*/ 4376806 h 4376806"/>
              <a:gd name="csX50" fmla="*/ 2066711 w 13778072"/>
              <a:gd name="csY50" fmla="*/ 4376806 h 4376806"/>
              <a:gd name="csX51" fmla="*/ 1377807 w 13778072"/>
              <a:gd name="csY51" fmla="*/ 4376806 h 4376806"/>
              <a:gd name="csX52" fmla="*/ 964465 w 13778072"/>
              <a:gd name="csY52" fmla="*/ 4376806 h 4376806"/>
              <a:gd name="csX53" fmla="*/ 0 w 13778072"/>
              <a:gd name="csY53" fmla="*/ 4376806 h 4376806"/>
              <a:gd name="csX54" fmla="*/ 0 w 13778072"/>
              <a:gd name="csY54" fmla="*/ 3795316 h 4376806"/>
              <a:gd name="csX55" fmla="*/ 0 w 13778072"/>
              <a:gd name="csY55" fmla="*/ 3213826 h 4376806"/>
              <a:gd name="csX56" fmla="*/ 0 w 13778072"/>
              <a:gd name="csY56" fmla="*/ 2632336 h 4376806"/>
              <a:gd name="csX57" fmla="*/ 0 w 13778072"/>
              <a:gd name="csY57" fmla="*/ 2050846 h 4376806"/>
              <a:gd name="csX58" fmla="*/ 0 w 13778072"/>
              <a:gd name="csY58" fmla="*/ 1381820 h 4376806"/>
              <a:gd name="csX59" fmla="*/ 0 w 13778072"/>
              <a:gd name="csY59" fmla="*/ 800330 h 4376806"/>
              <a:gd name="csX60" fmla="*/ 0 w 13778072"/>
              <a:gd name="csY60" fmla="*/ 0 h 4376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3778072" h="4376806" fill="none" extrusionOk="0">
                <a:moveTo>
                  <a:pt x="0" y="0"/>
                </a:moveTo>
                <a:cubicBezTo>
                  <a:pt x="440973" y="19910"/>
                  <a:pt x="679368" y="-26983"/>
                  <a:pt x="964465" y="0"/>
                </a:cubicBezTo>
                <a:cubicBezTo>
                  <a:pt x="1249562" y="26983"/>
                  <a:pt x="1467102" y="-7472"/>
                  <a:pt x="1791149" y="0"/>
                </a:cubicBezTo>
                <a:cubicBezTo>
                  <a:pt x="2115196" y="7472"/>
                  <a:pt x="2223158" y="2548"/>
                  <a:pt x="2342272" y="0"/>
                </a:cubicBezTo>
                <a:cubicBezTo>
                  <a:pt x="2461386" y="-2548"/>
                  <a:pt x="2698158" y="-6795"/>
                  <a:pt x="3031176" y="0"/>
                </a:cubicBezTo>
                <a:cubicBezTo>
                  <a:pt x="3364194" y="6795"/>
                  <a:pt x="3211917" y="-8794"/>
                  <a:pt x="3306737" y="0"/>
                </a:cubicBezTo>
                <a:cubicBezTo>
                  <a:pt x="3401557" y="8794"/>
                  <a:pt x="3527963" y="13371"/>
                  <a:pt x="3720079" y="0"/>
                </a:cubicBezTo>
                <a:cubicBezTo>
                  <a:pt x="3912195" y="-13371"/>
                  <a:pt x="4040322" y="-18314"/>
                  <a:pt x="4133422" y="0"/>
                </a:cubicBezTo>
                <a:cubicBezTo>
                  <a:pt x="4226522" y="18314"/>
                  <a:pt x="4790356" y="-16270"/>
                  <a:pt x="5097887" y="0"/>
                </a:cubicBezTo>
                <a:cubicBezTo>
                  <a:pt x="5405419" y="16270"/>
                  <a:pt x="5703649" y="-17446"/>
                  <a:pt x="6062352" y="0"/>
                </a:cubicBezTo>
                <a:cubicBezTo>
                  <a:pt x="6421055" y="17446"/>
                  <a:pt x="6471331" y="-20653"/>
                  <a:pt x="6613475" y="0"/>
                </a:cubicBezTo>
                <a:cubicBezTo>
                  <a:pt x="6755619" y="20653"/>
                  <a:pt x="6924410" y="18274"/>
                  <a:pt x="7026817" y="0"/>
                </a:cubicBezTo>
                <a:cubicBezTo>
                  <a:pt x="7129224" y="-18274"/>
                  <a:pt x="7485945" y="1215"/>
                  <a:pt x="7715720" y="0"/>
                </a:cubicBezTo>
                <a:cubicBezTo>
                  <a:pt x="7945495" y="-1215"/>
                  <a:pt x="8140158" y="6012"/>
                  <a:pt x="8542405" y="0"/>
                </a:cubicBezTo>
                <a:cubicBezTo>
                  <a:pt x="8944653" y="-6012"/>
                  <a:pt x="9027387" y="15232"/>
                  <a:pt x="9231308" y="0"/>
                </a:cubicBezTo>
                <a:cubicBezTo>
                  <a:pt x="9435229" y="-15232"/>
                  <a:pt x="9501325" y="-15616"/>
                  <a:pt x="9644650" y="0"/>
                </a:cubicBezTo>
                <a:cubicBezTo>
                  <a:pt x="9787975" y="15616"/>
                  <a:pt x="9864418" y="-20195"/>
                  <a:pt x="10057993" y="0"/>
                </a:cubicBezTo>
                <a:cubicBezTo>
                  <a:pt x="10251568" y="20195"/>
                  <a:pt x="10696793" y="-33534"/>
                  <a:pt x="11022458" y="0"/>
                </a:cubicBezTo>
                <a:cubicBezTo>
                  <a:pt x="11348124" y="33534"/>
                  <a:pt x="11242279" y="3922"/>
                  <a:pt x="11298019" y="0"/>
                </a:cubicBezTo>
                <a:cubicBezTo>
                  <a:pt x="11353759" y="-3922"/>
                  <a:pt x="11441075" y="-10136"/>
                  <a:pt x="11573580" y="0"/>
                </a:cubicBezTo>
                <a:cubicBezTo>
                  <a:pt x="11706085" y="10136"/>
                  <a:pt x="11791505" y="-9607"/>
                  <a:pt x="11986923" y="0"/>
                </a:cubicBezTo>
                <a:cubicBezTo>
                  <a:pt x="12182341" y="9607"/>
                  <a:pt x="12616862" y="14580"/>
                  <a:pt x="12813607" y="0"/>
                </a:cubicBezTo>
                <a:cubicBezTo>
                  <a:pt x="13010352" y="-14580"/>
                  <a:pt x="13538650" y="-10824"/>
                  <a:pt x="13778072" y="0"/>
                </a:cubicBezTo>
                <a:cubicBezTo>
                  <a:pt x="13809018" y="285789"/>
                  <a:pt x="13759445" y="413336"/>
                  <a:pt x="13778072" y="712794"/>
                </a:cubicBezTo>
                <a:cubicBezTo>
                  <a:pt x="13796699" y="1012252"/>
                  <a:pt x="13794232" y="1142253"/>
                  <a:pt x="13778072" y="1294284"/>
                </a:cubicBezTo>
                <a:cubicBezTo>
                  <a:pt x="13761913" y="1446315"/>
                  <a:pt x="13808912" y="1771813"/>
                  <a:pt x="13778072" y="1919542"/>
                </a:cubicBezTo>
                <a:cubicBezTo>
                  <a:pt x="13747232" y="2067271"/>
                  <a:pt x="13760963" y="2274669"/>
                  <a:pt x="13778072" y="2413496"/>
                </a:cubicBezTo>
                <a:cubicBezTo>
                  <a:pt x="13795181" y="2552323"/>
                  <a:pt x="13754707" y="2812814"/>
                  <a:pt x="13778072" y="3082522"/>
                </a:cubicBezTo>
                <a:cubicBezTo>
                  <a:pt x="13801437" y="3352230"/>
                  <a:pt x="13755380" y="3509376"/>
                  <a:pt x="13778072" y="3664012"/>
                </a:cubicBezTo>
                <a:cubicBezTo>
                  <a:pt x="13800765" y="3818648"/>
                  <a:pt x="13788889" y="4037781"/>
                  <a:pt x="13778072" y="4376806"/>
                </a:cubicBezTo>
                <a:cubicBezTo>
                  <a:pt x="13588654" y="4343435"/>
                  <a:pt x="13301240" y="4363584"/>
                  <a:pt x="13089168" y="4376806"/>
                </a:cubicBezTo>
                <a:cubicBezTo>
                  <a:pt x="12877096" y="4390028"/>
                  <a:pt x="12929500" y="4374438"/>
                  <a:pt x="12813607" y="4376806"/>
                </a:cubicBezTo>
                <a:cubicBezTo>
                  <a:pt x="12697714" y="4379174"/>
                  <a:pt x="12614310" y="4373096"/>
                  <a:pt x="12538046" y="4376806"/>
                </a:cubicBezTo>
                <a:cubicBezTo>
                  <a:pt x="12461782" y="4380516"/>
                  <a:pt x="12228002" y="4382235"/>
                  <a:pt x="11986923" y="4376806"/>
                </a:cubicBezTo>
                <a:cubicBezTo>
                  <a:pt x="11745844" y="4371377"/>
                  <a:pt x="11328301" y="4365072"/>
                  <a:pt x="11160238" y="4376806"/>
                </a:cubicBezTo>
                <a:cubicBezTo>
                  <a:pt x="10992175" y="4388540"/>
                  <a:pt x="10605606" y="4387783"/>
                  <a:pt x="10195773" y="4376806"/>
                </a:cubicBezTo>
                <a:cubicBezTo>
                  <a:pt x="9785940" y="4365829"/>
                  <a:pt x="10047465" y="4365736"/>
                  <a:pt x="9920212" y="4376806"/>
                </a:cubicBezTo>
                <a:cubicBezTo>
                  <a:pt x="9792959" y="4387876"/>
                  <a:pt x="9304426" y="4407650"/>
                  <a:pt x="9093528" y="4376806"/>
                </a:cubicBezTo>
                <a:cubicBezTo>
                  <a:pt x="8882630" y="4345962"/>
                  <a:pt x="8471559" y="4398594"/>
                  <a:pt x="8266843" y="4376806"/>
                </a:cubicBezTo>
                <a:cubicBezTo>
                  <a:pt x="8062128" y="4355018"/>
                  <a:pt x="7921274" y="4375624"/>
                  <a:pt x="7577940" y="4376806"/>
                </a:cubicBezTo>
                <a:cubicBezTo>
                  <a:pt x="7234606" y="4377988"/>
                  <a:pt x="7194048" y="4379727"/>
                  <a:pt x="7026817" y="4376806"/>
                </a:cubicBezTo>
                <a:cubicBezTo>
                  <a:pt x="6859586" y="4373885"/>
                  <a:pt x="6818878" y="4395019"/>
                  <a:pt x="6613475" y="4376806"/>
                </a:cubicBezTo>
                <a:cubicBezTo>
                  <a:pt x="6408072" y="4358593"/>
                  <a:pt x="6327854" y="4379279"/>
                  <a:pt x="6062352" y="4376806"/>
                </a:cubicBezTo>
                <a:cubicBezTo>
                  <a:pt x="5796850" y="4374333"/>
                  <a:pt x="5683354" y="4387975"/>
                  <a:pt x="5511229" y="4376806"/>
                </a:cubicBezTo>
                <a:cubicBezTo>
                  <a:pt x="5339104" y="4365637"/>
                  <a:pt x="4980459" y="4351528"/>
                  <a:pt x="4822325" y="4376806"/>
                </a:cubicBezTo>
                <a:cubicBezTo>
                  <a:pt x="4664191" y="4402084"/>
                  <a:pt x="4667918" y="4386929"/>
                  <a:pt x="4546764" y="4376806"/>
                </a:cubicBezTo>
                <a:cubicBezTo>
                  <a:pt x="4425610" y="4366683"/>
                  <a:pt x="4253469" y="4392896"/>
                  <a:pt x="4133422" y="4376806"/>
                </a:cubicBezTo>
                <a:cubicBezTo>
                  <a:pt x="4013375" y="4360716"/>
                  <a:pt x="3876026" y="4363366"/>
                  <a:pt x="3720079" y="4376806"/>
                </a:cubicBezTo>
                <a:cubicBezTo>
                  <a:pt x="3564132" y="4390246"/>
                  <a:pt x="3408061" y="4391319"/>
                  <a:pt x="3168957" y="4376806"/>
                </a:cubicBezTo>
                <a:cubicBezTo>
                  <a:pt x="2929853" y="4362293"/>
                  <a:pt x="3007583" y="4378838"/>
                  <a:pt x="2893395" y="4376806"/>
                </a:cubicBezTo>
                <a:cubicBezTo>
                  <a:pt x="2779207" y="4374774"/>
                  <a:pt x="2309134" y="4384477"/>
                  <a:pt x="2066711" y="4376806"/>
                </a:cubicBezTo>
                <a:cubicBezTo>
                  <a:pt x="1824288" y="4369135"/>
                  <a:pt x="1639389" y="4401852"/>
                  <a:pt x="1377807" y="4376806"/>
                </a:cubicBezTo>
                <a:cubicBezTo>
                  <a:pt x="1116225" y="4351760"/>
                  <a:pt x="1073870" y="4363303"/>
                  <a:pt x="964465" y="4376806"/>
                </a:cubicBezTo>
                <a:cubicBezTo>
                  <a:pt x="855060" y="4390309"/>
                  <a:pt x="443273" y="4386468"/>
                  <a:pt x="0" y="4376806"/>
                </a:cubicBezTo>
                <a:cubicBezTo>
                  <a:pt x="-12803" y="4226057"/>
                  <a:pt x="763" y="4014524"/>
                  <a:pt x="0" y="3795316"/>
                </a:cubicBezTo>
                <a:cubicBezTo>
                  <a:pt x="-763" y="3576108"/>
                  <a:pt x="-13662" y="3343021"/>
                  <a:pt x="0" y="3213826"/>
                </a:cubicBezTo>
                <a:cubicBezTo>
                  <a:pt x="13662" y="3084631"/>
                  <a:pt x="24766" y="2901926"/>
                  <a:pt x="0" y="2632336"/>
                </a:cubicBezTo>
                <a:cubicBezTo>
                  <a:pt x="-24766" y="2362746"/>
                  <a:pt x="-20128" y="2284374"/>
                  <a:pt x="0" y="2050846"/>
                </a:cubicBezTo>
                <a:cubicBezTo>
                  <a:pt x="20128" y="1817318"/>
                  <a:pt x="-30069" y="1669559"/>
                  <a:pt x="0" y="1381820"/>
                </a:cubicBezTo>
                <a:cubicBezTo>
                  <a:pt x="30069" y="1094081"/>
                  <a:pt x="-280" y="999598"/>
                  <a:pt x="0" y="800330"/>
                </a:cubicBezTo>
                <a:cubicBezTo>
                  <a:pt x="280" y="601062"/>
                  <a:pt x="33026" y="361561"/>
                  <a:pt x="0" y="0"/>
                </a:cubicBezTo>
                <a:close/>
              </a:path>
              <a:path w="13778072" h="4376806" stroke="0" extrusionOk="0">
                <a:moveTo>
                  <a:pt x="0" y="0"/>
                </a:moveTo>
                <a:cubicBezTo>
                  <a:pt x="349272" y="-27059"/>
                  <a:pt x="535583" y="-4854"/>
                  <a:pt x="826684" y="0"/>
                </a:cubicBezTo>
                <a:cubicBezTo>
                  <a:pt x="1117785" y="4854"/>
                  <a:pt x="1564962" y="28539"/>
                  <a:pt x="1791149" y="0"/>
                </a:cubicBezTo>
                <a:cubicBezTo>
                  <a:pt x="2017337" y="-28539"/>
                  <a:pt x="2370713" y="-25878"/>
                  <a:pt x="2617834" y="0"/>
                </a:cubicBezTo>
                <a:cubicBezTo>
                  <a:pt x="2864955" y="25878"/>
                  <a:pt x="2860707" y="7905"/>
                  <a:pt x="3031176" y="0"/>
                </a:cubicBezTo>
                <a:cubicBezTo>
                  <a:pt x="3201645" y="-7905"/>
                  <a:pt x="3374186" y="2823"/>
                  <a:pt x="3582299" y="0"/>
                </a:cubicBezTo>
                <a:cubicBezTo>
                  <a:pt x="3790412" y="-2823"/>
                  <a:pt x="4122539" y="-31597"/>
                  <a:pt x="4546764" y="0"/>
                </a:cubicBezTo>
                <a:cubicBezTo>
                  <a:pt x="4970989" y="31597"/>
                  <a:pt x="4984387" y="-7119"/>
                  <a:pt x="5097887" y="0"/>
                </a:cubicBezTo>
                <a:cubicBezTo>
                  <a:pt x="5211387" y="7119"/>
                  <a:pt x="5540200" y="32648"/>
                  <a:pt x="5924571" y="0"/>
                </a:cubicBezTo>
                <a:cubicBezTo>
                  <a:pt x="6308942" y="-32648"/>
                  <a:pt x="6194894" y="-17823"/>
                  <a:pt x="6337913" y="0"/>
                </a:cubicBezTo>
                <a:cubicBezTo>
                  <a:pt x="6480932" y="17823"/>
                  <a:pt x="6740604" y="-20237"/>
                  <a:pt x="7026817" y="0"/>
                </a:cubicBezTo>
                <a:cubicBezTo>
                  <a:pt x="7313030" y="20237"/>
                  <a:pt x="7331014" y="-14339"/>
                  <a:pt x="7577940" y="0"/>
                </a:cubicBezTo>
                <a:cubicBezTo>
                  <a:pt x="7824866" y="14339"/>
                  <a:pt x="8062029" y="-2717"/>
                  <a:pt x="8404624" y="0"/>
                </a:cubicBezTo>
                <a:cubicBezTo>
                  <a:pt x="8747219" y="2717"/>
                  <a:pt x="8740209" y="6091"/>
                  <a:pt x="8955747" y="0"/>
                </a:cubicBezTo>
                <a:cubicBezTo>
                  <a:pt x="9171285" y="-6091"/>
                  <a:pt x="9542485" y="-23311"/>
                  <a:pt x="9782431" y="0"/>
                </a:cubicBezTo>
                <a:cubicBezTo>
                  <a:pt x="10022377" y="23311"/>
                  <a:pt x="9990394" y="18468"/>
                  <a:pt x="10195773" y="0"/>
                </a:cubicBezTo>
                <a:cubicBezTo>
                  <a:pt x="10401152" y="-18468"/>
                  <a:pt x="10695655" y="-41033"/>
                  <a:pt x="11022458" y="0"/>
                </a:cubicBezTo>
                <a:cubicBezTo>
                  <a:pt x="11349262" y="41033"/>
                  <a:pt x="11186763" y="11853"/>
                  <a:pt x="11298019" y="0"/>
                </a:cubicBezTo>
                <a:cubicBezTo>
                  <a:pt x="11409275" y="-11853"/>
                  <a:pt x="11511924" y="-4113"/>
                  <a:pt x="11573580" y="0"/>
                </a:cubicBezTo>
                <a:cubicBezTo>
                  <a:pt x="11635236" y="4113"/>
                  <a:pt x="12067579" y="-27608"/>
                  <a:pt x="12400265" y="0"/>
                </a:cubicBezTo>
                <a:cubicBezTo>
                  <a:pt x="12732951" y="27608"/>
                  <a:pt x="12924555" y="24496"/>
                  <a:pt x="13089168" y="0"/>
                </a:cubicBezTo>
                <a:cubicBezTo>
                  <a:pt x="13253781" y="-24496"/>
                  <a:pt x="13520876" y="-34395"/>
                  <a:pt x="13778072" y="0"/>
                </a:cubicBezTo>
                <a:cubicBezTo>
                  <a:pt x="13756471" y="199165"/>
                  <a:pt x="13771792" y="389215"/>
                  <a:pt x="13778072" y="625258"/>
                </a:cubicBezTo>
                <a:cubicBezTo>
                  <a:pt x="13784352" y="861301"/>
                  <a:pt x="13789293" y="923665"/>
                  <a:pt x="13778072" y="1162980"/>
                </a:cubicBezTo>
                <a:cubicBezTo>
                  <a:pt x="13766851" y="1402295"/>
                  <a:pt x="13782067" y="1437101"/>
                  <a:pt x="13778072" y="1700702"/>
                </a:cubicBezTo>
                <a:cubicBezTo>
                  <a:pt x="13774077" y="1964303"/>
                  <a:pt x="13759117" y="2145970"/>
                  <a:pt x="13778072" y="2282192"/>
                </a:cubicBezTo>
                <a:cubicBezTo>
                  <a:pt x="13797028" y="2418414"/>
                  <a:pt x="13797905" y="2764362"/>
                  <a:pt x="13778072" y="2907450"/>
                </a:cubicBezTo>
                <a:cubicBezTo>
                  <a:pt x="13758239" y="3050538"/>
                  <a:pt x="13758744" y="3378469"/>
                  <a:pt x="13778072" y="3576476"/>
                </a:cubicBezTo>
                <a:cubicBezTo>
                  <a:pt x="13797400" y="3774483"/>
                  <a:pt x="13808577" y="3987201"/>
                  <a:pt x="13778072" y="4376806"/>
                </a:cubicBezTo>
                <a:cubicBezTo>
                  <a:pt x="13576427" y="4401039"/>
                  <a:pt x="13344203" y="4375226"/>
                  <a:pt x="13089168" y="4376806"/>
                </a:cubicBezTo>
                <a:cubicBezTo>
                  <a:pt x="12834133" y="4378386"/>
                  <a:pt x="12507396" y="4338281"/>
                  <a:pt x="12124703" y="4376806"/>
                </a:cubicBezTo>
                <a:cubicBezTo>
                  <a:pt x="11742011" y="4415331"/>
                  <a:pt x="11492372" y="4346912"/>
                  <a:pt x="11298019" y="4376806"/>
                </a:cubicBezTo>
                <a:cubicBezTo>
                  <a:pt x="11103666" y="4406700"/>
                  <a:pt x="10987471" y="4363790"/>
                  <a:pt x="10884677" y="4376806"/>
                </a:cubicBezTo>
                <a:cubicBezTo>
                  <a:pt x="10781883" y="4389822"/>
                  <a:pt x="10380249" y="4396333"/>
                  <a:pt x="10057993" y="4376806"/>
                </a:cubicBezTo>
                <a:cubicBezTo>
                  <a:pt x="9735737" y="4357279"/>
                  <a:pt x="9674624" y="4363047"/>
                  <a:pt x="9506870" y="4376806"/>
                </a:cubicBezTo>
                <a:cubicBezTo>
                  <a:pt x="9339116" y="4390565"/>
                  <a:pt x="9310919" y="4383729"/>
                  <a:pt x="9231308" y="4376806"/>
                </a:cubicBezTo>
                <a:cubicBezTo>
                  <a:pt x="9151697" y="4369883"/>
                  <a:pt x="8954266" y="4355861"/>
                  <a:pt x="8680185" y="4376806"/>
                </a:cubicBezTo>
                <a:cubicBezTo>
                  <a:pt x="8406104" y="4397751"/>
                  <a:pt x="8372215" y="4356537"/>
                  <a:pt x="8266843" y="4376806"/>
                </a:cubicBezTo>
                <a:cubicBezTo>
                  <a:pt x="8161471" y="4397075"/>
                  <a:pt x="7839339" y="4399399"/>
                  <a:pt x="7715720" y="4376806"/>
                </a:cubicBezTo>
                <a:cubicBezTo>
                  <a:pt x="7592101" y="4354213"/>
                  <a:pt x="7251193" y="4397275"/>
                  <a:pt x="7026817" y="4376806"/>
                </a:cubicBezTo>
                <a:cubicBezTo>
                  <a:pt x="6802441" y="4356337"/>
                  <a:pt x="6854926" y="4381410"/>
                  <a:pt x="6751255" y="4376806"/>
                </a:cubicBezTo>
                <a:cubicBezTo>
                  <a:pt x="6647584" y="4372202"/>
                  <a:pt x="6379007" y="4401177"/>
                  <a:pt x="6062352" y="4376806"/>
                </a:cubicBezTo>
                <a:cubicBezTo>
                  <a:pt x="5745697" y="4352435"/>
                  <a:pt x="5755141" y="4367318"/>
                  <a:pt x="5649010" y="4376806"/>
                </a:cubicBezTo>
                <a:cubicBezTo>
                  <a:pt x="5542879" y="4386294"/>
                  <a:pt x="5339460" y="4357264"/>
                  <a:pt x="5235667" y="4376806"/>
                </a:cubicBezTo>
                <a:cubicBezTo>
                  <a:pt x="5131874" y="4396348"/>
                  <a:pt x="4550594" y="4367231"/>
                  <a:pt x="4271202" y="4376806"/>
                </a:cubicBezTo>
                <a:cubicBezTo>
                  <a:pt x="3991811" y="4386381"/>
                  <a:pt x="4123974" y="4374833"/>
                  <a:pt x="3995641" y="4376806"/>
                </a:cubicBezTo>
                <a:cubicBezTo>
                  <a:pt x="3867308" y="4378779"/>
                  <a:pt x="3648854" y="4345250"/>
                  <a:pt x="3306737" y="4376806"/>
                </a:cubicBezTo>
                <a:cubicBezTo>
                  <a:pt x="2964620" y="4408362"/>
                  <a:pt x="3167666" y="4389356"/>
                  <a:pt x="3031176" y="4376806"/>
                </a:cubicBezTo>
                <a:cubicBezTo>
                  <a:pt x="2894686" y="4364256"/>
                  <a:pt x="2599718" y="4374386"/>
                  <a:pt x="2204492" y="4376806"/>
                </a:cubicBezTo>
                <a:cubicBezTo>
                  <a:pt x="1809266" y="4379226"/>
                  <a:pt x="1721055" y="4404434"/>
                  <a:pt x="1377807" y="4376806"/>
                </a:cubicBezTo>
                <a:cubicBezTo>
                  <a:pt x="1034560" y="4349178"/>
                  <a:pt x="1073697" y="4397343"/>
                  <a:pt x="964465" y="4376806"/>
                </a:cubicBezTo>
                <a:cubicBezTo>
                  <a:pt x="855233" y="4356269"/>
                  <a:pt x="426732" y="4354710"/>
                  <a:pt x="0" y="4376806"/>
                </a:cubicBezTo>
                <a:cubicBezTo>
                  <a:pt x="9243" y="4043362"/>
                  <a:pt x="32085" y="3850382"/>
                  <a:pt x="0" y="3664012"/>
                </a:cubicBezTo>
                <a:cubicBezTo>
                  <a:pt x="-32085" y="3477642"/>
                  <a:pt x="-29656" y="3335677"/>
                  <a:pt x="0" y="3038754"/>
                </a:cubicBezTo>
                <a:cubicBezTo>
                  <a:pt x="29656" y="2741831"/>
                  <a:pt x="-2514" y="2767580"/>
                  <a:pt x="0" y="2544800"/>
                </a:cubicBezTo>
                <a:cubicBezTo>
                  <a:pt x="2514" y="2322020"/>
                  <a:pt x="24526" y="2206112"/>
                  <a:pt x="0" y="1963310"/>
                </a:cubicBezTo>
                <a:cubicBezTo>
                  <a:pt x="-24526" y="1720508"/>
                  <a:pt x="22667" y="1670746"/>
                  <a:pt x="0" y="1381820"/>
                </a:cubicBezTo>
                <a:cubicBezTo>
                  <a:pt x="-22667" y="1092894"/>
                  <a:pt x="24158" y="1011719"/>
                  <a:pt x="0" y="800330"/>
                </a:cubicBezTo>
                <a:cubicBezTo>
                  <a:pt x="-24158" y="588941"/>
                  <a:pt x="-7980" y="253327"/>
                  <a:pt x="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816633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871F70D-CAED-F595-D40E-B9152CE35D7B}"/>
              </a:ext>
            </a:extLst>
          </p:cNvPr>
          <p:cNvSpPr/>
          <p:nvPr/>
        </p:nvSpPr>
        <p:spPr>
          <a:xfrm>
            <a:off x="578985" y="1390650"/>
            <a:ext cx="11374889" cy="73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5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Advanced Analytics &amp; Automation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E33764-9184-B732-15CA-4CF01E71F9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039"/>
          <a:stretch>
            <a:fillRect/>
          </a:stretch>
        </p:blipFill>
        <p:spPr>
          <a:xfrm>
            <a:off x="441591" y="2703404"/>
            <a:ext cx="4404729" cy="4365651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DF3CD1-5D6E-D8F0-F907-2726894F16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713"/>
          <a:stretch>
            <a:fillRect/>
          </a:stretch>
        </p:blipFill>
        <p:spPr>
          <a:xfrm>
            <a:off x="4952890" y="2714560"/>
            <a:ext cx="4201270" cy="4365651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6E205A-556B-ADCA-DE0A-BC7CA831F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5585" y="2702410"/>
            <a:ext cx="4953429" cy="435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606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8E598-F5E5-D9E8-6A28-C42D9CFDF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4">
            <a:extLst>
              <a:ext uri="{FF2B5EF4-FFF2-40B4-BE49-F238E27FC236}">
                <a16:creationId xmlns:a16="http://schemas.microsoft.com/office/drawing/2014/main" id="{E1A71A0D-591F-A75B-CDD7-11B931FC0504}"/>
              </a:ext>
            </a:extLst>
          </p:cNvPr>
          <p:cNvSpPr/>
          <p:nvPr/>
        </p:nvSpPr>
        <p:spPr>
          <a:xfrm>
            <a:off x="1384702" y="7226593"/>
            <a:ext cx="2346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73B48"/>
                </a:solidFill>
                <a:latin typeface="Mona Sans Expanded SemiBold" pitchFamily="2" charset="0"/>
              </a:rPr>
              <a:t>Spending Analytics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ED9C37A-CA0C-1295-EE9F-9244DE60B13A}"/>
              </a:ext>
            </a:extLst>
          </p:cNvPr>
          <p:cNvSpPr/>
          <p:nvPr/>
        </p:nvSpPr>
        <p:spPr>
          <a:xfrm>
            <a:off x="6845992" y="7212066"/>
            <a:ext cx="853478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73B48"/>
                </a:solidFill>
                <a:latin typeface="Mona Sans Expanded SemiBold" pitchFamily="2" charset="0"/>
              </a:rPr>
              <a:t>Category Report</a:t>
            </a: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D87BD061-0668-A24A-2177-F6D0AFC40827}"/>
              </a:ext>
            </a:extLst>
          </p:cNvPr>
          <p:cNvSpPr/>
          <p:nvPr/>
        </p:nvSpPr>
        <p:spPr>
          <a:xfrm>
            <a:off x="11362713" y="7226593"/>
            <a:ext cx="17021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73B48"/>
                </a:solidFill>
                <a:latin typeface="Mona Sans Expanded SemiBold" pitchFamily="2" charset="0"/>
              </a:rPr>
              <a:t>Save &amp; Exit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754319-BDA7-509A-206D-07B7542206D2}"/>
              </a:ext>
            </a:extLst>
          </p:cNvPr>
          <p:cNvSpPr/>
          <p:nvPr/>
        </p:nvSpPr>
        <p:spPr>
          <a:xfrm>
            <a:off x="333720" y="2688826"/>
            <a:ext cx="13970239" cy="4420733"/>
          </a:xfrm>
          <a:custGeom>
            <a:avLst/>
            <a:gdLst>
              <a:gd name="csX0" fmla="*/ 0 w 13970239"/>
              <a:gd name="csY0" fmla="*/ 0 h 4420733"/>
              <a:gd name="csX1" fmla="*/ 977917 w 13970239"/>
              <a:gd name="csY1" fmla="*/ 0 h 4420733"/>
              <a:gd name="csX2" fmla="*/ 1816131 w 13970239"/>
              <a:gd name="csY2" fmla="*/ 0 h 4420733"/>
              <a:gd name="csX3" fmla="*/ 2374941 w 13970239"/>
              <a:gd name="csY3" fmla="*/ 0 h 4420733"/>
              <a:gd name="csX4" fmla="*/ 3073453 w 13970239"/>
              <a:gd name="csY4" fmla="*/ 0 h 4420733"/>
              <a:gd name="csX5" fmla="*/ 3352857 w 13970239"/>
              <a:gd name="csY5" fmla="*/ 0 h 4420733"/>
              <a:gd name="csX6" fmla="*/ 3771965 w 13970239"/>
              <a:gd name="csY6" fmla="*/ 0 h 4420733"/>
              <a:gd name="csX7" fmla="*/ 4191072 w 13970239"/>
              <a:gd name="csY7" fmla="*/ 0 h 4420733"/>
              <a:gd name="csX8" fmla="*/ 5168988 w 13970239"/>
              <a:gd name="csY8" fmla="*/ 0 h 4420733"/>
              <a:gd name="csX9" fmla="*/ 6146905 w 13970239"/>
              <a:gd name="csY9" fmla="*/ 0 h 4420733"/>
              <a:gd name="csX10" fmla="*/ 6705715 w 13970239"/>
              <a:gd name="csY10" fmla="*/ 0 h 4420733"/>
              <a:gd name="csX11" fmla="*/ 7124822 w 13970239"/>
              <a:gd name="csY11" fmla="*/ 0 h 4420733"/>
              <a:gd name="csX12" fmla="*/ 7823334 w 13970239"/>
              <a:gd name="csY12" fmla="*/ 0 h 4420733"/>
              <a:gd name="csX13" fmla="*/ 8661548 w 13970239"/>
              <a:gd name="csY13" fmla="*/ 0 h 4420733"/>
              <a:gd name="csX14" fmla="*/ 9360060 w 13970239"/>
              <a:gd name="csY14" fmla="*/ 0 h 4420733"/>
              <a:gd name="csX15" fmla="*/ 9779167 w 13970239"/>
              <a:gd name="csY15" fmla="*/ 0 h 4420733"/>
              <a:gd name="csX16" fmla="*/ 10198274 w 13970239"/>
              <a:gd name="csY16" fmla="*/ 0 h 4420733"/>
              <a:gd name="csX17" fmla="*/ 11176191 w 13970239"/>
              <a:gd name="csY17" fmla="*/ 0 h 4420733"/>
              <a:gd name="csX18" fmla="*/ 11455596 w 13970239"/>
              <a:gd name="csY18" fmla="*/ 0 h 4420733"/>
              <a:gd name="csX19" fmla="*/ 11735001 w 13970239"/>
              <a:gd name="csY19" fmla="*/ 0 h 4420733"/>
              <a:gd name="csX20" fmla="*/ 12154108 w 13970239"/>
              <a:gd name="csY20" fmla="*/ 0 h 4420733"/>
              <a:gd name="csX21" fmla="*/ 12992322 w 13970239"/>
              <a:gd name="csY21" fmla="*/ 0 h 4420733"/>
              <a:gd name="csX22" fmla="*/ 13970239 w 13970239"/>
              <a:gd name="csY22" fmla="*/ 0 h 4420733"/>
              <a:gd name="csX23" fmla="*/ 13970239 w 13970239"/>
              <a:gd name="csY23" fmla="*/ 719948 h 4420733"/>
              <a:gd name="csX24" fmla="*/ 13970239 w 13970239"/>
              <a:gd name="csY24" fmla="*/ 1307274 h 4420733"/>
              <a:gd name="csX25" fmla="*/ 13970239 w 13970239"/>
              <a:gd name="csY25" fmla="*/ 1938807 h 4420733"/>
              <a:gd name="csX26" fmla="*/ 13970239 w 13970239"/>
              <a:gd name="csY26" fmla="*/ 2437718 h 4420733"/>
              <a:gd name="csX27" fmla="*/ 13970239 w 13970239"/>
              <a:gd name="csY27" fmla="*/ 3113459 h 4420733"/>
              <a:gd name="csX28" fmla="*/ 13970239 w 13970239"/>
              <a:gd name="csY28" fmla="*/ 3700785 h 4420733"/>
              <a:gd name="csX29" fmla="*/ 13970239 w 13970239"/>
              <a:gd name="csY29" fmla="*/ 4420733 h 4420733"/>
              <a:gd name="csX30" fmla="*/ 13271727 w 13970239"/>
              <a:gd name="csY30" fmla="*/ 4420733 h 4420733"/>
              <a:gd name="csX31" fmla="*/ 12992322 w 13970239"/>
              <a:gd name="csY31" fmla="*/ 4420733 h 4420733"/>
              <a:gd name="csX32" fmla="*/ 12712917 w 13970239"/>
              <a:gd name="csY32" fmla="*/ 4420733 h 4420733"/>
              <a:gd name="csX33" fmla="*/ 12154108 w 13970239"/>
              <a:gd name="csY33" fmla="*/ 4420733 h 4420733"/>
              <a:gd name="csX34" fmla="*/ 11315894 w 13970239"/>
              <a:gd name="csY34" fmla="*/ 4420733 h 4420733"/>
              <a:gd name="csX35" fmla="*/ 10337977 w 13970239"/>
              <a:gd name="csY35" fmla="*/ 4420733 h 4420733"/>
              <a:gd name="csX36" fmla="*/ 10058572 w 13970239"/>
              <a:gd name="csY36" fmla="*/ 4420733 h 4420733"/>
              <a:gd name="csX37" fmla="*/ 9220358 w 13970239"/>
              <a:gd name="csY37" fmla="*/ 4420733 h 4420733"/>
              <a:gd name="csX38" fmla="*/ 8382143 w 13970239"/>
              <a:gd name="csY38" fmla="*/ 4420733 h 4420733"/>
              <a:gd name="csX39" fmla="*/ 7683631 w 13970239"/>
              <a:gd name="csY39" fmla="*/ 4420733 h 4420733"/>
              <a:gd name="csX40" fmla="*/ 7124822 w 13970239"/>
              <a:gd name="csY40" fmla="*/ 4420733 h 4420733"/>
              <a:gd name="csX41" fmla="*/ 6705715 w 13970239"/>
              <a:gd name="csY41" fmla="*/ 4420733 h 4420733"/>
              <a:gd name="csX42" fmla="*/ 6146905 w 13970239"/>
              <a:gd name="csY42" fmla="*/ 4420733 h 4420733"/>
              <a:gd name="csX43" fmla="*/ 5588096 w 13970239"/>
              <a:gd name="csY43" fmla="*/ 4420733 h 4420733"/>
              <a:gd name="csX44" fmla="*/ 4889584 w 13970239"/>
              <a:gd name="csY44" fmla="*/ 4420733 h 4420733"/>
              <a:gd name="csX45" fmla="*/ 4610179 w 13970239"/>
              <a:gd name="csY45" fmla="*/ 4420733 h 4420733"/>
              <a:gd name="csX46" fmla="*/ 4191072 w 13970239"/>
              <a:gd name="csY46" fmla="*/ 4420733 h 4420733"/>
              <a:gd name="csX47" fmla="*/ 3771965 w 13970239"/>
              <a:gd name="csY47" fmla="*/ 4420733 h 4420733"/>
              <a:gd name="csX48" fmla="*/ 3213155 w 13970239"/>
              <a:gd name="csY48" fmla="*/ 4420733 h 4420733"/>
              <a:gd name="csX49" fmla="*/ 2933750 w 13970239"/>
              <a:gd name="csY49" fmla="*/ 4420733 h 4420733"/>
              <a:gd name="csX50" fmla="*/ 2095536 w 13970239"/>
              <a:gd name="csY50" fmla="*/ 4420733 h 4420733"/>
              <a:gd name="csX51" fmla="*/ 1397024 w 13970239"/>
              <a:gd name="csY51" fmla="*/ 4420733 h 4420733"/>
              <a:gd name="csX52" fmla="*/ 977917 w 13970239"/>
              <a:gd name="csY52" fmla="*/ 4420733 h 4420733"/>
              <a:gd name="csX53" fmla="*/ 0 w 13970239"/>
              <a:gd name="csY53" fmla="*/ 4420733 h 4420733"/>
              <a:gd name="csX54" fmla="*/ 0 w 13970239"/>
              <a:gd name="csY54" fmla="*/ 3833407 h 4420733"/>
              <a:gd name="csX55" fmla="*/ 0 w 13970239"/>
              <a:gd name="csY55" fmla="*/ 3246081 h 4420733"/>
              <a:gd name="csX56" fmla="*/ 0 w 13970239"/>
              <a:gd name="csY56" fmla="*/ 2658755 h 4420733"/>
              <a:gd name="csX57" fmla="*/ 0 w 13970239"/>
              <a:gd name="csY57" fmla="*/ 2071429 h 4420733"/>
              <a:gd name="csX58" fmla="*/ 0 w 13970239"/>
              <a:gd name="csY58" fmla="*/ 1395689 h 4420733"/>
              <a:gd name="csX59" fmla="*/ 0 w 13970239"/>
              <a:gd name="csY59" fmla="*/ 808363 h 4420733"/>
              <a:gd name="csX60" fmla="*/ 0 w 13970239"/>
              <a:gd name="csY60" fmla="*/ 0 h 44207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3970239" h="4420733" fill="none" extrusionOk="0">
                <a:moveTo>
                  <a:pt x="0" y="0"/>
                </a:moveTo>
                <a:cubicBezTo>
                  <a:pt x="291688" y="-38164"/>
                  <a:pt x="650169" y="-30225"/>
                  <a:pt x="977917" y="0"/>
                </a:cubicBezTo>
                <a:cubicBezTo>
                  <a:pt x="1305665" y="30225"/>
                  <a:pt x="1424940" y="31974"/>
                  <a:pt x="1816131" y="0"/>
                </a:cubicBezTo>
                <a:cubicBezTo>
                  <a:pt x="2207322" y="-31974"/>
                  <a:pt x="2166197" y="15320"/>
                  <a:pt x="2374941" y="0"/>
                </a:cubicBezTo>
                <a:cubicBezTo>
                  <a:pt x="2583685" y="-15320"/>
                  <a:pt x="2881299" y="-8926"/>
                  <a:pt x="3073453" y="0"/>
                </a:cubicBezTo>
                <a:cubicBezTo>
                  <a:pt x="3265607" y="8926"/>
                  <a:pt x="3287162" y="-5856"/>
                  <a:pt x="3352857" y="0"/>
                </a:cubicBezTo>
                <a:cubicBezTo>
                  <a:pt x="3418552" y="5856"/>
                  <a:pt x="3622380" y="-6738"/>
                  <a:pt x="3771965" y="0"/>
                </a:cubicBezTo>
                <a:cubicBezTo>
                  <a:pt x="3921550" y="6738"/>
                  <a:pt x="4091152" y="-14802"/>
                  <a:pt x="4191072" y="0"/>
                </a:cubicBezTo>
                <a:cubicBezTo>
                  <a:pt x="4290992" y="14802"/>
                  <a:pt x="4689326" y="37689"/>
                  <a:pt x="5168988" y="0"/>
                </a:cubicBezTo>
                <a:cubicBezTo>
                  <a:pt x="5648650" y="-37689"/>
                  <a:pt x="5716786" y="-39902"/>
                  <a:pt x="6146905" y="0"/>
                </a:cubicBezTo>
                <a:cubicBezTo>
                  <a:pt x="6577024" y="39902"/>
                  <a:pt x="6448449" y="-20374"/>
                  <a:pt x="6705715" y="0"/>
                </a:cubicBezTo>
                <a:cubicBezTo>
                  <a:pt x="6962981" y="20374"/>
                  <a:pt x="6925719" y="8320"/>
                  <a:pt x="7124822" y="0"/>
                </a:cubicBezTo>
                <a:cubicBezTo>
                  <a:pt x="7323925" y="-8320"/>
                  <a:pt x="7544569" y="28732"/>
                  <a:pt x="7823334" y="0"/>
                </a:cubicBezTo>
                <a:cubicBezTo>
                  <a:pt x="8102099" y="-28732"/>
                  <a:pt x="8357562" y="-22386"/>
                  <a:pt x="8661548" y="0"/>
                </a:cubicBezTo>
                <a:cubicBezTo>
                  <a:pt x="8965534" y="22386"/>
                  <a:pt x="9187632" y="4603"/>
                  <a:pt x="9360060" y="0"/>
                </a:cubicBezTo>
                <a:cubicBezTo>
                  <a:pt x="9532488" y="-4603"/>
                  <a:pt x="9663289" y="-7841"/>
                  <a:pt x="9779167" y="0"/>
                </a:cubicBezTo>
                <a:cubicBezTo>
                  <a:pt x="9895045" y="7841"/>
                  <a:pt x="10028319" y="8026"/>
                  <a:pt x="10198274" y="0"/>
                </a:cubicBezTo>
                <a:cubicBezTo>
                  <a:pt x="10368229" y="-8026"/>
                  <a:pt x="10876452" y="-20113"/>
                  <a:pt x="11176191" y="0"/>
                </a:cubicBezTo>
                <a:cubicBezTo>
                  <a:pt x="11475930" y="20113"/>
                  <a:pt x="11322476" y="-6538"/>
                  <a:pt x="11455596" y="0"/>
                </a:cubicBezTo>
                <a:cubicBezTo>
                  <a:pt x="11588716" y="6538"/>
                  <a:pt x="11598269" y="3416"/>
                  <a:pt x="11735001" y="0"/>
                </a:cubicBezTo>
                <a:cubicBezTo>
                  <a:pt x="11871734" y="-3416"/>
                  <a:pt x="12014089" y="8420"/>
                  <a:pt x="12154108" y="0"/>
                </a:cubicBezTo>
                <a:cubicBezTo>
                  <a:pt x="12294127" y="-8420"/>
                  <a:pt x="12638120" y="6398"/>
                  <a:pt x="12992322" y="0"/>
                </a:cubicBezTo>
                <a:cubicBezTo>
                  <a:pt x="13346524" y="-6398"/>
                  <a:pt x="13635081" y="-2948"/>
                  <a:pt x="13970239" y="0"/>
                </a:cubicBezTo>
                <a:cubicBezTo>
                  <a:pt x="13948042" y="206004"/>
                  <a:pt x="13953302" y="445379"/>
                  <a:pt x="13970239" y="719948"/>
                </a:cubicBezTo>
                <a:cubicBezTo>
                  <a:pt x="13987176" y="994517"/>
                  <a:pt x="13980658" y="1030895"/>
                  <a:pt x="13970239" y="1307274"/>
                </a:cubicBezTo>
                <a:cubicBezTo>
                  <a:pt x="13959820" y="1583653"/>
                  <a:pt x="13975208" y="1660224"/>
                  <a:pt x="13970239" y="1938807"/>
                </a:cubicBezTo>
                <a:cubicBezTo>
                  <a:pt x="13965270" y="2217390"/>
                  <a:pt x="13965947" y="2264162"/>
                  <a:pt x="13970239" y="2437718"/>
                </a:cubicBezTo>
                <a:cubicBezTo>
                  <a:pt x="13974531" y="2611274"/>
                  <a:pt x="13938905" y="2976390"/>
                  <a:pt x="13970239" y="3113459"/>
                </a:cubicBezTo>
                <a:cubicBezTo>
                  <a:pt x="14001573" y="3250528"/>
                  <a:pt x="13952762" y="3502740"/>
                  <a:pt x="13970239" y="3700785"/>
                </a:cubicBezTo>
                <a:cubicBezTo>
                  <a:pt x="13987716" y="3898830"/>
                  <a:pt x="13993615" y="4100738"/>
                  <a:pt x="13970239" y="4420733"/>
                </a:cubicBezTo>
                <a:cubicBezTo>
                  <a:pt x="13810182" y="4436447"/>
                  <a:pt x="13494380" y="4455316"/>
                  <a:pt x="13271727" y="4420733"/>
                </a:cubicBezTo>
                <a:cubicBezTo>
                  <a:pt x="13049074" y="4386150"/>
                  <a:pt x="13062143" y="4417663"/>
                  <a:pt x="12992322" y="4420733"/>
                </a:cubicBezTo>
                <a:cubicBezTo>
                  <a:pt x="12922501" y="4423803"/>
                  <a:pt x="12831838" y="4410338"/>
                  <a:pt x="12712917" y="4420733"/>
                </a:cubicBezTo>
                <a:cubicBezTo>
                  <a:pt x="12593997" y="4431128"/>
                  <a:pt x="12360374" y="4421591"/>
                  <a:pt x="12154108" y="4420733"/>
                </a:cubicBezTo>
                <a:cubicBezTo>
                  <a:pt x="11947842" y="4419875"/>
                  <a:pt x="11618496" y="4452238"/>
                  <a:pt x="11315894" y="4420733"/>
                </a:cubicBezTo>
                <a:cubicBezTo>
                  <a:pt x="11013292" y="4389228"/>
                  <a:pt x="10583055" y="4398249"/>
                  <a:pt x="10337977" y="4420733"/>
                </a:cubicBezTo>
                <a:cubicBezTo>
                  <a:pt x="10092899" y="4443217"/>
                  <a:pt x="10191475" y="4427156"/>
                  <a:pt x="10058572" y="4420733"/>
                </a:cubicBezTo>
                <a:cubicBezTo>
                  <a:pt x="9925670" y="4414310"/>
                  <a:pt x="9551660" y="4415286"/>
                  <a:pt x="9220358" y="4420733"/>
                </a:cubicBezTo>
                <a:cubicBezTo>
                  <a:pt x="8889056" y="4426180"/>
                  <a:pt x="8614199" y="4439629"/>
                  <a:pt x="8382143" y="4420733"/>
                </a:cubicBezTo>
                <a:cubicBezTo>
                  <a:pt x="8150088" y="4401837"/>
                  <a:pt x="7953173" y="4450597"/>
                  <a:pt x="7683631" y="4420733"/>
                </a:cubicBezTo>
                <a:cubicBezTo>
                  <a:pt x="7414089" y="4390869"/>
                  <a:pt x="7315659" y="4426646"/>
                  <a:pt x="7124822" y="4420733"/>
                </a:cubicBezTo>
                <a:cubicBezTo>
                  <a:pt x="6933985" y="4414820"/>
                  <a:pt x="6850042" y="4436968"/>
                  <a:pt x="6705715" y="4420733"/>
                </a:cubicBezTo>
                <a:cubicBezTo>
                  <a:pt x="6561388" y="4404498"/>
                  <a:pt x="6336394" y="4415098"/>
                  <a:pt x="6146905" y="4420733"/>
                </a:cubicBezTo>
                <a:cubicBezTo>
                  <a:pt x="5957416" y="4426369"/>
                  <a:pt x="5822201" y="4397280"/>
                  <a:pt x="5588096" y="4420733"/>
                </a:cubicBezTo>
                <a:cubicBezTo>
                  <a:pt x="5353991" y="4444186"/>
                  <a:pt x="5100604" y="4405441"/>
                  <a:pt x="4889584" y="4420733"/>
                </a:cubicBezTo>
                <a:cubicBezTo>
                  <a:pt x="4678564" y="4436025"/>
                  <a:pt x="4744996" y="4432475"/>
                  <a:pt x="4610179" y="4420733"/>
                </a:cubicBezTo>
                <a:cubicBezTo>
                  <a:pt x="4475362" y="4408991"/>
                  <a:pt x="4370218" y="4440543"/>
                  <a:pt x="4191072" y="4420733"/>
                </a:cubicBezTo>
                <a:cubicBezTo>
                  <a:pt x="4011926" y="4400923"/>
                  <a:pt x="3927382" y="4405030"/>
                  <a:pt x="3771965" y="4420733"/>
                </a:cubicBezTo>
                <a:cubicBezTo>
                  <a:pt x="3616548" y="4436436"/>
                  <a:pt x="3430207" y="4442445"/>
                  <a:pt x="3213155" y="4420733"/>
                </a:cubicBezTo>
                <a:cubicBezTo>
                  <a:pt x="2996103" y="4399022"/>
                  <a:pt x="2992628" y="4429509"/>
                  <a:pt x="2933750" y="4420733"/>
                </a:cubicBezTo>
                <a:cubicBezTo>
                  <a:pt x="2874872" y="4411957"/>
                  <a:pt x="2426811" y="4379097"/>
                  <a:pt x="2095536" y="4420733"/>
                </a:cubicBezTo>
                <a:cubicBezTo>
                  <a:pt x="1764261" y="4462369"/>
                  <a:pt x="1744537" y="4414512"/>
                  <a:pt x="1397024" y="4420733"/>
                </a:cubicBezTo>
                <a:cubicBezTo>
                  <a:pt x="1049511" y="4426954"/>
                  <a:pt x="1181509" y="4439037"/>
                  <a:pt x="977917" y="4420733"/>
                </a:cubicBezTo>
                <a:cubicBezTo>
                  <a:pt x="774325" y="4402429"/>
                  <a:pt x="275974" y="4371931"/>
                  <a:pt x="0" y="4420733"/>
                </a:cubicBezTo>
                <a:cubicBezTo>
                  <a:pt x="14141" y="4188323"/>
                  <a:pt x="3047" y="3958019"/>
                  <a:pt x="0" y="3833407"/>
                </a:cubicBezTo>
                <a:cubicBezTo>
                  <a:pt x="-3047" y="3708795"/>
                  <a:pt x="-19185" y="3431838"/>
                  <a:pt x="0" y="3246081"/>
                </a:cubicBezTo>
                <a:cubicBezTo>
                  <a:pt x="19185" y="3060324"/>
                  <a:pt x="-24006" y="2861394"/>
                  <a:pt x="0" y="2658755"/>
                </a:cubicBezTo>
                <a:cubicBezTo>
                  <a:pt x="24006" y="2456116"/>
                  <a:pt x="17043" y="2236674"/>
                  <a:pt x="0" y="2071429"/>
                </a:cubicBezTo>
                <a:cubicBezTo>
                  <a:pt x="-17043" y="1906184"/>
                  <a:pt x="18883" y="1639451"/>
                  <a:pt x="0" y="1395689"/>
                </a:cubicBezTo>
                <a:cubicBezTo>
                  <a:pt x="-18883" y="1151927"/>
                  <a:pt x="1989" y="1089694"/>
                  <a:pt x="0" y="808363"/>
                </a:cubicBezTo>
                <a:cubicBezTo>
                  <a:pt x="-1989" y="527032"/>
                  <a:pt x="34474" y="180601"/>
                  <a:pt x="0" y="0"/>
                </a:cubicBezTo>
                <a:close/>
              </a:path>
              <a:path w="13970239" h="4420733" stroke="0" extrusionOk="0">
                <a:moveTo>
                  <a:pt x="0" y="0"/>
                </a:moveTo>
                <a:cubicBezTo>
                  <a:pt x="390341" y="39913"/>
                  <a:pt x="442968" y="-34623"/>
                  <a:pt x="838214" y="0"/>
                </a:cubicBezTo>
                <a:cubicBezTo>
                  <a:pt x="1233460" y="34623"/>
                  <a:pt x="1364588" y="-21186"/>
                  <a:pt x="1816131" y="0"/>
                </a:cubicBezTo>
                <a:cubicBezTo>
                  <a:pt x="2267674" y="21186"/>
                  <a:pt x="2255129" y="458"/>
                  <a:pt x="2654345" y="0"/>
                </a:cubicBezTo>
                <a:cubicBezTo>
                  <a:pt x="3053561" y="-458"/>
                  <a:pt x="2989268" y="-4686"/>
                  <a:pt x="3073453" y="0"/>
                </a:cubicBezTo>
                <a:cubicBezTo>
                  <a:pt x="3157638" y="4686"/>
                  <a:pt x="3516831" y="162"/>
                  <a:pt x="3632262" y="0"/>
                </a:cubicBezTo>
                <a:cubicBezTo>
                  <a:pt x="3747693" y="-162"/>
                  <a:pt x="4236001" y="-48074"/>
                  <a:pt x="4610179" y="0"/>
                </a:cubicBezTo>
                <a:cubicBezTo>
                  <a:pt x="4984357" y="48074"/>
                  <a:pt x="4941783" y="-25453"/>
                  <a:pt x="5168988" y="0"/>
                </a:cubicBezTo>
                <a:cubicBezTo>
                  <a:pt x="5396193" y="25453"/>
                  <a:pt x="5785266" y="29145"/>
                  <a:pt x="6007203" y="0"/>
                </a:cubicBezTo>
                <a:cubicBezTo>
                  <a:pt x="6229141" y="-29145"/>
                  <a:pt x="6267733" y="-2980"/>
                  <a:pt x="6426310" y="0"/>
                </a:cubicBezTo>
                <a:cubicBezTo>
                  <a:pt x="6584887" y="2980"/>
                  <a:pt x="6799258" y="17788"/>
                  <a:pt x="7124822" y="0"/>
                </a:cubicBezTo>
                <a:cubicBezTo>
                  <a:pt x="7450386" y="-17788"/>
                  <a:pt x="7413064" y="8507"/>
                  <a:pt x="7683631" y="0"/>
                </a:cubicBezTo>
                <a:cubicBezTo>
                  <a:pt x="7954198" y="-8507"/>
                  <a:pt x="8165799" y="-33540"/>
                  <a:pt x="8521846" y="0"/>
                </a:cubicBezTo>
                <a:cubicBezTo>
                  <a:pt x="8877893" y="33540"/>
                  <a:pt x="8817748" y="-23663"/>
                  <a:pt x="9080655" y="0"/>
                </a:cubicBezTo>
                <a:cubicBezTo>
                  <a:pt x="9343562" y="23663"/>
                  <a:pt x="9684704" y="-20162"/>
                  <a:pt x="9918870" y="0"/>
                </a:cubicBezTo>
                <a:cubicBezTo>
                  <a:pt x="10153036" y="20162"/>
                  <a:pt x="10145168" y="14589"/>
                  <a:pt x="10337977" y="0"/>
                </a:cubicBezTo>
                <a:cubicBezTo>
                  <a:pt x="10530786" y="-14589"/>
                  <a:pt x="10804114" y="-33855"/>
                  <a:pt x="11176191" y="0"/>
                </a:cubicBezTo>
                <a:cubicBezTo>
                  <a:pt x="11548268" y="33855"/>
                  <a:pt x="11333963" y="-9379"/>
                  <a:pt x="11455596" y="0"/>
                </a:cubicBezTo>
                <a:cubicBezTo>
                  <a:pt x="11577230" y="9379"/>
                  <a:pt x="11641907" y="1338"/>
                  <a:pt x="11735001" y="0"/>
                </a:cubicBezTo>
                <a:cubicBezTo>
                  <a:pt x="11828096" y="-1338"/>
                  <a:pt x="12158451" y="-1019"/>
                  <a:pt x="12573215" y="0"/>
                </a:cubicBezTo>
                <a:cubicBezTo>
                  <a:pt x="12987979" y="1019"/>
                  <a:pt x="13051944" y="-28126"/>
                  <a:pt x="13271727" y="0"/>
                </a:cubicBezTo>
                <a:cubicBezTo>
                  <a:pt x="13491510" y="28126"/>
                  <a:pt x="13697504" y="29393"/>
                  <a:pt x="13970239" y="0"/>
                </a:cubicBezTo>
                <a:cubicBezTo>
                  <a:pt x="14001634" y="164266"/>
                  <a:pt x="13990014" y="489906"/>
                  <a:pt x="13970239" y="631533"/>
                </a:cubicBezTo>
                <a:cubicBezTo>
                  <a:pt x="13950464" y="773160"/>
                  <a:pt x="13969204" y="1048100"/>
                  <a:pt x="13970239" y="1174652"/>
                </a:cubicBezTo>
                <a:cubicBezTo>
                  <a:pt x="13971274" y="1301204"/>
                  <a:pt x="13968828" y="1565479"/>
                  <a:pt x="13970239" y="1717771"/>
                </a:cubicBezTo>
                <a:cubicBezTo>
                  <a:pt x="13971650" y="1870063"/>
                  <a:pt x="13943537" y="2173907"/>
                  <a:pt x="13970239" y="2305096"/>
                </a:cubicBezTo>
                <a:cubicBezTo>
                  <a:pt x="13996941" y="2436286"/>
                  <a:pt x="13993187" y="2653636"/>
                  <a:pt x="13970239" y="2936630"/>
                </a:cubicBezTo>
                <a:cubicBezTo>
                  <a:pt x="13947291" y="3219624"/>
                  <a:pt x="13990087" y="3430629"/>
                  <a:pt x="13970239" y="3612370"/>
                </a:cubicBezTo>
                <a:cubicBezTo>
                  <a:pt x="13950391" y="3794111"/>
                  <a:pt x="13950074" y="4131615"/>
                  <a:pt x="13970239" y="4420733"/>
                </a:cubicBezTo>
                <a:cubicBezTo>
                  <a:pt x="13803113" y="4399668"/>
                  <a:pt x="13596601" y="4393959"/>
                  <a:pt x="13271727" y="4420733"/>
                </a:cubicBezTo>
                <a:cubicBezTo>
                  <a:pt x="12946853" y="4447507"/>
                  <a:pt x="12751432" y="4372996"/>
                  <a:pt x="12293810" y="4420733"/>
                </a:cubicBezTo>
                <a:cubicBezTo>
                  <a:pt x="11836188" y="4468470"/>
                  <a:pt x="11687876" y="4423457"/>
                  <a:pt x="11455596" y="4420733"/>
                </a:cubicBezTo>
                <a:cubicBezTo>
                  <a:pt x="11223316" y="4418009"/>
                  <a:pt x="11232015" y="4427267"/>
                  <a:pt x="11036489" y="4420733"/>
                </a:cubicBezTo>
                <a:cubicBezTo>
                  <a:pt x="10840963" y="4414199"/>
                  <a:pt x="10553506" y="4423717"/>
                  <a:pt x="10198274" y="4420733"/>
                </a:cubicBezTo>
                <a:cubicBezTo>
                  <a:pt x="9843042" y="4417749"/>
                  <a:pt x="9826619" y="4446997"/>
                  <a:pt x="9639465" y="4420733"/>
                </a:cubicBezTo>
                <a:cubicBezTo>
                  <a:pt x="9452311" y="4394469"/>
                  <a:pt x="9421946" y="4429120"/>
                  <a:pt x="9360060" y="4420733"/>
                </a:cubicBezTo>
                <a:cubicBezTo>
                  <a:pt x="9298175" y="4412346"/>
                  <a:pt x="9022358" y="4421333"/>
                  <a:pt x="8801251" y="4420733"/>
                </a:cubicBezTo>
                <a:cubicBezTo>
                  <a:pt x="8580144" y="4420133"/>
                  <a:pt x="8511304" y="4401944"/>
                  <a:pt x="8382143" y="4420733"/>
                </a:cubicBezTo>
                <a:cubicBezTo>
                  <a:pt x="8252982" y="4439522"/>
                  <a:pt x="8024876" y="4397129"/>
                  <a:pt x="7823334" y="4420733"/>
                </a:cubicBezTo>
                <a:cubicBezTo>
                  <a:pt x="7621792" y="4444337"/>
                  <a:pt x="7285176" y="4402354"/>
                  <a:pt x="7124822" y="4420733"/>
                </a:cubicBezTo>
                <a:cubicBezTo>
                  <a:pt x="6964468" y="4439112"/>
                  <a:pt x="6930018" y="4407536"/>
                  <a:pt x="6845417" y="4420733"/>
                </a:cubicBezTo>
                <a:cubicBezTo>
                  <a:pt x="6760817" y="4433930"/>
                  <a:pt x="6299817" y="4443314"/>
                  <a:pt x="6146905" y="4420733"/>
                </a:cubicBezTo>
                <a:cubicBezTo>
                  <a:pt x="5993993" y="4398152"/>
                  <a:pt x="5870108" y="4436242"/>
                  <a:pt x="5727798" y="4420733"/>
                </a:cubicBezTo>
                <a:cubicBezTo>
                  <a:pt x="5585488" y="4405224"/>
                  <a:pt x="5504471" y="4426116"/>
                  <a:pt x="5308691" y="4420733"/>
                </a:cubicBezTo>
                <a:cubicBezTo>
                  <a:pt x="5112911" y="4415350"/>
                  <a:pt x="4563419" y="4432303"/>
                  <a:pt x="4330774" y="4420733"/>
                </a:cubicBezTo>
                <a:cubicBezTo>
                  <a:pt x="4098129" y="4409163"/>
                  <a:pt x="4143090" y="4428018"/>
                  <a:pt x="4051369" y="4420733"/>
                </a:cubicBezTo>
                <a:cubicBezTo>
                  <a:pt x="3959649" y="4413448"/>
                  <a:pt x="3566104" y="4424199"/>
                  <a:pt x="3352857" y="4420733"/>
                </a:cubicBezTo>
                <a:cubicBezTo>
                  <a:pt x="3139610" y="4417267"/>
                  <a:pt x="3148113" y="4433042"/>
                  <a:pt x="3073453" y="4420733"/>
                </a:cubicBezTo>
                <a:cubicBezTo>
                  <a:pt x="2998793" y="4408424"/>
                  <a:pt x="2629554" y="4435033"/>
                  <a:pt x="2235238" y="4420733"/>
                </a:cubicBezTo>
                <a:cubicBezTo>
                  <a:pt x="1840922" y="4406433"/>
                  <a:pt x="1720500" y="4409529"/>
                  <a:pt x="1397024" y="4420733"/>
                </a:cubicBezTo>
                <a:cubicBezTo>
                  <a:pt x="1073548" y="4431937"/>
                  <a:pt x="1167357" y="4440192"/>
                  <a:pt x="977917" y="4420733"/>
                </a:cubicBezTo>
                <a:cubicBezTo>
                  <a:pt x="788477" y="4401274"/>
                  <a:pt x="458245" y="4405532"/>
                  <a:pt x="0" y="4420733"/>
                </a:cubicBezTo>
                <a:cubicBezTo>
                  <a:pt x="-1448" y="4118067"/>
                  <a:pt x="17090" y="3904214"/>
                  <a:pt x="0" y="3700785"/>
                </a:cubicBezTo>
                <a:cubicBezTo>
                  <a:pt x="-17090" y="3497356"/>
                  <a:pt x="-13265" y="3374767"/>
                  <a:pt x="0" y="3069252"/>
                </a:cubicBezTo>
                <a:cubicBezTo>
                  <a:pt x="13265" y="2763737"/>
                  <a:pt x="1975" y="2684819"/>
                  <a:pt x="0" y="2570340"/>
                </a:cubicBezTo>
                <a:cubicBezTo>
                  <a:pt x="-1975" y="2455861"/>
                  <a:pt x="28330" y="2185963"/>
                  <a:pt x="0" y="1983015"/>
                </a:cubicBezTo>
                <a:cubicBezTo>
                  <a:pt x="-28330" y="1780068"/>
                  <a:pt x="15871" y="1574884"/>
                  <a:pt x="0" y="1395689"/>
                </a:cubicBezTo>
                <a:cubicBezTo>
                  <a:pt x="-15871" y="1216494"/>
                  <a:pt x="23251" y="1000089"/>
                  <a:pt x="0" y="808363"/>
                </a:cubicBezTo>
                <a:cubicBezTo>
                  <a:pt x="-23251" y="616637"/>
                  <a:pt x="24037" y="341320"/>
                  <a:pt x="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816633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80524F-A22E-32A9-4C0B-4F2B99DE14AC}"/>
              </a:ext>
            </a:extLst>
          </p:cNvPr>
          <p:cNvSpPr/>
          <p:nvPr/>
        </p:nvSpPr>
        <p:spPr>
          <a:xfrm>
            <a:off x="5167192" y="2709986"/>
            <a:ext cx="4572000" cy="4376806"/>
          </a:xfrm>
          <a:custGeom>
            <a:avLst/>
            <a:gdLst>
              <a:gd name="csX0" fmla="*/ 0 w 4572000"/>
              <a:gd name="csY0" fmla="*/ 0 h 4376806"/>
              <a:gd name="csX1" fmla="*/ 662940 w 4572000"/>
              <a:gd name="csY1" fmla="*/ 0 h 4376806"/>
              <a:gd name="csX2" fmla="*/ 1280160 w 4572000"/>
              <a:gd name="csY2" fmla="*/ 0 h 4376806"/>
              <a:gd name="csX3" fmla="*/ 1943100 w 4572000"/>
              <a:gd name="csY3" fmla="*/ 0 h 4376806"/>
              <a:gd name="csX4" fmla="*/ 2468880 w 4572000"/>
              <a:gd name="csY4" fmla="*/ 0 h 4376806"/>
              <a:gd name="csX5" fmla="*/ 3040380 w 4572000"/>
              <a:gd name="csY5" fmla="*/ 0 h 4376806"/>
              <a:gd name="csX6" fmla="*/ 3520440 w 4572000"/>
              <a:gd name="csY6" fmla="*/ 0 h 4376806"/>
              <a:gd name="csX7" fmla="*/ 4572000 w 4572000"/>
              <a:gd name="csY7" fmla="*/ 0 h 4376806"/>
              <a:gd name="csX8" fmla="*/ 4572000 w 4572000"/>
              <a:gd name="csY8" fmla="*/ 547101 h 4376806"/>
              <a:gd name="csX9" fmla="*/ 4572000 w 4572000"/>
              <a:gd name="csY9" fmla="*/ 962897 h 4376806"/>
              <a:gd name="csX10" fmla="*/ 4572000 w 4572000"/>
              <a:gd name="csY10" fmla="*/ 1466230 h 4376806"/>
              <a:gd name="csX11" fmla="*/ 4572000 w 4572000"/>
              <a:gd name="csY11" fmla="*/ 2013331 h 4376806"/>
              <a:gd name="csX12" fmla="*/ 4572000 w 4572000"/>
              <a:gd name="csY12" fmla="*/ 2472895 h 4376806"/>
              <a:gd name="csX13" fmla="*/ 4572000 w 4572000"/>
              <a:gd name="csY13" fmla="*/ 2976228 h 4376806"/>
              <a:gd name="csX14" fmla="*/ 4572000 w 4572000"/>
              <a:gd name="csY14" fmla="*/ 3392025 h 4376806"/>
              <a:gd name="csX15" fmla="*/ 4572000 w 4572000"/>
              <a:gd name="csY15" fmla="*/ 4376806 h 4376806"/>
              <a:gd name="csX16" fmla="*/ 3909060 w 4572000"/>
              <a:gd name="csY16" fmla="*/ 4376806 h 4376806"/>
              <a:gd name="csX17" fmla="*/ 3429000 w 4572000"/>
              <a:gd name="csY17" fmla="*/ 4376806 h 4376806"/>
              <a:gd name="csX18" fmla="*/ 2903220 w 4572000"/>
              <a:gd name="csY18" fmla="*/ 4376806 h 4376806"/>
              <a:gd name="csX19" fmla="*/ 2423160 w 4572000"/>
              <a:gd name="csY19" fmla="*/ 4376806 h 4376806"/>
              <a:gd name="csX20" fmla="*/ 1851660 w 4572000"/>
              <a:gd name="csY20" fmla="*/ 4376806 h 4376806"/>
              <a:gd name="csX21" fmla="*/ 1234440 w 4572000"/>
              <a:gd name="csY21" fmla="*/ 4376806 h 4376806"/>
              <a:gd name="csX22" fmla="*/ 800100 w 4572000"/>
              <a:gd name="csY22" fmla="*/ 4376806 h 4376806"/>
              <a:gd name="csX23" fmla="*/ 0 w 4572000"/>
              <a:gd name="csY23" fmla="*/ 4376806 h 4376806"/>
              <a:gd name="csX24" fmla="*/ 0 w 4572000"/>
              <a:gd name="csY24" fmla="*/ 3961009 h 4376806"/>
              <a:gd name="csX25" fmla="*/ 0 w 4572000"/>
              <a:gd name="csY25" fmla="*/ 3326373 h 4376806"/>
              <a:gd name="csX26" fmla="*/ 0 w 4572000"/>
              <a:gd name="csY26" fmla="*/ 2866808 h 4376806"/>
              <a:gd name="csX27" fmla="*/ 0 w 4572000"/>
              <a:gd name="csY27" fmla="*/ 2451011 h 4376806"/>
              <a:gd name="csX28" fmla="*/ 0 w 4572000"/>
              <a:gd name="csY28" fmla="*/ 1903911 h 4376806"/>
              <a:gd name="csX29" fmla="*/ 0 w 4572000"/>
              <a:gd name="csY29" fmla="*/ 1313042 h 4376806"/>
              <a:gd name="csX30" fmla="*/ 0 w 4572000"/>
              <a:gd name="csY30" fmla="*/ 809709 h 4376806"/>
              <a:gd name="csX31" fmla="*/ 0 w 4572000"/>
              <a:gd name="csY31" fmla="*/ 0 h 4376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572000" h="4376806" extrusionOk="0">
                <a:moveTo>
                  <a:pt x="0" y="0"/>
                </a:moveTo>
                <a:cubicBezTo>
                  <a:pt x="298239" y="-50588"/>
                  <a:pt x="514451" y="77991"/>
                  <a:pt x="662940" y="0"/>
                </a:cubicBezTo>
                <a:cubicBezTo>
                  <a:pt x="811429" y="-77991"/>
                  <a:pt x="1010976" y="43726"/>
                  <a:pt x="1280160" y="0"/>
                </a:cubicBezTo>
                <a:cubicBezTo>
                  <a:pt x="1549344" y="-43726"/>
                  <a:pt x="1798365" y="47128"/>
                  <a:pt x="1943100" y="0"/>
                </a:cubicBezTo>
                <a:cubicBezTo>
                  <a:pt x="2087835" y="-47128"/>
                  <a:pt x="2352021" y="43761"/>
                  <a:pt x="2468880" y="0"/>
                </a:cubicBezTo>
                <a:cubicBezTo>
                  <a:pt x="2585739" y="-43761"/>
                  <a:pt x="2813362" y="9962"/>
                  <a:pt x="3040380" y="0"/>
                </a:cubicBezTo>
                <a:cubicBezTo>
                  <a:pt x="3267398" y="-9962"/>
                  <a:pt x="3393588" y="24401"/>
                  <a:pt x="3520440" y="0"/>
                </a:cubicBezTo>
                <a:cubicBezTo>
                  <a:pt x="3647292" y="-24401"/>
                  <a:pt x="4257413" y="19456"/>
                  <a:pt x="4572000" y="0"/>
                </a:cubicBezTo>
                <a:cubicBezTo>
                  <a:pt x="4575706" y="257187"/>
                  <a:pt x="4559102" y="383398"/>
                  <a:pt x="4572000" y="547101"/>
                </a:cubicBezTo>
                <a:cubicBezTo>
                  <a:pt x="4584898" y="710804"/>
                  <a:pt x="4546937" y="789316"/>
                  <a:pt x="4572000" y="962897"/>
                </a:cubicBezTo>
                <a:cubicBezTo>
                  <a:pt x="4597063" y="1136478"/>
                  <a:pt x="4513975" y="1265994"/>
                  <a:pt x="4572000" y="1466230"/>
                </a:cubicBezTo>
                <a:cubicBezTo>
                  <a:pt x="4630025" y="1666466"/>
                  <a:pt x="4557261" y="1742188"/>
                  <a:pt x="4572000" y="2013331"/>
                </a:cubicBezTo>
                <a:cubicBezTo>
                  <a:pt x="4586739" y="2284474"/>
                  <a:pt x="4550042" y="2307178"/>
                  <a:pt x="4572000" y="2472895"/>
                </a:cubicBezTo>
                <a:cubicBezTo>
                  <a:pt x="4593958" y="2638612"/>
                  <a:pt x="4523870" y="2808135"/>
                  <a:pt x="4572000" y="2976228"/>
                </a:cubicBezTo>
                <a:cubicBezTo>
                  <a:pt x="4620130" y="3144321"/>
                  <a:pt x="4523677" y="3253283"/>
                  <a:pt x="4572000" y="3392025"/>
                </a:cubicBezTo>
                <a:cubicBezTo>
                  <a:pt x="4620323" y="3530767"/>
                  <a:pt x="4493213" y="4088340"/>
                  <a:pt x="4572000" y="4376806"/>
                </a:cubicBezTo>
                <a:cubicBezTo>
                  <a:pt x="4405205" y="4437369"/>
                  <a:pt x="4059340" y="4358904"/>
                  <a:pt x="3909060" y="4376806"/>
                </a:cubicBezTo>
                <a:cubicBezTo>
                  <a:pt x="3758780" y="4394708"/>
                  <a:pt x="3534778" y="4336375"/>
                  <a:pt x="3429000" y="4376806"/>
                </a:cubicBezTo>
                <a:cubicBezTo>
                  <a:pt x="3323222" y="4417237"/>
                  <a:pt x="3166032" y="4323082"/>
                  <a:pt x="2903220" y="4376806"/>
                </a:cubicBezTo>
                <a:cubicBezTo>
                  <a:pt x="2640408" y="4430530"/>
                  <a:pt x="2613852" y="4327849"/>
                  <a:pt x="2423160" y="4376806"/>
                </a:cubicBezTo>
                <a:cubicBezTo>
                  <a:pt x="2232468" y="4425763"/>
                  <a:pt x="2070818" y="4355679"/>
                  <a:pt x="1851660" y="4376806"/>
                </a:cubicBezTo>
                <a:cubicBezTo>
                  <a:pt x="1632502" y="4397933"/>
                  <a:pt x="1482858" y="4337580"/>
                  <a:pt x="1234440" y="4376806"/>
                </a:cubicBezTo>
                <a:cubicBezTo>
                  <a:pt x="986022" y="4416032"/>
                  <a:pt x="926393" y="4328929"/>
                  <a:pt x="800100" y="4376806"/>
                </a:cubicBezTo>
                <a:cubicBezTo>
                  <a:pt x="673807" y="4424683"/>
                  <a:pt x="161258" y="4363570"/>
                  <a:pt x="0" y="4376806"/>
                </a:cubicBezTo>
                <a:cubicBezTo>
                  <a:pt x="-44308" y="4195942"/>
                  <a:pt x="8543" y="4072503"/>
                  <a:pt x="0" y="3961009"/>
                </a:cubicBezTo>
                <a:cubicBezTo>
                  <a:pt x="-8543" y="3849515"/>
                  <a:pt x="16288" y="3639495"/>
                  <a:pt x="0" y="3326373"/>
                </a:cubicBezTo>
                <a:cubicBezTo>
                  <a:pt x="-16288" y="3013251"/>
                  <a:pt x="23241" y="2979343"/>
                  <a:pt x="0" y="2866808"/>
                </a:cubicBezTo>
                <a:cubicBezTo>
                  <a:pt x="-23241" y="2754273"/>
                  <a:pt x="22519" y="2609250"/>
                  <a:pt x="0" y="2451011"/>
                </a:cubicBezTo>
                <a:cubicBezTo>
                  <a:pt x="-22519" y="2292772"/>
                  <a:pt x="48024" y="2056584"/>
                  <a:pt x="0" y="1903911"/>
                </a:cubicBezTo>
                <a:cubicBezTo>
                  <a:pt x="-48024" y="1751238"/>
                  <a:pt x="70418" y="1482495"/>
                  <a:pt x="0" y="1313042"/>
                </a:cubicBezTo>
                <a:cubicBezTo>
                  <a:pt x="-70418" y="1143589"/>
                  <a:pt x="45709" y="1000014"/>
                  <a:pt x="0" y="809709"/>
                </a:cubicBezTo>
                <a:cubicBezTo>
                  <a:pt x="-45709" y="619404"/>
                  <a:pt x="11126" y="402827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E54A2B9-C88E-D3C1-3A55-443CD4E15A1E}"/>
              </a:ext>
            </a:extLst>
          </p:cNvPr>
          <p:cNvGrpSpPr/>
          <p:nvPr/>
        </p:nvGrpSpPr>
        <p:grpSpPr>
          <a:xfrm>
            <a:off x="9858465" y="2713666"/>
            <a:ext cx="4438214" cy="4353656"/>
            <a:chOff x="9858465" y="2713666"/>
            <a:chExt cx="4438214" cy="4353656"/>
          </a:xfrm>
        </p:grpSpPr>
        <p:pic>
          <p:nvPicPr>
            <p:cNvPr id="17" name="Picture 16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F5581D19-3C78-3726-88CD-4BA80D071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58465" y="2713666"/>
              <a:ext cx="4438214" cy="4353656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B52413F-7D00-7E0C-9D01-E155D33A6947}"/>
                </a:ext>
              </a:extLst>
            </p:cNvPr>
            <p:cNvSpPr/>
            <p:nvPr/>
          </p:nvSpPr>
          <p:spPr>
            <a:xfrm>
              <a:off x="9858465" y="2726974"/>
              <a:ext cx="4438214" cy="4340348"/>
            </a:xfrm>
            <a:custGeom>
              <a:avLst/>
              <a:gdLst>
                <a:gd name="csX0" fmla="*/ 0 w 4438214"/>
                <a:gd name="csY0" fmla="*/ 0 h 4340348"/>
                <a:gd name="csX1" fmla="*/ 643541 w 4438214"/>
                <a:gd name="csY1" fmla="*/ 0 h 4340348"/>
                <a:gd name="csX2" fmla="*/ 1242700 w 4438214"/>
                <a:gd name="csY2" fmla="*/ 0 h 4340348"/>
                <a:gd name="csX3" fmla="*/ 1886241 w 4438214"/>
                <a:gd name="csY3" fmla="*/ 0 h 4340348"/>
                <a:gd name="csX4" fmla="*/ 2396636 w 4438214"/>
                <a:gd name="csY4" fmla="*/ 0 h 4340348"/>
                <a:gd name="csX5" fmla="*/ 2951412 w 4438214"/>
                <a:gd name="csY5" fmla="*/ 0 h 4340348"/>
                <a:gd name="csX6" fmla="*/ 3417425 w 4438214"/>
                <a:gd name="csY6" fmla="*/ 0 h 4340348"/>
                <a:gd name="csX7" fmla="*/ 4438214 w 4438214"/>
                <a:gd name="csY7" fmla="*/ 0 h 4340348"/>
                <a:gd name="csX8" fmla="*/ 4438214 w 4438214"/>
                <a:gd name="csY8" fmla="*/ 542544 h 4340348"/>
                <a:gd name="csX9" fmla="*/ 4438214 w 4438214"/>
                <a:gd name="csY9" fmla="*/ 954877 h 4340348"/>
                <a:gd name="csX10" fmla="*/ 4438214 w 4438214"/>
                <a:gd name="csY10" fmla="*/ 1454017 h 4340348"/>
                <a:gd name="csX11" fmla="*/ 4438214 w 4438214"/>
                <a:gd name="csY11" fmla="*/ 1996560 h 4340348"/>
                <a:gd name="csX12" fmla="*/ 4438214 w 4438214"/>
                <a:gd name="csY12" fmla="*/ 2452297 h 4340348"/>
                <a:gd name="csX13" fmla="*/ 4438214 w 4438214"/>
                <a:gd name="csY13" fmla="*/ 2951437 h 4340348"/>
                <a:gd name="csX14" fmla="*/ 4438214 w 4438214"/>
                <a:gd name="csY14" fmla="*/ 3363770 h 4340348"/>
                <a:gd name="csX15" fmla="*/ 4438214 w 4438214"/>
                <a:gd name="csY15" fmla="*/ 4340348 h 4340348"/>
                <a:gd name="csX16" fmla="*/ 3794673 w 4438214"/>
                <a:gd name="csY16" fmla="*/ 4340348 h 4340348"/>
                <a:gd name="csX17" fmla="*/ 3328661 w 4438214"/>
                <a:gd name="csY17" fmla="*/ 4340348 h 4340348"/>
                <a:gd name="csX18" fmla="*/ 2818266 w 4438214"/>
                <a:gd name="csY18" fmla="*/ 4340348 h 4340348"/>
                <a:gd name="csX19" fmla="*/ 2352253 w 4438214"/>
                <a:gd name="csY19" fmla="*/ 4340348 h 4340348"/>
                <a:gd name="csX20" fmla="*/ 1797477 w 4438214"/>
                <a:gd name="csY20" fmla="*/ 4340348 h 4340348"/>
                <a:gd name="csX21" fmla="*/ 1198318 w 4438214"/>
                <a:gd name="csY21" fmla="*/ 4340348 h 4340348"/>
                <a:gd name="csX22" fmla="*/ 776687 w 4438214"/>
                <a:gd name="csY22" fmla="*/ 4340348 h 4340348"/>
                <a:gd name="csX23" fmla="*/ 0 w 4438214"/>
                <a:gd name="csY23" fmla="*/ 4340348 h 4340348"/>
                <a:gd name="csX24" fmla="*/ 0 w 4438214"/>
                <a:gd name="csY24" fmla="*/ 3928015 h 4340348"/>
                <a:gd name="csX25" fmla="*/ 0 w 4438214"/>
                <a:gd name="csY25" fmla="*/ 3298664 h 4340348"/>
                <a:gd name="csX26" fmla="*/ 0 w 4438214"/>
                <a:gd name="csY26" fmla="*/ 2842928 h 4340348"/>
                <a:gd name="csX27" fmla="*/ 0 w 4438214"/>
                <a:gd name="csY27" fmla="*/ 2430595 h 4340348"/>
                <a:gd name="csX28" fmla="*/ 0 w 4438214"/>
                <a:gd name="csY28" fmla="*/ 1888051 h 4340348"/>
                <a:gd name="csX29" fmla="*/ 0 w 4438214"/>
                <a:gd name="csY29" fmla="*/ 1302104 h 4340348"/>
                <a:gd name="csX30" fmla="*/ 0 w 4438214"/>
                <a:gd name="csY30" fmla="*/ 802964 h 4340348"/>
                <a:gd name="csX31" fmla="*/ 0 w 4438214"/>
                <a:gd name="csY31" fmla="*/ 0 h 43403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4438214" h="4340348" extrusionOk="0">
                  <a:moveTo>
                    <a:pt x="0" y="0"/>
                  </a:moveTo>
                  <a:cubicBezTo>
                    <a:pt x="293531" y="-52836"/>
                    <a:pt x="414575" y="19765"/>
                    <a:pt x="643541" y="0"/>
                  </a:cubicBezTo>
                  <a:cubicBezTo>
                    <a:pt x="872507" y="-19765"/>
                    <a:pt x="953581" y="20408"/>
                    <a:pt x="1242700" y="0"/>
                  </a:cubicBezTo>
                  <a:cubicBezTo>
                    <a:pt x="1531819" y="-20408"/>
                    <a:pt x="1573214" y="55077"/>
                    <a:pt x="1886241" y="0"/>
                  </a:cubicBezTo>
                  <a:cubicBezTo>
                    <a:pt x="2199268" y="-55077"/>
                    <a:pt x="2289661" y="47365"/>
                    <a:pt x="2396636" y="0"/>
                  </a:cubicBezTo>
                  <a:cubicBezTo>
                    <a:pt x="2503611" y="-47365"/>
                    <a:pt x="2811085" y="16876"/>
                    <a:pt x="2951412" y="0"/>
                  </a:cubicBezTo>
                  <a:cubicBezTo>
                    <a:pt x="3091739" y="-16876"/>
                    <a:pt x="3285244" y="29449"/>
                    <a:pt x="3417425" y="0"/>
                  </a:cubicBezTo>
                  <a:cubicBezTo>
                    <a:pt x="3549606" y="-29449"/>
                    <a:pt x="4216514" y="94458"/>
                    <a:pt x="4438214" y="0"/>
                  </a:cubicBezTo>
                  <a:cubicBezTo>
                    <a:pt x="4482219" y="192310"/>
                    <a:pt x="4390112" y="433916"/>
                    <a:pt x="4438214" y="542544"/>
                  </a:cubicBezTo>
                  <a:cubicBezTo>
                    <a:pt x="4486316" y="651172"/>
                    <a:pt x="4395208" y="782593"/>
                    <a:pt x="4438214" y="954877"/>
                  </a:cubicBezTo>
                  <a:cubicBezTo>
                    <a:pt x="4481220" y="1127161"/>
                    <a:pt x="4381352" y="1262038"/>
                    <a:pt x="4438214" y="1454017"/>
                  </a:cubicBezTo>
                  <a:cubicBezTo>
                    <a:pt x="4495076" y="1645996"/>
                    <a:pt x="4436609" y="1810750"/>
                    <a:pt x="4438214" y="1996560"/>
                  </a:cubicBezTo>
                  <a:cubicBezTo>
                    <a:pt x="4439819" y="2182370"/>
                    <a:pt x="4389117" y="2247478"/>
                    <a:pt x="4438214" y="2452297"/>
                  </a:cubicBezTo>
                  <a:cubicBezTo>
                    <a:pt x="4487311" y="2657116"/>
                    <a:pt x="4429355" y="2770117"/>
                    <a:pt x="4438214" y="2951437"/>
                  </a:cubicBezTo>
                  <a:cubicBezTo>
                    <a:pt x="4447073" y="3132757"/>
                    <a:pt x="4426965" y="3173645"/>
                    <a:pt x="4438214" y="3363770"/>
                  </a:cubicBezTo>
                  <a:cubicBezTo>
                    <a:pt x="4449463" y="3553895"/>
                    <a:pt x="4373309" y="3978888"/>
                    <a:pt x="4438214" y="4340348"/>
                  </a:cubicBezTo>
                  <a:cubicBezTo>
                    <a:pt x="4285038" y="4410139"/>
                    <a:pt x="3983370" y="4331281"/>
                    <a:pt x="3794673" y="4340348"/>
                  </a:cubicBezTo>
                  <a:cubicBezTo>
                    <a:pt x="3605976" y="4349415"/>
                    <a:pt x="3560239" y="4292278"/>
                    <a:pt x="3328661" y="4340348"/>
                  </a:cubicBezTo>
                  <a:cubicBezTo>
                    <a:pt x="3097083" y="4388418"/>
                    <a:pt x="3073128" y="4298509"/>
                    <a:pt x="2818266" y="4340348"/>
                  </a:cubicBezTo>
                  <a:cubicBezTo>
                    <a:pt x="2563405" y="4382187"/>
                    <a:pt x="2518098" y="4298027"/>
                    <a:pt x="2352253" y="4340348"/>
                  </a:cubicBezTo>
                  <a:cubicBezTo>
                    <a:pt x="2186408" y="4382669"/>
                    <a:pt x="1950283" y="4292209"/>
                    <a:pt x="1797477" y="4340348"/>
                  </a:cubicBezTo>
                  <a:cubicBezTo>
                    <a:pt x="1644671" y="4388487"/>
                    <a:pt x="1390686" y="4333319"/>
                    <a:pt x="1198318" y="4340348"/>
                  </a:cubicBezTo>
                  <a:cubicBezTo>
                    <a:pt x="1005950" y="4347377"/>
                    <a:pt x="965932" y="4311605"/>
                    <a:pt x="776687" y="4340348"/>
                  </a:cubicBezTo>
                  <a:cubicBezTo>
                    <a:pt x="587442" y="4369091"/>
                    <a:pt x="156129" y="4297026"/>
                    <a:pt x="0" y="4340348"/>
                  </a:cubicBezTo>
                  <a:cubicBezTo>
                    <a:pt x="-19022" y="4257217"/>
                    <a:pt x="30204" y="4093723"/>
                    <a:pt x="0" y="3928015"/>
                  </a:cubicBezTo>
                  <a:cubicBezTo>
                    <a:pt x="-30204" y="3762307"/>
                    <a:pt x="42344" y="3540564"/>
                    <a:pt x="0" y="3298664"/>
                  </a:cubicBezTo>
                  <a:cubicBezTo>
                    <a:pt x="-42344" y="3056764"/>
                    <a:pt x="42064" y="2968304"/>
                    <a:pt x="0" y="2842928"/>
                  </a:cubicBezTo>
                  <a:cubicBezTo>
                    <a:pt x="-42064" y="2717552"/>
                    <a:pt x="17678" y="2586620"/>
                    <a:pt x="0" y="2430595"/>
                  </a:cubicBezTo>
                  <a:cubicBezTo>
                    <a:pt x="-17678" y="2274570"/>
                    <a:pt x="21233" y="2141774"/>
                    <a:pt x="0" y="1888051"/>
                  </a:cubicBezTo>
                  <a:cubicBezTo>
                    <a:pt x="-21233" y="1634328"/>
                    <a:pt x="22685" y="1538640"/>
                    <a:pt x="0" y="1302104"/>
                  </a:cubicBezTo>
                  <a:cubicBezTo>
                    <a:pt x="-22685" y="1065568"/>
                    <a:pt x="16075" y="1018499"/>
                    <a:pt x="0" y="802964"/>
                  </a:cubicBezTo>
                  <a:cubicBezTo>
                    <a:pt x="-16075" y="587429"/>
                    <a:pt x="33709" y="272181"/>
                    <a:pt x="0" y="0"/>
                  </a:cubicBez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65963625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E3165E40-54B4-C93D-6958-24C804337FDF}"/>
              </a:ext>
            </a:extLst>
          </p:cNvPr>
          <p:cNvSpPr/>
          <p:nvPr/>
        </p:nvSpPr>
        <p:spPr>
          <a:xfrm>
            <a:off x="333721" y="1477481"/>
            <a:ext cx="11374889" cy="73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5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 Analytics &amp; Insights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0984A0-04EF-6D25-CA38-C76C19DF41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01"/>
          <a:stretch>
            <a:fillRect/>
          </a:stretch>
        </p:blipFill>
        <p:spPr>
          <a:xfrm>
            <a:off x="5167192" y="2666059"/>
            <a:ext cx="4572000" cy="4420733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4B2253-BF38-F7D8-1AB3-ED0B8BE6B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21" y="2719900"/>
            <a:ext cx="4675145" cy="435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86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6643"/>
            <a:ext cx="885444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Implementation Highlights: Core Code Snippets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580317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the foundational code that powers PennyStack's robust functionality.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171700"/>
            <a:ext cx="367331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Add Transaction (Doubly Linked List)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2598301"/>
            <a:ext cx="6327815" cy="2778919"/>
          </a:xfrm>
          <a:prstGeom prst="roundRect">
            <a:avLst>
              <a:gd name="adj" fmla="val 857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5932" y="2598301"/>
            <a:ext cx="6343531" cy="2778919"/>
          </a:xfrm>
          <a:prstGeom prst="roundRect">
            <a:avLst>
              <a:gd name="adj" fmla="val 857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4642" y="2717363"/>
            <a:ext cx="6026110" cy="254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Transaction* newTrans = new Transaction;
newTrans-&gt;id = transactionID++;
if(head == NULL) {
  head = tail = newTrans;
} else {
  newTrans-&gt;next = head;
  head-&gt;prev = newTrans;
  head = newTrans;
}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3790" y="5555813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snippet ensures O(1) insertion, crucial for high-frequency transactions.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16416" y="217170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Undo (Stack)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516416" y="2598301"/>
            <a:ext cx="6327815" cy="1254442"/>
          </a:xfrm>
          <a:prstGeom prst="roundRect">
            <a:avLst>
              <a:gd name="adj" fmla="val 1899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08558" y="2598301"/>
            <a:ext cx="6343531" cy="1254442"/>
          </a:xfrm>
          <a:prstGeom prst="roundRect">
            <a:avLst>
              <a:gd name="adj" fmla="val 1899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67268" y="2717363"/>
            <a:ext cx="6026110" cy="1016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Transaction* trans = stackTop-&gt;trans;
stackTop = stackTop-&gt;next;
delete trans;
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516416" y="4031337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undo mechanism relies on a stack for O(1) operation, enabling instant reversals.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16416" y="444412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BST Search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16416" y="4870728"/>
            <a:ext cx="6327815" cy="2016681"/>
          </a:xfrm>
          <a:prstGeom prst="roundRect">
            <a:avLst>
              <a:gd name="adj" fmla="val 1181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08558" y="4870728"/>
            <a:ext cx="6343531" cy="2016681"/>
          </a:xfrm>
          <a:prstGeom prst="roundRect">
            <a:avLst>
              <a:gd name="adj" fmla="val 1181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67268" y="4989790"/>
            <a:ext cx="6026110" cy="1778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if(category == node-&gt;categoryName)
  return node-&gt;totalSpent;
else if(category &lt; node-&gt;categoryName)
  return searchBST(node-&gt;left, category);
else
  return searchBST(node-&gt;right, category);
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16416" y="7066002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Binary Search Trees provide logarithmic time complexity for category searches.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626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Does Everything Work Perfectly? Testing Results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174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rigorously tested PennyStack to ensure flawless operation across all features.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6231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 Summary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91442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Tests: 12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 Rate: 100%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426231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We Tested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599521" y="49144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(PIN login)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3566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Transactions (Income/Expense)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7988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Undo (Last transaction)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62410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Categories (Search)</a:t>
            </a:r>
            <a:endParaRPr lang="en-US" sz="1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0695"/>
            <a:ext cx="122755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Problems and Solutions: Challenges We Faced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131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complex project presents hurdles. Here’s how we overcame key challenges in PennyStack.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3538180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531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Memory Leaks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02157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Dynamic memory not freed correctly.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530906" y="488346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Implemented a comprehensive destructor.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530906" y="5745361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Achieved zero memory leaks.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0903" y="3538180"/>
            <a:ext cx="340162" cy="3401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73008" y="3531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BST Node Deletion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973008" y="402157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Complex node deletion with two children.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5973008" y="488346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Utilized the in-order successor method.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5973008" y="5745361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Successfully handled all deletion cases.</a:t>
            </a:r>
            <a:endParaRPr lang="en-US" sz="17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63006" y="3538180"/>
            <a:ext cx="340162" cy="3401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415111" y="3531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Undo with BST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10415111" y="402157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Updating category totals after undo operations.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10415111" y="4883468"/>
            <a:ext cx="3421499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Developed a dedicated 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updateBST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function.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0415111" y="5752981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Ensured accurate category totals always.</a:t>
            </a:r>
            <a:endParaRPr lang="en-US" sz="1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7108"/>
            <a:ext cx="109342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Our Learning Journey: What We Learned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95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Developing PennyStack provided invaluable insights and practical experience.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34383"/>
            <a:ext cx="31740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Skills Gained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2155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Learned data structures.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577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Managed memory in C++.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999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Handled file input/output.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5421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code efficiency.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634383"/>
            <a:ext cx="50403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Problem-Solving &amp; Professional Skills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42155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Solved project challenges.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6577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Handled unexpected scenarios.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0999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Planned and documented code.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5421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Communicated technical ideas.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62394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Takeaway: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Applying theory to real problems makes learning powerful!</a:t>
            </a:r>
            <a:endParaRPr lang="en-US" sz="1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0937"/>
            <a:ext cx="10379631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What's Next for PennyStack? Future Enhancements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702713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roadmap includes exciting new features and advancements to further enhance PennyStack.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3790" y="2166223"/>
            <a:ext cx="6436400" cy="2531150"/>
          </a:xfrm>
          <a:prstGeom prst="roundRect">
            <a:avLst>
              <a:gd name="adj" fmla="val 1008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6650" y="2189083"/>
            <a:ext cx="6390680" cy="510302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84414" y="2284690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6671" y="2869406"/>
            <a:ext cx="277284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1: Enhanced Features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86671" y="3237190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Date/time for transactions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6671" y="3568898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 budget setting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6671" y="3900607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recurring transactions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6671" y="4232315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user accounts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0211" y="2166223"/>
            <a:ext cx="6436400" cy="2531150"/>
          </a:xfrm>
          <a:prstGeom prst="roundRect">
            <a:avLst>
              <a:gd name="adj" fmla="val 1008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23071" y="2189083"/>
            <a:ext cx="6390680" cy="510302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490835" y="2284690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593092" y="2869406"/>
            <a:ext cx="249054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2: Better Analytics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593092" y="3237190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Monthly/yearly spending reports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93092" y="3568898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Graphical charts &amp; trends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93092" y="3900607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Spending predictions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93092" y="4232315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 alerts &amp; notifications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3790" y="4867394"/>
            <a:ext cx="6436400" cy="2531150"/>
          </a:xfrm>
          <a:prstGeom prst="roundRect">
            <a:avLst>
              <a:gd name="adj" fmla="val 1008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6650" y="4890254"/>
            <a:ext cx="6390680" cy="510302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84414" y="4985861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86671" y="5570577"/>
            <a:ext cx="260699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3: Modern Interface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86671" y="5938361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Graphical User Interface (GUI)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6671" y="6270069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app (Android/iOS)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6671" y="6601778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dashboard with cloud sync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6671" y="6933486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Touch-friendly design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00211" y="4867394"/>
            <a:ext cx="6436400" cy="2531150"/>
          </a:xfrm>
          <a:prstGeom prst="roundRect">
            <a:avLst>
              <a:gd name="adj" fmla="val 1008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23071" y="4890254"/>
            <a:ext cx="6390680" cy="510302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490835" y="4985861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593092" y="5570577"/>
            <a:ext cx="306014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4: Advanced Integration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593092" y="5938361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to bank accounts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593092" y="6270069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in-app bill payments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93092" y="6601778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backup &amp; sync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593092" y="6933486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Multi-currency support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9797"/>
            <a:ext cx="763488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Making a Difference: Project Impact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159675"/>
            <a:ext cx="4226600" cy="2152412"/>
          </a:xfrm>
          <a:prstGeom prst="roundRect">
            <a:avLst>
              <a:gd name="adj" fmla="val 1265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772960" y="236398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Educational Value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98101" y="2756297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Bridges theory and practice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8101" y="3110032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Demonstrates real-world applications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8101" y="3463766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Builds programming confidence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8101" y="3817501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Portfolio-worthy project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01841" y="2159675"/>
            <a:ext cx="4226600" cy="2152412"/>
          </a:xfrm>
          <a:prstGeom prst="roundRect">
            <a:avLst>
              <a:gd name="adj" fmla="val 1265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81011" y="236398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Practical Utility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406152" y="2756297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Helps manage personal finances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06152" y="3110032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spending insights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06152" y="3463766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better financial decisions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06152" y="3817501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Offers easy expense tracking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9892" y="2159675"/>
            <a:ext cx="4226719" cy="2152412"/>
          </a:xfrm>
          <a:prstGeom prst="roundRect">
            <a:avLst>
              <a:gd name="adj" fmla="val 1265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49163" y="2363986"/>
            <a:ext cx="254817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Achievement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814203" y="2756297"/>
            <a:ext cx="38180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data structures integrated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14203" y="3110032"/>
            <a:ext cx="38180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O(1) to O(log n) operations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14203" y="3463766"/>
            <a:ext cx="38180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 test success rate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14203" y="3817501"/>
            <a:ext cx="38180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memory leaks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93790" y="4493538"/>
            <a:ext cx="13042821" cy="2506147"/>
          </a:xfrm>
          <a:prstGeom prst="roundRect">
            <a:avLst>
              <a:gd name="adj" fmla="val 1086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81011" y="469784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Benefits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98101" y="5090160"/>
            <a:ext cx="126341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expense recording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98101" y="5443895"/>
            <a:ext cx="126341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 balance checking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8101" y="5797629"/>
            <a:ext cx="126341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Category-wise analysis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98101" y="6151364"/>
            <a:ext cx="126341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Bill payment reminders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8101" y="6505099"/>
            <a:ext cx="126341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 correction capability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6754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Summary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824514"/>
            <a:ext cx="62724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PennyStack successfully demonstrates the practical application of data structures in solving real-world financial management problems.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6170" y="2932985"/>
            <a:ext cx="627245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proves that choosing the right data structure is crucial for building efficient, scalable applications. Theoretical concepts have direct, practical applications in solving everyday problems.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71780" y="1870353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48277" y="1908572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35077" y="194048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Achievements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35077" y="2463403"/>
            <a:ext cx="56091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Implemented 5 core data structures effectively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35077" y="2861548"/>
            <a:ext cx="56091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Achieved efficient O(1) to O(log n) operations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35077" y="3259693"/>
            <a:ext cx="56091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user-friendly expense tracking system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35077" y="3657838"/>
            <a:ext cx="56091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Ensured data security and persistence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35077" y="4055983"/>
            <a:ext cx="56091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Passed all test cases with 100% success rate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71780" y="4790956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48277" y="4829175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35077" y="486108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Learning Experience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35077" y="5384006"/>
            <a:ext cx="56091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Gained hands-on experience with data structures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35077" y="5782151"/>
            <a:ext cx="56091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Developed problem-solving skills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35077" y="6180296"/>
            <a:ext cx="56091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Learned software development lifecycle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35077" y="6578441"/>
            <a:ext cx="56091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coding and debugging abilities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35077" y="6976586"/>
            <a:ext cx="56091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teamwork and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7176"/>
            <a:ext cx="80301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 for Your Attention!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66680"/>
            <a:ext cx="732710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PennyStack: Smart Personal Expense Tracker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89" y="43639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Abdul Rafay (243705)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7433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923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 University Multan Campus - Data Structures - Spring 2025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95449"/>
            <a:ext cx="73352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Questions? </a:t>
            </a:r>
            <a:endParaRPr lang="en-US" sz="3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1481</TotalTime>
  <Words>2655</Words>
  <Application>Microsoft Office PowerPoint</Application>
  <PresentationFormat>Custom</PresentationFormat>
  <Paragraphs>458</Paragraphs>
  <Slides>34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Mona Sans Expanded SemiBold</vt:lpstr>
      <vt:lpstr>Consolas</vt:lpstr>
      <vt:lpstr>Aptos Display</vt:lpstr>
      <vt:lpstr>Roboto</vt:lpstr>
      <vt:lpstr>Roboto Slab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RAFAY SADIQ</cp:lastModifiedBy>
  <cp:revision>12</cp:revision>
  <cp:lastPrinted>2025-12-27T09:29:51Z</cp:lastPrinted>
  <dcterms:created xsi:type="dcterms:W3CDTF">2025-12-27T07:40:17Z</dcterms:created>
  <dcterms:modified xsi:type="dcterms:W3CDTF">2026-01-30T21:17:49Z</dcterms:modified>
</cp:coreProperties>
</file>