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3" r:id="rId1"/>
  </p:sldMasterIdLst>
  <p:notesMasterIdLst>
    <p:notesMasterId r:id="rId15"/>
  </p:notesMasterIdLst>
  <p:sldIdLst>
    <p:sldId id="256" r:id="rId2"/>
    <p:sldId id="273" r:id="rId3"/>
    <p:sldId id="257" r:id="rId4"/>
    <p:sldId id="258" r:id="rId5"/>
    <p:sldId id="260" r:id="rId6"/>
    <p:sldId id="261" r:id="rId7"/>
    <p:sldId id="263" r:id="rId8"/>
    <p:sldId id="262" r:id="rId9"/>
    <p:sldId id="269" r:id="rId10"/>
    <p:sldId id="272" r:id="rId11"/>
    <p:sldId id="268" r:id="rId12"/>
    <p:sldId id="270" r:id="rId13"/>
    <p:sldId id="271" r:id="rId14"/>
  </p:sldIdLst>
  <p:sldSz cx="14630400" cy="8229600"/>
  <p:notesSz cx="8229600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Funnel Sans" pitchFamily="2" charset="0"/>
      <p:regular r:id="rId20"/>
      <p:bold r:id="rId21"/>
      <p:italic r:id="rId22"/>
      <p:boldItalic r:id="rId23"/>
    </p:embeddedFont>
    <p:embeddedFont>
      <p:font typeface="Lucida Fax" panose="02060602050505020204" pitchFamily="18" charset="0"/>
      <p:regular r:id="rId24"/>
      <p:bold r:id="rId25"/>
      <p:italic r:id="rId26"/>
      <p:boldItalic r:id="rId27"/>
    </p:embeddedFont>
    <p:embeddedFont>
      <p:font typeface="Mona Sans Expanded" pitchFamily="2" charset="0"/>
      <p:regular r:id="rId28"/>
      <p:bold r:id="rId29"/>
      <p:italic r:id="rId30"/>
      <p:boldItalic r:id="rId31"/>
    </p:embeddedFont>
    <p:embeddedFont>
      <p:font typeface="Mona Sans Light" pitchFamily="2" charset="0"/>
      <p:regular r:id="rId32"/>
      <p:italic r:id="rId33"/>
    </p:embeddedFont>
    <p:embeddedFont>
      <p:font typeface="Mona Sans Semi Bold" panose="020B0604020202020204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769D"/>
    <a:srgbClr val="373B48"/>
    <a:srgbClr val="F3F3F3"/>
    <a:srgbClr val="ECECEC"/>
    <a:srgbClr val="F2F2F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70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8E3B-EE57-5F3F-4118-116AC19CF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C2916-BA43-D535-29BE-11F3FCA70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5E7EF-E40D-A266-766A-A7080CA69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51859-D407-5972-1F5B-7EE557E60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47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C5B91-B86D-3F3B-1559-6EA5393D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0EA77-420B-6137-3361-F4B381DE1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E3786-AED6-BAF7-1660-D0E3E055D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6F403-969A-7E8A-28B3-3C8BAA465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873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3011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9989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053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6236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1294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5785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0013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7284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770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6888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411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947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004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530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51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106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777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6974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67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37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9CC4F0F-8E81-A461-1FA6-2641BF62B675}"/>
              </a:ext>
            </a:extLst>
          </p:cNvPr>
          <p:cNvGrpSpPr/>
          <p:nvPr/>
        </p:nvGrpSpPr>
        <p:grpSpPr>
          <a:xfrm>
            <a:off x="0" y="-30090"/>
            <a:ext cx="14630400" cy="8259690"/>
            <a:chOff x="0" y="-30090"/>
            <a:chExt cx="14630400" cy="8259690"/>
          </a:xfrm>
        </p:grpSpPr>
        <p:pic>
          <p:nvPicPr>
            <p:cNvPr id="12" name="Picture 11" descr="A white and grey background&#10;&#10;AI-generated content may be incorrect.">
              <a:extLst>
                <a:ext uri="{FF2B5EF4-FFF2-40B4-BE49-F238E27FC236}">
                  <a16:creationId xmlns:a16="http://schemas.microsoft.com/office/drawing/2014/main" id="{32C9D962-E812-E520-432B-941195753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pic>
          <p:nvPicPr>
            <p:cNvPr id="8" name="Picture 7" descr="A blue logo with a bird and a black background&#10;&#10;AI-generated content may be incorrect.">
              <a:extLst>
                <a:ext uri="{FF2B5EF4-FFF2-40B4-BE49-F238E27FC236}">
                  <a16:creationId xmlns:a16="http://schemas.microsoft.com/office/drawing/2014/main" id="{F3941588-EB72-EAEF-7AFF-7B0E13602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FilmGrain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146475" y="-30090"/>
              <a:ext cx="2414475" cy="2414475"/>
            </a:xfrm>
            <a:prstGeom prst="rect">
              <a:avLst/>
            </a:prstGeom>
          </p:spPr>
        </p:pic>
      </p:grpSp>
      <p:sp>
        <p:nvSpPr>
          <p:cNvPr id="2" name="Text 0"/>
          <p:cNvSpPr/>
          <p:nvPr/>
        </p:nvSpPr>
        <p:spPr>
          <a:xfrm>
            <a:off x="793790" y="2535021"/>
            <a:ext cx="10659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Palindrome Detector in 8086 Assembly</a:t>
            </a:r>
            <a:endParaRPr lang="en-US" sz="4450" b="1" dirty="0">
              <a:latin typeface="Mona Sans Expande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37334"/>
            <a:ext cx="97786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A robust, low-level string manipulation utility.</a:t>
            </a:r>
            <a:endParaRPr lang="en-US" sz="3550" dirty="0">
              <a:latin typeface="Mona Sans Expanded" pitchFamily="2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398F2172-FD88-B6DE-4284-407F93734B72}"/>
              </a:ext>
            </a:extLst>
          </p:cNvPr>
          <p:cNvSpPr/>
          <p:nvPr/>
        </p:nvSpPr>
        <p:spPr>
          <a:xfrm>
            <a:off x="793790" y="4552233"/>
            <a:ext cx="4482533" cy="339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1452">
              <a:lnSpc>
                <a:spcPts val="1860"/>
              </a:lnSpc>
              <a:spcAft>
                <a:spcPts val="690"/>
              </a:spcAft>
            </a:pPr>
            <a:r>
              <a:rPr lang="en-US" b="1" kern="1200" dirty="0">
                <a:solidFill>
                  <a:srgbClr val="40465A"/>
                </a:solidFill>
                <a:latin typeface="Mona Sans Expanded" pitchFamily="2" charset="0"/>
                <a:ea typeface="Funnel Sans" pitchFamily="34" charset="-122"/>
                <a:cs typeface="+mn-cs"/>
              </a:rPr>
              <a:t>Presented by:</a:t>
            </a:r>
            <a:endParaRPr lang="en-US" sz="3600" b="1" dirty="0">
              <a:latin typeface="Mona Sans Expanded" pitchFamily="2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8D008D7-5443-2D5F-6E36-8B1EE184BD0D}"/>
              </a:ext>
            </a:extLst>
          </p:cNvPr>
          <p:cNvSpPr/>
          <p:nvPr/>
        </p:nvSpPr>
        <p:spPr>
          <a:xfrm>
            <a:off x="793790" y="5043733"/>
            <a:ext cx="4482533" cy="339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1452">
              <a:lnSpc>
                <a:spcPts val="1860"/>
              </a:lnSpc>
              <a:spcAft>
                <a:spcPts val="690"/>
              </a:spcAft>
            </a:pPr>
            <a:r>
              <a:rPr lang="en-US" sz="2000" kern="1200" dirty="0">
                <a:solidFill>
                  <a:srgbClr val="40465A"/>
                </a:solidFill>
                <a:latin typeface="Funnel Sans" pitchFamily="34" charset="0"/>
                <a:ea typeface="Funnel Sans" pitchFamily="34" charset="-122"/>
                <a:cs typeface="+mn-cs"/>
              </a:rPr>
              <a:t>Abdul Rafay (Roll No: </a:t>
            </a:r>
            <a:r>
              <a:rPr lang="en-US" sz="2000" b="1" kern="1200" dirty="0">
                <a:solidFill>
                  <a:srgbClr val="40465A"/>
                </a:solidFill>
                <a:latin typeface="Funnel Sans" pitchFamily="34" charset="0"/>
                <a:ea typeface="Funnel Sans" pitchFamily="34" charset="-122"/>
                <a:cs typeface="+mn-cs"/>
              </a:rPr>
              <a:t>243705</a:t>
            </a:r>
            <a:r>
              <a:rPr lang="en-US" sz="2000" kern="1200" dirty="0">
                <a:solidFill>
                  <a:srgbClr val="40465A"/>
                </a:solidFill>
                <a:latin typeface="Funnel Sans" pitchFamily="34" charset="0"/>
                <a:ea typeface="Funnel Sans" pitchFamily="34" charset="-122"/>
                <a:cs typeface="+mn-cs"/>
              </a:rPr>
              <a:t>)</a:t>
            </a:r>
            <a:endParaRPr lang="en-US" sz="4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E6C35DA-E8F9-F427-5D17-6F0E6D406244}"/>
              </a:ext>
            </a:extLst>
          </p:cNvPr>
          <p:cNvSpPr/>
          <p:nvPr/>
        </p:nvSpPr>
        <p:spPr>
          <a:xfrm>
            <a:off x="793790" y="5535232"/>
            <a:ext cx="4482533" cy="339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1452">
              <a:lnSpc>
                <a:spcPts val="1860"/>
              </a:lnSpc>
              <a:spcAft>
                <a:spcPts val="690"/>
              </a:spcAft>
            </a:pPr>
            <a:r>
              <a:rPr lang="en-US" sz="2000" kern="1200" dirty="0">
                <a:solidFill>
                  <a:srgbClr val="40465A"/>
                </a:solidFill>
                <a:latin typeface="Funnel Sans" pitchFamily="34" charset="0"/>
                <a:ea typeface="Funnel Sans" pitchFamily="34" charset="-122"/>
                <a:cs typeface="+mn-cs"/>
              </a:rPr>
              <a:t>Abdullah Rafay (Roll No: </a:t>
            </a:r>
            <a:r>
              <a:rPr lang="en-US" sz="2000" b="1" kern="1200" dirty="0">
                <a:solidFill>
                  <a:srgbClr val="40465A"/>
                </a:solidFill>
                <a:latin typeface="Funnel Sans" pitchFamily="34" charset="0"/>
                <a:ea typeface="Funnel Sans" pitchFamily="34" charset="-122"/>
                <a:cs typeface="+mn-cs"/>
              </a:rPr>
              <a:t>243619</a:t>
            </a:r>
            <a:r>
              <a:rPr lang="en-US" sz="2000" kern="1200" dirty="0">
                <a:solidFill>
                  <a:srgbClr val="40465A"/>
                </a:solidFill>
                <a:latin typeface="Funnel Sans" pitchFamily="34" charset="0"/>
                <a:ea typeface="Funnel Sans" pitchFamily="34" charset="-122"/>
                <a:cs typeface="+mn-cs"/>
              </a:rPr>
              <a:t>)</a:t>
            </a:r>
            <a:endParaRPr lang="en-US" sz="40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7385388-DB7E-C248-B089-E4C23A46856F}"/>
              </a:ext>
            </a:extLst>
          </p:cNvPr>
          <p:cNvSpPr/>
          <p:nvPr/>
        </p:nvSpPr>
        <p:spPr>
          <a:xfrm>
            <a:off x="793790" y="6026732"/>
            <a:ext cx="4482533" cy="339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1452">
              <a:lnSpc>
                <a:spcPts val="1860"/>
              </a:lnSpc>
              <a:spcAft>
                <a:spcPts val="690"/>
              </a:spcAft>
            </a:pPr>
            <a:endParaRPr lang="en-US" sz="3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35233D-3F29-1F1C-055A-7F6E3477B382}"/>
              </a:ext>
            </a:extLst>
          </p:cNvPr>
          <p:cNvGrpSpPr/>
          <p:nvPr/>
        </p:nvGrpSpPr>
        <p:grpSpPr>
          <a:xfrm>
            <a:off x="793790" y="5955328"/>
            <a:ext cx="4205482" cy="1401959"/>
            <a:chOff x="793790" y="5955328"/>
            <a:chExt cx="4205482" cy="1401959"/>
          </a:xfrm>
        </p:grpSpPr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790FE2AD-21B4-5A26-07E2-E6E1C9AB4554}"/>
                </a:ext>
              </a:extLst>
            </p:cNvPr>
            <p:cNvSpPr/>
            <p:nvPr/>
          </p:nvSpPr>
          <p:spPr>
            <a:xfrm>
              <a:off x="793790" y="5955328"/>
              <a:ext cx="4205482" cy="430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1155436">
                <a:lnSpc>
                  <a:spcPts val="3349"/>
                </a:lnSpc>
                <a:spcAft>
                  <a:spcPts val="648"/>
                </a:spcAft>
              </a:pPr>
              <a:r>
                <a:rPr lang="en-US" sz="2000" b="1" kern="1200" dirty="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Subject:</a:t>
              </a:r>
              <a:r>
                <a:rPr lang="en-US" sz="2000" kern="1200" dirty="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 COAL</a:t>
              </a:r>
              <a:endParaRPr lang="en-US" sz="1600" dirty="0">
                <a:solidFill>
                  <a:srgbClr val="52586B"/>
                </a:solidFill>
                <a:latin typeface="Funnel Sans" pitchFamily="2" charset="0"/>
              </a:endParaRP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DCE48E91-794E-9918-FC25-1EC1CF0F6122}"/>
                </a:ext>
              </a:extLst>
            </p:cNvPr>
            <p:cNvSpPr/>
            <p:nvPr/>
          </p:nvSpPr>
          <p:spPr>
            <a:xfrm>
              <a:off x="793790" y="6440929"/>
              <a:ext cx="4205482" cy="430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1155436">
                <a:lnSpc>
                  <a:spcPts val="3349"/>
                </a:lnSpc>
                <a:spcAft>
                  <a:spcPts val="648"/>
                </a:spcAft>
              </a:pPr>
              <a:r>
                <a:rPr lang="en-US" sz="2000" b="1" kern="1200" dirty="0">
                  <a:solidFill>
                    <a:srgbClr val="40465A"/>
                  </a:solidFill>
                  <a:latin typeface="Funnel Sans" pitchFamily="2" charset="0"/>
                  <a:ea typeface="+mn-ea"/>
                  <a:cs typeface="+mn-cs"/>
                </a:rPr>
                <a:t>Submitted To: </a:t>
              </a:r>
              <a:r>
                <a:rPr lang="en-US" sz="2000" dirty="0">
                  <a:solidFill>
                    <a:srgbClr val="52586B"/>
                  </a:solidFill>
                  <a:latin typeface="Mona Sans Expanded" pitchFamily="2" charset="0"/>
                  <a:ea typeface="Funnel Sans" pitchFamily="34" charset="-122"/>
                  <a:cs typeface="Funnel Sans" pitchFamily="34" charset="-120"/>
                </a:rPr>
                <a:t>Engr. Anum Aftab</a:t>
              </a:r>
              <a:endParaRPr lang="en-US" sz="1600" dirty="0">
                <a:solidFill>
                  <a:srgbClr val="52586B"/>
                </a:solidFill>
                <a:latin typeface="Funnel Sans" pitchFamily="2" charset="0"/>
              </a:endParaRPr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FFE39CE1-B111-24E8-6574-E89051B059DA}"/>
                </a:ext>
              </a:extLst>
            </p:cNvPr>
            <p:cNvSpPr/>
            <p:nvPr/>
          </p:nvSpPr>
          <p:spPr>
            <a:xfrm>
              <a:off x="793790" y="6926531"/>
              <a:ext cx="4205482" cy="430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1155436">
                <a:lnSpc>
                  <a:spcPts val="3349"/>
                </a:lnSpc>
                <a:spcAft>
                  <a:spcPts val="648"/>
                </a:spcAft>
              </a:pPr>
              <a:r>
                <a:rPr lang="en-US" sz="2000" b="1" kern="1200" dirty="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Section:</a:t>
              </a:r>
              <a:r>
                <a:rPr lang="en-US" sz="2000" kern="1200" dirty="0">
                  <a:solidFill>
                    <a:srgbClr val="40465A"/>
                  </a:solidFill>
                  <a:latin typeface="Funnel Sans" pitchFamily="34" charset="0"/>
                  <a:ea typeface="Funnel Sans" pitchFamily="34" charset="-122"/>
                  <a:cs typeface="+mn-cs"/>
                </a:rPr>
                <a:t> Bs Cyber Security – A 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88342-7BB8-5168-8883-BB84DC31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607AEF10-FB86-5756-082A-52C1BE6BC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1AD0AF3-DBB9-5DDC-0935-3DD5EE2E6712}"/>
              </a:ext>
            </a:extLst>
          </p:cNvPr>
          <p:cNvSpPr/>
          <p:nvPr/>
        </p:nvSpPr>
        <p:spPr>
          <a:xfrm>
            <a:off x="793790" y="7645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Contributions</a:t>
            </a:r>
            <a:endParaRPr lang="en-US" sz="4450" b="1" dirty="0">
              <a:latin typeface="Mona Sans Expanded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CF98943-2D0E-403E-CAE1-DC5BE9936BF4}"/>
              </a:ext>
            </a:extLst>
          </p:cNvPr>
          <p:cNvGrpSpPr/>
          <p:nvPr/>
        </p:nvGrpSpPr>
        <p:grpSpPr>
          <a:xfrm>
            <a:off x="8716663" y="2345716"/>
            <a:ext cx="4926469" cy="4141251"/>
            <a:chOff x="1233171" y="1927953"/>
            <a:chExt cx="4926469" cy="4141251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CAF9800E-8107-C0FA-4864-B018231B958A}"/>
                </a:ext>
              </a:extLst>
            </p:cNvPr>
            <p:cNvSpPr/>
            <p:nvPr/>
          </p:nvSpPr>
          <p:spPr>
            <a:xfrm>
              <a:off x="1233171" y="1927953"/>
              <a:ext cx="4099757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373B48"/>
                  </a:solidFill>
                  <a:latin typeface="Mona Sans Expanded" pitchFamily="2" charset="0"/>
                </a:rPr>
                <a:t>Abdul Rafay - 243705</a:t>
              </a:r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0E966006-3042-47FF-C64B-4F1D07004E90}"/>
                </a:ext>
              </a:extLst>
            </p:cNvPr>
            <p:cNvSpPr/>
            <p:nvPr/>
          </p:nvSpPr>
          <p:spPr>
            <a:xfrm>
              <a:off x="1233171" y="2459930"/>
              <a:ext cx="3047427" cy="4252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b="1" dirty="0">
                  <a:solidFill>
                    <a:srgbClr val="373B48"/>
                  </a:solidFill>
                  <a:latin typeface="Funnel Sans" pitchFamily="2" charset="0"/>
                </a:rPr>
                <a:t>Documentation:</a:t>
              </a:r>
            </a:p>
            <a:p>
              <a:pPr marL="0" indent="0" algn="l">
                <a:lnSpc>
                  <a:spcPts val="2850"/>
                </a:lnSpc>
                <a:buNone/>
              </a:pPr>
              <a:endParaRPr lang="en-US" sz="2000" b="1" dirty="0">
                <a:solidFill>
                  <a:srgbClr val="373B48"/>
                </a:solidFill>
                <a:latin typeface="Funnel Sans" pitchFamily="2" charset="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endParaRPr lang="en-US" sz="2000" b="1" dirty="0">
                <a:solidFill>
                  <a:srgbClr val="373B48"/>
                </a:solidFill>
                <a:latin typeface="Funnel Sans" pitchFamily="2" charset="0"/>
              </a:endParaRPr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9EA5C9C5-E93D-623C-233D-8795D1248556}"/>
                </a:ext>
              </a:extLst>
            </p:cNvPr>
            <p:cNvSpPr/>
            <p:nvPr/>
          </p:nvSpPr>
          <p:spPr>
            <a:xfrm>
              <a:off x="1233171" y="3834473"/>
              <a:ext cx="3047427" cy="4252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2000" b="1" dirty="0">
                  <a:solidFill>
                    <a:srgbClr val="373B48"/>
                  </a:solidFill>
                  <a:latin typeface="Funnel Sans" pitchFamily="2" charset="0"/>
                </a:rPr>
                <a:t>Code implementation:</a:t>
              </a:r>
            </a:p>
          </p:txBody>
        </p:sp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CC9438CB-858D-D5BA-4991-D2DFDD9408B5}"/>
                </a:ext>
              </a:extLst>
            </p:cNvPr>
            <p:cNvSpPr/>
            <p:nvPr/>
          </p:nvSpPr>
          <p:spPr>
            <a:xfrm>
              <a:off x="1454234" y="2937225"/>
              <a:ext cx="3368975" cy="8274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Project Report</a:t>
              </a:r>
            </a:p>
            <a:p>
              <a:pPr marL="342900" indent="-342900" algn="l">
                <a:lnSpc>
                  <a:spcPts val="28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Project Presentation 50% </a:t>
              </a:r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BCBC9762-8966-2B46-B034-4817BD2103CE}"/>
                </a:ext>
              </a:extLst>
            </p:cNvPr>
            <p:cNvSpPr/>
            <p:nvPr/>
          </p:nvSpPr>
          <p:spPr>
            <a:xfrm>
              <a:off x="1233171" y="4259764"/>
              <a:ext cx="4926469" cy="1809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rgbClr val="373B48"/>
                  </a:solidFill>
                  <a:latin typeface="Funnel Sans" pitchFamily="2" charset="0"/>
                </a:rPr>
                <a:t>Role: Core Algorithm &amp; Output Logic</a:t>
              </a:r>
              <a:endParaRPr lang="en-US" sz="2000" dirty="0">
                <a:solidFill>
                  <a:srgbClr val="373B48"/>
                </a:solidFill>
                <a:latin typeface="Funnel Sans" pitchFamily="2" charset="0"/>
              </a:endParaRPr>
            </a:p>
            <a:p>
              <a:pPr marL="800100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Comparison Engine</a:t>
              </a:r>
            </a:p>
            <a:p>
              <a:pPr marL="800100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Case Normalization</a:t>
              </a:r>
            </a:p>
            <a:p>
              <a:pPr marL="800100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Result Formatting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CC4DAD-3E25-5BE4-9C66-C3B420C4AC8A}"/>
              </a:ext>
            </a:extLst>
          </p:cNvPr>
          <p:cNvGrpSpPr/>
          <p:nvPr/>
        </p:nvGrpSpPr>
        <p:grpSpPr>
          <a:xfrm>
            <a:off x="1274513" y="2395956"/>
            <a:ext cx="4946178" cy="4137391"/>
            <a:chOff x="8451053" y="1931813"/>
            <a:chExt cx="4946178" cy="4137391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5E1AB893-4DAD-BD38-CA48-8DEAE1B8F394}"/>
                </a:ext>
              </a:extLst>
            </p:cNvPr>
            <p:cNvSpPr/>
            <p:nvPr/>
          </p:nvSpPr>
          <p:spPr>
            <a:xfrm>
              <a:off x="8451053" y="1931813"/>
              <a:ext cx="4474263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373B48"/>
                  </a:solidFill>
                  <a:latin typeface="Mona Sans Expanded" pitchFamily="2" charset="0"/>
                </a:rPr>
                <a:t>Abdullah Rafay - 243619</a:t>
              </a:r>
            </a:p>
          </p:txBody>
        </p: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4477E924-D0CE-0797-145D-CA4914BAEAD5}"/>
                </a:ext>
              </a:extLst>
            </p:cNvPr>
            <p:cNvSpPr/>
            <p:nvPr/>
          </p:nvSpPr>
          <p:spPr>
            <a:xfrm>
              <a:off x="8501293" y="2489083"/>
              <a:ext cx="3047427" cy="4252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b="1" dirty="0">
                  <a:solidFill>
                    <a:srgbClr val="373B48"/>
                  </a:solidFill>
                  <a:latin typeface="Funnel Sans" pitchFamily="2" charset="0"/>
                </a:rPr>
                <a:t>Documentation:</a:t>
              </a:r>
            </a:p>
            <a:p>
              <a:pPr marL="0" indent="0" algn="l">
                <a:lnSpc>
                  <a:spcPts val="2850"/>
                </a:lnSpc>
                <a:buNone/>
              </a:pPr>
              <a:endParaRPr lang="en-US" sz="2000" b="1" dirty="0">
                <a:solidFill>
                  <a:srgbClr val="373B48"/>
                </a:solidFill>
                <a:latin typeface="Funnel Sans" pitchFamily="2" charset="0"/>
              </a:endParaRPr>
            </a:p>
            <a:p>
              <a:pPr marL="0" indent="0" algn="l">
                <a:lnSpc>
                  <a:spcPts val="2850"/>
                </a:lnSpc>
                <a:buNone/>
              </a:pPr>
              <a:endParaRPr lang="en-US" sz="2000" b="1" dirty="0">
                <a:solidFill>
                  <a:srgbClr val="373B48"/>
                </a:solidFill>
                <a:latin typeface="Funnel Sans" pitchFamily="2" charset="0"/>
              </a:endParaRPr>
            </a:p>
          </p:txBody>
        </p:sp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24750A4D-CF8F-78A1-34B1-DFAF6E5833A7}"/>
                </a:ext>
              </a:extLst>
            </p:cNvPr>
            <p:cNvSpPr/>
            <p:nvPr/>
          </p:nvSpPr>
          <p:spPr>
            <a:xfrm>
              <a:off x="8722356" y="2926186"/>
              <a:ext cx="3368975" cy="8274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Project Proposal</a:t>
              </a:r>
            </a:p>
            <a:p>
              <a:pPr marL="342900" indent="-342900" algn="l">
                <a:lnSpc>
                  <a:spcPts val="285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Project Presentation 50% </a:t>
              </a:r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E1359C9C-CA84-DEC3-4883-6E29172B1D65}"/>
                </a:ext>
              </a:extLst>
            </p:cNvPr>
            <p:cNvSpPr/>
            <p:nvPr/>
          </p:nvSpPr>
          <p:spPr>
            <a:xfrm>
              <a:off x="8470762" y="4259764"/>
              <a:ext cx="4926469" cy="1809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rgbClr val="373B48"/>
                  </a:solidFill>
                  <a:latin typeface="Funnel Sans" pitchFamily="2" charset="0"/>
                </a:rPr>
                <a:t>Role: Data Processing &amp; System Flow</a:t>
              </a:r>
              <a:endParaRPr lang="en-US" sz="2000" dirty="0">
                <a:solidFill>
                  <a:srgbClr val="373B48"/>
                </a:solidFill>
                <a:latin typeface="Funnel Sans" pitchFamily="2" charset="0"/>
              </a:endParaRP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Input Sanitization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Buffer Management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373B48"/>
                  </a:solidFill>
                  <a:latin typeface="Funnel Sans" pitchFamily="2" charset="0"/>
                </a:rPr>
                <a:t>Logic Contro</a:t>
              </a:r>
              <a:r>
                <a:rPr lang="en-US" dirty="0">
                  <a:solidFill>
                    <a:srgbClr val="373B48"/>
                  </a:solidFill>
                  <a:latin typeface="Funnel Sans" pitchFamily="2" charset="0"/>
                </a:rPr>
                <a:t>l</a:t>
              </a:r>
            </a:p>
          </p:txBody>
        </p:sp>
        <p:sp>
          <p:nvSpPr>
            <p:cNvPr id="24" name="Text 2">
              <a:extLst>
                <a:ext uri="{FF2B5EF4-FFF2-40B4-BE49-F238E27FC236}">
                  <a16:creationId xmlns:a16="http://schemas.microsoft.com/office/drawing/2014/main" id="{EBDEFA61-F60C-E151-E5E5-B3F2A8B51B5D}"/>
                </a:ext>
              </a:extLst>
            </p:cNvPr>
            <p:cNvSpPr/>
            <p:nvPr/>
          </p:nvSpPr>
          <p:spPr>
            <a:xfrm>
              <a:off x="8470762" y="3834473"/>
              <a:ext cx="3047427" cy="4252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2000" b="1" dirty="0">
                  <a:solidFill>
                    <a:srgbClr val="373B48"/>
                  </a:solidFill>
                  <a:latin typeface="Funnel Sans" pitchFamily="2" charset="0"/>
                </a:rPr>
                <a:t>Code implementation: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6F6504-0B58-7C43-7813-1229F3AC96AE}"/>
              </a:ext>
            </a:extLst>
          </p:cNvPr>
          <p:cNvCxnSpPr/>
          <p:nvPr/>
        </p:nvCxnSpPr>
        <p:spPr>
          <a:xfrm>
            <a:off x="7117524" y="1473339"/>
            <a:ext cx="0" cy="5878286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16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9D3F6ABF-606B-C0AD-9DE2-D9D550DCA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755293"/>
            <a:ext cx="12600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</a:rPr>
              <a:t>Project Overview &amp; Problem Statement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DC86AA-13D1-EDAF-C8B9-EC2E437F67BD}"/>
              </a:ext>
            </a:extLst>
          </p:cNvPr>
          <p:cNvGrpSpPr/>
          <p:nvPr/>
        </p:nvGrpSpPr>
        <p:grpSpPr>
          <a:xfrm>
            <a:off x="1609483" y="1816144"/>
            <a:ext cx="5543157" cy="3411974"/>
            <a:chOff x="763310" y="2990017"/>
            <a:chExt cx="4226838" cy="3411974"/>
          </a:xfrm>
        </p:grpSpPr>
        <p:sp>
          <p:nvSpPr>
            <p:cNvPr id="3" name="Shape 1"/>
            <p:cNvSpPr/>
            <p:nvPr/>
          </p:nvSpPr>
          <p:spPr>
            <a:xfrm>
              <a:off x="793790" y="2990017"/>
              <a:ext cx="4196358" cy="3411974"/>
            </a:xfrm>
            <a:prstGeom prst="roundRect">
              <a:avLst>
                <a:gd name="adj" fmla="val 4288"/>
              </a:avLst>
            </a:prstGeom>
            <a:solidFill>
              <a:srgbClr val="F3F3F3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763310" y="2990017"/>
              <a:ext cx="121920" cy="3411974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142524" y="3247311"/>
              <a:ext cx="3433311" cy="8505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Design &amp; Implementation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142524" y="4233982"/>
              <a:ext cx="35903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Fully functional Palindrome Checker using 8086 Assembly Language.</a:t>
              </a:r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B53FFC4-DBE5-9022-D974-F4A3E2960943}"/>
              </a:ext>
            </a:extLst>
          </p:cNvPr>
          <p:cNvGrpSpPr/>
          <p:nvPr/>
        </p:nvGrpSpPr>
        <p:grpSpPr>
          <a:xfrm>
            <a:off x="7280680" y="1816144"/>
            <a:ext cx="5927584" cy="3411974"/>
            <a:chOff x="7280680" y="1816144"/>
            <a:chExt cx="5927584" cy="3411974"/>
          </a:xfrm>
        </p:grpSpPr>
        <p:sp>
          <p:nvSpPr>
            <p:cNvPr id="7" name="Shape 5"/>
            <p:cNvSpPr/>
            <p:nvPr/>
          </p:nvSpPr>
          <p:spPr>
            <a:xfrm>
              <a:off x="7280680" y="1816144"/>
              <a:ext cx="5892860" cy="3411974"/>
            </a:xfrm>
            <a:prstGeom prst="roundRect">
              <a:avLst>
                <a:gd name="adj" fmla="val 4288"/>
              </a:avLst>
            </a:prstGeom>
            <a:solidFill>
              <a:srgbClr val="F2F2F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3043029" y="1816144"/>
              <a:ext cx="165235" cy="3411974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36A20DE8-3B5A-24BC-7EBF-2B7E610F8B68}"/>
                </a:ext>
              </a:extLst>
            </p:cNvPr>
            <p:cNvSpPr/>
            <p:nvPr/>
          </p:nvSpPr>
          <p:spPr>
            <a:xfrm>
              <a:off x="7607573" y="2018247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Specific Objectives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40" name="Text 8">
              <a:extLst>
                <a:ext uri="{FF2B5EF4-FFF2-40B4-BE49-F238E27FC236}">
                  <a16:creationId xmlns:a16="http://schemas.microsoft.com/office/drawing/2014/main" id="{6C51A3D1-C909-6DEC-6AAB-6CC31390014A}"/>
                </a:ext>
              </a:extLst>
            </p:cNvPr>
            <p:cNvSpPr/>
            <p:nvPr/>
          </p:nvSpPr>
          <p:spPr>
            <a:xfrm>
              <a:off x="7550007" y="2520288"/>
              <a:ext cx="528501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Dynamic Input: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Accept strings of varying lengths (up to 80 chars).</a:t>
              </a:r>
              <a:endParaRPr lang="en-US" sz="1750" dirty="0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C67F2A2D-8367-D95F-6E4A-455E22ED677D}"/>
                </a:ext>
              </a:extLst>
            </p:cNvPr>
            <p:cNvSpPr/>
            <p:nvPr/>
          </p:nvSpPr>
          <p:spPr>
            <a:xfrm>
              <a:off x="7531720" y="3393406"/>
              <a:ext cx="5303306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850"/>
                </a:lnSpc>
                <a:buSzPct val="100000"/>
                <a:buChar char="•"/>
              </a:pPr>
              <a:r>
                <a:rPr lang="en-US" sz="175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Manual Reversal: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Implement algorithms to reverse strings in memory.</a:t>
              </a:r>
              <a:endParaRPr lang="en-US" sz="1750" dirty="0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AB841C74-EC40-ED62-B923-FF03459A6A78}"/>
                </a:ext>
              </a:extLst>
            </p:cNvPr>
            <p:cNvSpPr/>
            <p:nvPr/>
          </p:nvSpPr>
          <p:spPr>
            <a:xfrm>
              <a:off x="7550007" y="4266524"/>
              <a:ext cx="525737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Comparisons: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Perform accurate character-by-character validation.</a:t>
              </a:r>
              <a:endParaRPr lang="en-US" sz="17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868256C-DEE3-385E-F9ED-7894C94F1069}"/>
              </a:ext>
            </a:extLst>
          </p:cNvPr>
          <p:cNvGrpSpPr/>
          <p:nvPr/>
        </p:nvGrpSpPr>
        <p:grpSpPr>
          <a:xfrm>
            <a:off x="1592691" y="5392695"/>
            <a:ext cx="11615573" cy="2304470"/>
            <a:chOff x="1592691" y="5392695"/>
            <a:chExt cx="11648026" cy="230447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43F7615-F3B4-54CC-4E52-E1E2E2DE1497}"/>
                </a:ext>
              </a:extLst>
            </p:cNvPr>
            <p:cNvGrpSpPr/>
            <p:nvPr/>
          </p:nvGrpSpPr>
          <p:grpSpPr>
            <a:xfrm>
              <a:off x="1592691" y="5397880"/>
              <a:ext cx="11615573" cy="2299285"/>
              <a:chOff x="1557966" y="5397880"/>
              <a:chExt cx="11615573" cy="2526920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BF771482-7C3D-9F6E-9C73-09C015B7A3B3}"/>
                  </a:ext>
                </a:extLst>
              </p:cNvPr>
              <p:cNvSpPr/>
              <p:nvPr/>
            </p:nvSpPr>
            <p:spPr>
              <a:xfrm>
                <a:off x="1596515" y="5397880"/>
                <a:ext cx="11577024" cy="2526920"/>
              </a:xfrm>
              <a:prstGeom prst="roundRect">
                <a:avLst>
                  <a:gd name="adj" fmla="val 4288"/>
                </a:avLst>
              </a:prstGeom>
              <a:solidFill>
                <a:srgbClr val="F3F3F3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Shape 2">
                <a:extLst>
                  <a:ext uri="{FF2B5EF4-FFF2-40B4-BE49-F238E27FC236}">
                    <a16:creationId xmlns:a16="http://schemas.microsoft.com/office/drawing/2014/main" id="{BF23F4F7-6984-7416-DDE1-A43A39F59793}"/>
                  </a:ext>
                </a:extLst>
              </p:cNvPr>
              <p:cNvSpPr/>
              <p:nvPr/>
            </p:nvSpPr>
            <p:spPr>
              <a:xfrm>
                <a:off x="1557966" y="5397880"/>
                <a:ext cx="154195" cy="2526920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90F79B2-282F-0A30-D343-4A928C809F27}"/>
                </a:ext>
              </a:extLst>
            </p:cNvPr>
            <p:cNvGrpSpPr/>
            <p:nvPr/>
          </p:nvGrpSpPr>
          <p:grpSpPr>
            <a:xfrm>
              <a:off x="2077018" y="5856932"/>
              <a:ext cx="9196724" cy="1650087"/>
              <a:chOff x="-1389850" y="5397880"/>
              <a:chExt cx="4865888" cy="1650087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-1389850" y="5397880"/>
                <a:ext cx="4611096" cy="4252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Core Functionality</a:t>
                </a:r>
                <a:endParaRPr lang="en-US" sz="2650" b="1" dirty="0">
                  <a:latin typeface="Mona Sans Expanded" pitchFamily="2" charset="0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-1389850" y="5959259"/>
                <a:ext cx="4865888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Accepts user input, processes it, and determines if it reads the same forward and backward.</a:t>
                </a:r>
                <a:endParaRPr lang="en-US" dirty="0"/>
              </a:p>
            </p:txBody>
          </p:sp>
        </p:grpSp>
        <p:sp>
          <p:nvSpPr>
            <p:cNvPr id="48" name="Shape 6">
              <a:extLst>
                <a:ext uri="{FF2B5EF4-FFF2-40B4-BE49-F238E27FC236}">
                  <a16:creationId xmlns:a16="http://schemas.microsoft.com/office/drawing/2014/main" id="{48BA95F9-B672-A69D-CFA2-843F8E801707}"/>
                </a:ext>
              </a:extLst>
            </p:cNvPr>
            <p:cNvSpPr/>
            <p:nvPr/>
          </p:nvSpPr>
          <p:spPr>
            <a:xfrm>
              <a:off x="13062177" y="5392695"/>
              <a:ext cx="178540" cy="2304469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A133F8AE-B775-ADC9-73CE-C427E4F7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963817"/>
            <a:ext cx="9409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Introduction &amp; Problem Statement</a:t>
            </a:r>
            <a:endParaRPr lang="en-US" sz="4450" b="1" dirty="0">
              <a:latin typeface="Mona Sans Expanded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596AF7-4A32-2614-0B29-1F075E05C212}"/>
              </a:ext>
            </a:extLst>
          </p:cNvPr>
          <p:cNvGrpSpPr/>
          <p:nvPr/>
        </p:nvGrpSpPr>
        <p:grpSpPr>
          <a:xfrm>
            <a:off x="789087" y="3126224"/>
            <a:ext cx="6412647" cy="3139440"/>
            <a:chOff x="789087" y="3126224"/>
            <a:chExt cx="6412647" cy="3139440"/>
          </a:xfrm>
        </p:grpSpPr>
        <p:sp>
          <p:nvSpPr>
            <p:cNvPr id="3" name="Shape 1"/>
            <p:cNvSpPr/>
            <p:nvPr/>
          </p:nvSpPr>
          <p:spPr>
            <a:xfrm>
              <a:off x="793790" y="3126224"/>
              <a:ext cx="6407944" cy="3139440"/>
            </a:xfrm>
            <a:prstGeom prst="roundRect">
              <a:avLst>
                <a:gd name="adj" fmla="val 3035"/>
              </a:avLst>
            </a:prstGeom>
            <a:solidFill>
              <a:srgbClr val="F2F2F2"/>
            </a:solidFill>
            <a:ln w="7620">
              <a:solidFill>
                <a:schemeClr val="bg2">
                  <a:lumMod val="25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028224" y="3360658"/>
              <a:ext cx="367510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What is a Palindrome?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028224" y="3922038"/>
              <a:ext cx="5939076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 sequence of characters reading the same forward and backward (e.g., "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MADAM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", "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racecar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").</a:t>
              </a:r>
              <a:endParaRPr lang="en-US" sz="1750" dirty="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2AA65F77-475A-79F9-268C-4E3F4F6C0743}"/>
                </a:ext>
              </a:extLst>
            </p:cNvPr>
            <p:cNvSpPr/>
            <p:nvPr/>
          </p:nvSpPr>
          <p:spPr>
            <a:xfrm>
              <a:off x="789087" y="3126224"/>
              <a:ext cx="121920" cy="3139440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baseline="-250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F85167-EB08-CDDF-568E-C971B91B8034}"/>
              </a:ext>
            </a:extLst>
          </p:cNvPr>
          <p:cNvGrpSpPr/>
          <p:nvPr/>
        </p:nvGrpSpPr>
        <p:grpSpPr>
          <a:xfrm>
            <a:off x="7423845" y="3126224"/>
            <a:ext cx="6412766" cy="3139440"/>
            <a:chOff x="7423845" y="3126224"/>
            <a:chExt cx="6412766" cy="3139440"/>
          </a:xfrm>
        </p:grpSpPr>
        <p:sp>
          <p:nvSpPr>
            <p:cNvPr id="6" name="Shape 4"/>
            <p:cNvSpPr/>
            <p:nvPr/>
          </p:nvSpPr>
          <p:spPr>
            <a:xfrm>
              <a:off x="7428548" y="3126224"/>
              <a:ext cx="6408063" cy="3139440"/>
            </a:xfrm>
            <a:prstGeom prst="roundRect">
              <a:avLst>
                <a:gd name="adj" fmla="val 3035"/>
              </a:avLst>
            </a:prstGeom>
            <a:solidFill>
              <a:srgbClr val="F2F2F2"/>
            </a:solidFill>
            <a:ln w="7620">
              <a:solidFill>
                <a:schemeClr val="bg2">
                  <a:lumMod val="25000"/>
                </a:scheme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62982" y="3360658"/>
              <a:ext cx="4426625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The Challenge in Assembly</a:t>
              </a:r>
              <a:endParaRPr lang="en-US" sz="2650" b="1" dirty="0">
                <a:latin typeface="Mona Sans Expanded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662982" y="3922038"/>
              <a:ext cx="593919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High-level languages have built-in reversal functions; Assembly does not. Requires manual handling of:</a:t>
              </a:r>
              <a:endParaRPr lang="en-US" sz="17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62982" y="4783931"/>
              <a:ext cx="593919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Memory allocation for strings.</a:t>
              </a:r>
              <a:endParaRPr lang="en-US" sz="17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62982" y="5226129"/>
              <a:ext cx="593919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Byte-by-byte comparison loops.</a:t>
              </a:r>
              <a:endParaRPr lang="en-US" sz="17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662982" y="5668327"/>
              <a:ext cx="593919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ASCII arithmetic for case conversion.</a:t>
              </a:r>
              <a:endParaRPr lang="en-US" sz="1750" dirty="0"/>
            </a:p>
          </p:txBody>
        </p:sp>
        <p:sp>
          <p:nvSpPr>
            <p:cNvPr id="13" name="Shape 2">
              <a:extLst>
                <a:ext uri="{FF2B5EF4-FFF2-40B4-BE49-F238E27FC236}">
                  <a16:creationId xmlns:a16="http://schemas.microsoft.com/office/drawing/2014/main" id="{EF3E3B4B-EFF2-F502-A632-FEB003645771}"/>
                </a:ext>
              </a:extLst>
            </p:cNvPr>
            <p:cNvSpPr/>
            <p:nvPr/>
          </p:nvSpPr>
          <p:spPr>
            <a:xfrm>
              <a:off x="7423845" y="3126224"/>
              <a:ext cx="121920" cy="3139440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350F205B-332C-533E-A365-24042F82E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080022"/>
            <a:ext cx="9341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Key Innovations (Unique Features)</a:t>
            </a:r>
            <a:endParaRPr lang="en-US" sz="4450" b="1" dirty="0">
              <a:latin typeface="Mona Sans Expanded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D407DF7-7A84-4778-B6CB-B56958A65D77}"/>
              </a:ext>
            </a:extLst>
          </p:cNvPr>
          <p:cNvGrpSpPr/>
          <p:nvPr/>
        </p:nvGrpSpPr>
        <p:grpSpPr>
          <a:xfrm>
            <a:off x="9492389" y="3253043"/>
            <a:ext cx="4358135" cy="2907149"/>
            <a:chOff x="9486424" y="3234809"/>
            <a:chExt cx="4358135" cy="2907149"/>
          </a:xfrm>
        </p:grpSpPr>
        <p:sp>
          <p:nvSpPr>
            <p:cNvPr id="13" name="Shape 10"/>
            <p:cNvSpPr/>
            <p:nvPr/>
          </p:nvSpPr>
          <p:spPr>
            <a:xfrm>
              <a:off x="9486424" y="3250049"/>
              <a:ext cx="4342567" cy="2891909"/>
            </a:xfrm>
            <a:prstGeom prst="rect">
              <a:avLst/>
            </a:prstGeom>
            <a:solidFill>
              <a:srgbClr val="F2F2F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9872855" y="3468845"/>
              <a:ext cx="3925655" cy="8505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Advanced Sanitization</a:t>
              </a:r>
              <a:endParaRPr lang="en-US" sz="2400" b="1" dirty="0">
                <a:latin typeface="Mona Sans Expanded" pitchFamily="2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9914842" y="4096952"/>
              <a:ext cx="3548777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Filters out spaces, punctuation, and symbols for sentence-level checking (e.g., "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Madam, I'm Adam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 → "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MADAMIMADAM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").</a:t>
              </a:r>
              <a:endParaRPr lang="en-US" sz="1750" dirty="0"/>
            </a:p>
          </p:txBody>
        </p:sp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38667AF4-AB78-7929-7C1D-8A66D5F0BC12}"/>
                </a:ext>
              </a:extLst>
            </p:cNvPr>
            <p:cNvSpPr/>
            <p:nvPr/>
          </p:nvSpPr>
          <p:spPr>
            <a:xfrm>
              <a:off x="13716627" y="3234809"/>
              <a:ext cx="127932" cy="2907149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baseline="-25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4EBC2A-240A-7E55-CF1B-A341B91FF3D0}"/>
              </a:ext>
            </a:extLst>
          </p:cNvPr>
          <p:cNvGrpSpPr/>
          <p:nvPr/>
        </p:nvGrpSpPr>
        <p:grpSpPr>
          <a:xfrm>
            <a:off x="5146839" y="3265289"/>
            <a:ext cx="4342567" cy="2891909"/>
            <a:chOff x="5146839" y="3265289"/>
            <a:chExt cx="4342567" cy="289190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FC2E5E-FC22-C48F-920E-D23469E4BF1C}"/>
                </a:ext>
              </a:extLst>
            </p:cNvPr>
            <p:cNvGrpSpPr/>
            <p:nvPr/>
          </p:nvGrpSpPr>
          <p:grpSpPr>
            <a:xfrm>
              <a:off x="5146839" y="3265289"/>
              <a:ext cx="4342567" cy="2891909"/>
              <a:chOff x="5146839" y="3265289"/>
              <a:chExt cx="4342567" cy="2891909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5146839" y="3265289"/>
                <a:ext cx="4342567" cy="2891909"/>
              </a:xfrm>
              <a:prstGeom prst="rect">
                <a:avLst/>
              </a:prstGeom>
              <a:solidFill>
                <a:srgbClr val="F2F2F2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5713815" y="4108898"/>
                <a:ext cx="3208615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Converts all input to Uppercase before checking; "</a:t>
                </a:r>
                <a:r>
                  <a:rPr lang="en-US" sz="1750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Madam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 matches "madam".</a:t>
                </a:r>
                <a:endParaRPr lang="en-US" sz="1750" dirty="0"/>
              </a:p>
            </p:txBody>
          </p:sp>
        </p:grpSp>
        <p:sp>
          <p:nvSpPr>
            <p:cNvPr id="9" name="Text 7"/>
            <p:cNvSpPr/>
            <p:nvPr/>
          </p:nvSpPr>
          <p:spPr>
            <a:xfrm>
              <a:off x="5713815" y="3492103"/>
              <a:ext cx="3208615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Case-Insensitivity</a:t>
              </a:r>
              <a:endParaRPr lang="en-US" sz="2650" b="1" dirty="0">
                <a:latin typeface="Mona Sans Expanded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2C9765F-72C6-9A4A-9E59-14FEF28F42A6}"/>
              </a:ext>
            </a:extLst>
          </p:cNvPr>
          <p:cNvGrpSpPr/>
          <p:nvPr/>
        </p:nvGrpSpPr>
        <p:grpSpPr>
          <a:xfrm>
            <a:off x="785841" y="3250049"/>
            <a:ext cx="4354771" cy="2907149"/>
            <a:chOff x="785841" y="3250049"/>
            <a:chExt cx="4354771" cy="2907149"/>
          </a:xfrm>
        </p:grpSpPr>
        <p:sp>
          <p:nvSpPr>
            <p:cNvPr id="4" name="Shape 2"/>
            <p:cNvSpPr>
              <a:spLocks/>
            </p:cNvSpPr>
            <p:nvPr/>
          </p:nvSpPr>
          <p:spPr>
            <a:xfrm>
              <a:off x="798164" y="3257669"/>
              <a:ext cx="4342448" cy="2891909"/>
            </a:xfrm>
            <a:prstGeom prst="roundRect">
              <a:avLst>
                <a:gd name="adj" fmla="val 3294"/>
              </a:avLst>
            </a:prstGeom>
            <a:solidFill>
              <a:srgbClr val="F2F2F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>
              <a:spLocks/>
            </p:cNvSpPr>
            <p:nvPr/>
          </p:nvSpPr>
          <p:spPr>
            <a:xfrm>
              <a:off x="1024978" y="3484483"/>
              <a:ext cx="4001182" cy="8505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Dynamic String</a:t>
              </a:r>
            </a:p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Length</a:t>
              </a:r>
              <a:endParaRPr lang="en-US" sz="2400" b="1" dirty="0">
                <a:latin typeface="Mona Sans Expanded" pitchFamily="2" charset="0"/>
              </a:endParaRPr>
            </a:p>
          </p:txBody>
        </p:sp>
        <p:sp>
          <p:nvSpPr>
            <p:cNvPr id="6" name="Text 4"/>
            <p:cNvSpPr>
              <a:spLocks/>
            </p:cNvSpPr>
            <p:nvPr/>
          </p:nvSpPr>
          <p:spPr>
            <a:xfrm>
              <a:off x="1024978" y="4413281"/>
              <a:ext cx="3548658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Uses buffered input (INT 21H / 0AH) for practical string sizes.</a:t>
              </a:r>
              <a:endParaRPr lang="en-US" sz="1750" dirty="0"/>
            </a:p>
          </p:txBody>
        </p:sp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D9A66D74-32E5-88FA-195C-5E1E778F0CB5}"/>
                </a:ext>
              </a:extLst>
            </p:cNvPr>
            <p:cNvSpPr>
              <a:spLocks/>
            </p:cNvSpPr>
            <p:nvPr/>
          </p:nvSpPr>
          <p:spPr>
            <a:xfrm>
              <a:off x="785841" y="3250049"/>
              <a:ext cx="127932" cy="2907149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7499BA2D-FB83-542D-0031-05D4513D88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Text 0"/>
          <p:cNvSpPr/>
          <p:nvPr/>
        </p:nvSpPr>
        <p:spPr>
          <a:xfrm>
            <a:off x="793790" y="1039535"/>
            <a:ext cx="9661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Theoretical Framework &amp; Concepts</a:t>
            </a:r>
            <a:endParaRPr lang="en-US" sz="4450" b="1" dirty="0">
              <a:latin typeface="Mona Sans Expanded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04EB55-26B9-6D31-BBD3-F9881710B81D}"/>
              </a:ext>
            </a:extLst>
          </p:cNvPr>
          <p:cNvGrpSpPr/>
          <p:nvPr/>
        </p:nvGrpSpPr>
        <p:grpSpPr>
          <a:xfrm>
            <a:off x="793790" y="2511623"/>
            <a:ext cx="6407944" cy="2190870"/>
            <a:chOff x="793790" y="2511623"/>
            <a:chExt cx="6407944" cy="21908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318AE95-876A-0C9A-97AC-0EA772B618E9}"/>
                </a:ext>
              </a:extLst>
            </p:cNvPr>
            <p:cNvGrpSpPr/>
            <p:nvPr/>
          </p:nvGrpSpPr>
          <p:grpSpPr>
            <a:xfrm>
              <a:off x="793790" y="2511623"/>
              <a:ext cx="6407944" cy="2190870"/>
              <a:chOff x="793790" y="2511623"/>
              <a:chExt cx="6407944" cy="2190870"/>
            </a:xfrm>
          </p:grpSpPr>
          <p:sp>
            <p:nvSpPr>
              <p:cNvPr id="30" name="Rectangle: Top Corners Rounded 29">
                <a:extLst>
                  <a:ext uri="{FF2B5EF4-FFF2-40B4-BE49-F238E27FC236}">
                    <a16:creationId xmlns:a16="http://schemas.microsoft.com/office/drawing/2014/main" id="{D4FAACC3-5122-9F20-022F-3B5586368D88}"/>
                  </a:ext>
                </a:extLst>
              </p:cNvPr>
              <p:cNvSpPr/>
              <p:nvPr/>
            </p:nvSpPr>
            <p:spPr>
              <a:xfrm rot="10800000">
                <a:off x="809030" y="2511623"/>
                <a:ext cx="6377464" cy="2190870"/>
              </a:xfrm>
              <a:prstGeom prst="round2SameRect">
                <a:avLst/>
              </a:prstGeom>
              <a:solidFill>
                <a:srgbClr val="F2F2F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Shape 2"/>
              <p:cNvSpPr/>
              <p:nvPr/>
            </p:nvSpPr>
            <p:spPr>
              <a:xfrm>
                <a:off x="793790" y="2511623"/>
                <a:ext cx="6407944" cy="121920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" name="Text 5"/>
            <p:cNvSpPr/>
            <p:nvPr/>
          </p:nvSpPr>
          <p:spPr>
            <a:xfrm>
              <a:off x="1051084" y="3109079"/>
              <a:ext cx="3110032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Modular Programming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51084" y="3599497"/>
              <a:ext cx="5893356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Code structured into procedures 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(TO_UPPER, SANITIZE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, 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COMPARE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) for reusability and debugging.</a:t>
              </a:r>
              <a:endParaRPr lang="en-US" sz="17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4AD6EE3-FCBD-E2E5-2BE2-6C234BE0A727}"/>
              </a:ext>
            </a:extLst>
          </p:cNvPr>
          <p:cNvGrpSpPr/>
          <p:nvPr/>
        </p:nvGrpSpPr>
        <p:grpSpPr>
          <a:xfrm>
            <a:off x="793790" y="5119092"/>
            <a:ext cx="6407944" cy="2255481"/>
            <a:chOff x="793790" y="5119092"/>
            <a:chExt cx="6407944" cy="225548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D7A4895-6F29-3989-00B0-5290B6D044C4}"/>
                </a:ext>
              </a:extLst>
            </p:cNvPr>
            <p:cNvGrpSpPr/>
            <p:nvPr/>
          </p:nvGrpSpPr>
          <p:grpSpPr>
            <a:xfrm>
              <a:off x="793790" y="5119092"/>
              <a:ext cx="6407944" cy="2255481"/>
              <a:chOff x="793790" y="5119092"/>
              <a:chExt cx="6407944" cy="2255481"/>
            </a:xfrm>
          </p:grpSpPr>
          <p:sp>
            <p:nvSpPr>
              <p:cNvPr id="32" name="Rectangle: Top Corners Rounded 31">
                <a:extLst>
                  <a:ext uri="{FF2B5EF4-FFF2-40B4-BE49-F238E27FC236}">
                    <a16:creationId xmlns:a16="http://schemas.microsoft.com/office/drawing/2014/main" id="{BB770833-DC77-CF41-A0A1-A5AF669F36C4}"/>
                  </a:ext>
                </a:extLst>
              </p:cNvPr>
              <p:cNvSpPr/>
              <p:nvPr/>
            </p:nvSpPr>
            <p:spPr>
              <a:xfrm rot="10800000">
                <a:off x="801410" y="5183703"/>
                <a:ext cx="6377464" cy="2190870"/>
              </a:xfrm>
              <a:prstGeom prst="round2SameRect">
                <a:avLst/>
              </a:prstGeom>
              <a:solidFill>
                <a:srgbClr val="F2F2F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793790" y="5119092"/>
                <a:ext cx="6407944" cy="121920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9" name="Text 17"/>
            <p:cNvSpPr/>
            <p:nvPr/>
          </p:nvSpPr>
          <p:spPr>
            <a:xfrm>
              <a:off x="1051084" y="571654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Indexed Addressing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051084" y="6206966"/>
              <a:ext cx="5893356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Extensive use of Source Index (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SI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) and Destination Index (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DI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) for traversing buffers.</a:t>
              </a:r>
              <a:endParaRPr lang="en-US" sz="175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2AEC31-0BEF-E569-7D9F-7F18E2F5F11F}"/>
              </a:ext>
            </a:extLst>
          </p:cNvPr>
          <p:cNvGrpSpPr/>
          <p:nvPr/>
        </p:nvGrpSpPr>
        <p:grpSpPr>
          <a:xfrm>
            <a:off x="7428548" y="5119092"/>
            <a:ext cx="6408063" cy="2260404"/>
            <a:chOff x="7428548" y="5119092"/>
            <a:chExt cx="6408063" cy="226040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1D3A1C6-C69D-643B-95C8-57ECE6C06419}"/>
                </a:ext>
              </a:extLst>
            </p:cNvPr>
            <p:cNvGrpSpPr/>
            <p:nvPr/>
          </p:nvGrpSpPr>
          <p:grpSpPr>
            <a:xfrm>
              <a:off x="7428548" y="5119092"/>
              <a:ext cx="6408063" cy="2260404"/>
              <a:chOff x="7428548" y="5119092"/>
              <a:chExt cx="6408063" cy="2260404"/>
            </a:xfrm>
          </p:grpSpPr>
          <p:sp>
            <p:nvSpPr>
              <p:cNvPr id="33" name="Rectangle: Top Corners Rounded 32">
                <a:extLst>
                  <a:ext uri="{FF2B5EF4-FFF2-40B4-BE49-F238E27FC236}">
                    <a16:creationId xmlns:a16="http://schemas.microsoft.com/office/drawing/2014/main" id="{84C61BC7-3F2B-8FBF-F50A-3FFAF381D1F2}"/>
                  </a:ext>
                </a:extLst>
              </p:cNvPr>
              <p:cNvSpPr/>
              <p:nvPr/>
            </p:nvSpPr>
            <p:spPr>
              <a:xfrm rot="10800000">
                <a:off x="7435890" y="5188626"/>
                <a:ext cx="6377464" cy="2190870"/>
              </a:xfrm>
              <a:prstGeom prst="round2SameRect">
                <a:avLst/>
              </a:prstGeom>
              <a:solidFill>
                <a:srgbClr val="ECECEC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7428548" y="5119092"/>
                <a:ext cx="6408063" cy="121920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5" name="Text 23"/>
            <p:cNvSpPr/>
            <p:nvPr/>
          </p:nvSpPr>
          <p:spPr>
            <a:xfrm>
              <a:off x="7685842" y="571654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Stack Operations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7685842" y="6206966"/>
              <a:ext cx="589347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Uses 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PUSH/POP 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to preserve register states during procedure calls.</a:t>
              </a:r>
              <a:endParaRPr lang="en-US" sz="17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0D83426-AC2B-096F-F297-9F33D81D828D}"/>
              </a:ext>
            </a:extLst>
          </p:cNvPr>
          <p:cNvGrpSpPr/>
          <p:nvPr/>
        </p:nvGrpSpPr>
        <p:grpSpPr>
          <a:xfrm>
            <a:off x="7428548" y="2511623"/>
            <a:ext cx="6408063" cy="2200395"/>
            <a:chOff x="7428548" y="2511623"/>
            <a:chExt cx="6408063" cy="2200395"/>
          </a:xfrm>
        </p:grpSpPr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49A7708A-9BE0-9388-AAC5-00B1608F944D}"/>
                </a:ext>
              </a:extLst>
            </p:cNvPr>
            <p:cNvSpPr/>
            <p:nvPr/>
          </p:nvSpPr>
          <p:spPr>
            <a:xfrm rot="10800000">
              <a:off x="7438430" y="2521148"/>
              <a:ext cx="6377464" cy="2190870"/>
            </a:xfrm>
            <a:prstGeom prst="round2SameRect">
              <a:avLst/>
            </a:prstGeom>
            <a:solidFill>
              <a:srgbClr val="F2F2F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685842" y="3109079"/>
              <a:ext cx="3145750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Memory Segmentation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685842" y="3599497"/>
              <a:ext cx="589347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Manual initialization of the Extra Segment (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ES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) to match the Data Segment (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DS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) for string operations.</a:t>
              </a:r>
              <a:endParaRPr lang="en-US" sz="17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428548" y="2511623"/>
              <a:ext cx="6408063" cy="121920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89EBDF01-E58A-552C-5FC3-AFF7CFEB6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768673"/>
            <a:ext cx="64817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Detailed Module Design</a:t>
            </a:r>
            <a:endParaRPr lang="en-US" sz="4450" b="1" dirty="0">
              <a:latin typeface="Mona Sans Expande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20604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2586B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TO_UPPER_CASE</a:t>
            </a:r>
            <a:endParaRPr lang="en-US" sz="2200" b="1" dirty="0">
              <a:latin typeface="Mona Sans Expande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0604" y="455556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Iterates through the raw buffer, converting '</a:t>
            </a:r>
            <a:r>
              <a:rPr lang="en-US" sz="1750" dirty="0">
                <a:solidFill>
                  <a:schemeClr val="accent3">
                    <a:lumMod val="7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'-'</a:t>
            </a:r>
            <a:r>
              <a:rPr lang="en-US" sz="1750" dirty="0">
                <a:solidFill>
                  <a:schemeClr val="accent3">
                    <a:lumMod val="7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' to '</a:t>
            </a:r>
            <a:r>
              <a:rPr lang="en-US" sz="1750" dirty="0">
                <a:solidFill>
                  <a:schemeClr val="accent3">
                    <a:lumMod val="7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'-'</a:t>
            </a:r>
            <a:r>
              <a:rPr lang="en-US" sz="1750" dirty="0">
                <a:solidFill>
                  <a:schemeClr val="accent3">
                    <a:lumMod val="7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Z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' using ASCII arithmetic (Subtract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32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368171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2586B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SANITIZE_INPUT</a:t>
            </a:r>
            <a:endParaRPr lang="en-US" sz="2200" b="1" dirty="0">
              <a:latin typeface="Mona Sans Expanded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68171" y="4555569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Filters input, moving only alphanumeric characters to a clean buffer, discarding punctuation and spaces.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715738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2586B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REVERSE_STRING</a:t>
            </a:r>
            <a:endParaRPr lang="en-US" sz="2200" b="1" dirty="0">
              <a:latin typeface="Mona Sans Expanded" pitchFamily="2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715738" y="4555569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Reads from the end of the clean string using pointers and writes to the beginning of the </a:t>
            </a:r>
            <a:r>
              <a:rPr lang="en-US" sz="1750" dirty="0">
                <a:solidFill>
                  <a:schemeClr val="accent3">
                    <a:lumMod val="75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REVERSED_STR 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buffer.</a:t>
            </a:r>
            <a:endParaRPr lang="en-US" sz="1750" dirty="0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0E468C5C-4D30-0A62-0E60-6D1637521A00}"/>
              </a:ext>
            </a:extLst>
          </p:cNvPr>
          <p:cNvSpPr/>
          <p:nvPr/>
        </p:nvSpPr>
        <p:spPr>
          <a:xfrm>
            <a:off x="851665" y="2908399"/>
            <a:ext cx="4120753" cy="997982"/>
          </a:xfrm>
          <a:prstGeom prst="round2DiagRect">
            <a:avLst/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1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BED6357E-815F-2327-032C-1CE41B2C6FC1}"/>
              </a:ext>
            </a:extLst>
          </p:cNvPr>
          <p:cNvSpPr/>
          <p:nvPr/>
        </p:nvSpPr>
        <p:spPr>
          <a:xfrm>
            <a:off x="5141357" y="2908399"/>
            <a:ext cx="4120753" cy="997982"/>
          </a:xfrm>
          <a:prstGeom prst="round2DiagRect">
            <a:avLst/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2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A7C2AE4C-854E-EBBA-DF7E-F5716E0586BC}"/>
              </a:ext>
            </a:extLst>
          </p:cNvPr>
          <p:cNvSpPr/>
          <p:nvPr/>
        </p:nvSpPr>
        <p:spPr>
          <a:xfrm>
            <a:off x="9431049" y="2908399"/>
            <a:ext cx="4120753" cy="997982"/>
          </a:xfrm>
          <a:prstGeom prst="round2DiagRect">
            <a:avLst/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Lucida Fax" panose="02060602050505020204" pitchFamily="18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558F55CC-C35F-06BE-7CF3-EF0B8CF9D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768310"/>
            <a:ext cx="680489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System Architecture &amp; Flow</a:t>
            </a:r>
            <a:endParaRPr lang="en-US" sz="4000" b="1" dirty="0">
              <a:latin typeface="Mona Sans Expanded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6D99F-B590-9ACE-148D-A4B94D9E1A3C}"/>
              </a:ext>
            </a:extLst>
          </p:cNvPr>
          <p:cNvGrpSpPr/>
          <p:nvPr/>
        </p:nvGrpSpPr>
        <p:grpSpPr>
          <a:xfrm>
            <a:off x="793789" y="1734430"/>
            <a:ext cx="13042822" cy="1450801"/>
            <a:chOff x="793789" y="1734430"/>
            <a:chExt cx="13042822" cy="145080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C7501B7-4645-4A2C-D0CC-370A0890CBB0}"/>
                </a:ext>
              </a:extLst>
            </p:cNvPr>
            <p:cNvGrpSpPr/>
            <p:nvPr/>
          </p:nvGrpSpPr>
          <p:grpSpPr>
            <a:xfrm>
              <a:off x="793789" y="1734430"/>
              <a:ext cx="13042822" cy="1450801"/>
              <a:chOff x="793789" y="1734430"/>
              <a:chExt cx="13042822" cy="1450801"/>
            </a:xfrm>
          </p:grpSpPr>
          <p:sp>
            <p:nvSpPr>
              <p:cNvPr id="4" name="Text 1"/>
              <p:cNvSpPr/>
              <p:nvPr/>
            </p:nvSpPr>
            <p:spPr>
              <a:xfrm>
                <a:off x="2018586" y="2018586"/>
                <a:ext cx="2665690" cy="318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00"/>
                  </a:lnSpc>
                  <a:buNone/>
                </a:pPr>
                <a:r>
                  <a:rPr lang="en-US" sz="20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Step 1: Input Handling</a:t>
                </a:r>
                <a:endParaRPr lang="en-US" sz="2000" b="1" dirty="0">
                  <a:latin typeface="Mona Sans Expanded" pitchFamily="2" charset="0"/>
                </a:endParaRPr>
              </a:p>
            </p:txBody>
          </p:sp>
          <p:sp>
            <p:nvSpPr>
              <p:cNvPr id="5" name="Text 2"/>
              <p:cNvSpPr/>
              <p:nvPr/>
            </p:nvSpPr>
            <p:spPr>
              <a:xfrm>
                <a:off x="2018586" y="2459831"/>
                <a:ext cx="11818025" cy="3267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550"/>
                  </a:lnSpc>
                  <a:buNone/>
                </a:pPr>
                <a:r>
                  <a:rPr lang="en-US" sz="160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Captures user input into a buffer using DOS Interrupts.</a:t>
                </a:r>
                <a:endParaRPr lang="en-US" sz="1600" dirty="0"/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0F129167-BB3B-8035-EEB4-3AEBD18F79AD}"/>
                  </a:ext>
                </a:extLst>
              </p:cNvPr>
              <p:cNvSpPr/>
              <p:nvPr/>
            </p:nvSpPr>
            <p:spPr>
              <a:xfrm rot="5400000">
                <a:off x="578750" y="1949469"/>
                <a:ext cx="1450801" cy="1020723"/>
              </a:xfrm>
              <a:prstGeom prst="chevron">
                <a:avLst/>
              </a:prstGeom>
              <a:solidFill>
                <a:srgbClr val="ECECEC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4DAE65-ADE1-F073-8023-76E8ACADB996}"/>
                </a:ext>
              </a:extLst>
            </p:cNvPr>
            <p:cNvSpPr txBox="1"/>
            <p:nvPr/>
          </p:nvSpPr>
          <p:spPr>
            <a:xfrm>
              <a:off x="1096983" y="2407419"/>
              <a:ext cx="4783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  <a:latin typeface="Lucida Fax" panose="02060602050505020204" pitchFamily="18" charset="0"/>
                </a:rPr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C1549F-301D-26F3-5728-BFD4FC7FA024}"/>
              </a:ext>
            </a:extLst>
          </p:cNvPr>
          <p:cNvGrpSpPr/>
          <p:nvPr/>
        </p:nvGrpSpPr>
        <p:grpSpPr>
          <a:xfrm>
            <a:off x="793790" y="2843036"/>
            <a:ext cx="13042821" cy="1450801"/>
            <a:chOff x="793790" y="2843036"/>
            <a:chExt cx="13042821" cy="1450801"/>
          </a:xfrm>
        </p:grpSpPr>
        <p:sp>
          <p:nvSpPr>
            <p:cNvPr id="7" name="Text 3"/>
            <p:cNvSpPr/>
            <p:nvPr/>
          </p:nvSpPr>
          <p:spPr>
            <a:xfrm>
              <a:off x="2018586" y="3243382"/>
              <a:ext cx="4095869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Step 2: Validation &amp; Logic Control</a:t>
              </a:r>
              <a:endParaRPr lang="en-US" sz="2000" b="1" dirty="0">
                <a:latin typeface="Mona Sans Expanded" pitchFamily="2" charset="0"/>
              </a:endParaRPr>
            </a:p>
          </p:txBody>
        </p:sp>
        <p:sp>
          <p:nvSpPr>
            <p:cNvPr id="8" name="Text 4"/>
            <p:cNvSpPr/>
            <p:nvPr/>
          </p:nvSpPr>
          <p:spPr>
            <a:xfrm>
              <a:off x="2018586" y="3684627"/>
              <a:ext cx="11818025" cy="326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Checks for empty input or "</a:t>
              </a: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EXIT</a:t>
              </a:r>
              <a:r>
                <a:rPr lang="en-US" sz="16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 command.</a:t>
              </a:r>
              <a:endParaRPr lang="en-US" sz="16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E3B982-E487-4024-6A2B-2E18F6638C9E}"/>
                </a:ext>
              </a:extLst>
            </p:cNvPr>
            <p:cNvGrpSpPr/>
            <p:nvPr/>
          </p:nvGrpSpPr>
          <p:grpSpPr>
            <a:xfrm>
              <a:off x="793790" y="2843036"/>
              <a:ext cx="1020723" cy="1450801"/>
              <a:chOff x="793790" y="2843036"/>
              <a:chExt cx="1020723" cy="1450801"/>
            </a:xfrm>
          </p:grpSpPr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981F830C-4440-4D41-DA6D-49EEDE0B6D7D}"/>
                  </a:ext>
                </a:extLst>
              </p:cNvPr>
              <p:cNvSpPr/>
              <p:nvPr/>
            </p:nvSpPr>
            <p:spPr>
              <a:xfrm rot="5400000">
                <a:off x="578751" y="3058075"/>
                <a:ext cx="1450801" cy="1020723"/>
              </a:xfrm>
              <a:prstGeom prst="chevron">
                <a:avLst/>
              </a:prstGeom>
              <a:solidFill>
                <a:srgbClr val="ECECEC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CA76182-60CC-A89B-3B65-4F5479EB5DF8}"/>
                  </a:ext>
                </a:extLst>
              </p:cNvPr>
              <p:cNvSpPr txBox="1"/>
              <p:nvPr/>
            </p:nvSpPr>
            <p:spPr>
              <a:xfrm>
                <a:off x="1098911" y="3474219"/>
                <a:ext cx="4783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  <a:latin typeface="Lucida Fax" panose="02060602050505020204" pitchFamily="18" charset="0"/>
                  </a:rPr>
                  <a:t>2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CAD48-62AD-844E-FD16-070E7503233F}"/>
              </a:ext>
            </a:extLst>
          </p:cNvPr>
          <p:cNvGrpSpPr/>
          <p:nvPr/>
        </p:nvGrpSpPr>
        <p:grpSpPr>
          <a:xfrm>
            <a:off x="793787" y="3951642"/>
            <a:ext cx="13042824" cy="2401041"/>
            <a:chOff x="793787" y="3951642"/>
            <a:chExt cx="13042824" cy="2401041"/>
          </a:xfrm>
        </p:grpSpPr>
        <p:sp>
          <p:nvSpPr>
            <p:cNvPr id="10" name="Text 5"/>
            <p:cNvSpPr/>
            <p:nvPr/>
          </p:nvSpPr>
          <p:spPr>
            <a:xfrm>
              <a:off x="2018586" y="4468178"/>
              <a:ext cx="3283029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Step 3: Processing Pipeline</a:t>
              </a:r>
              <a:endParaRPr lang="en-US" sz="2000" b="1" dirty="0">
                <a:latin typeface="Mona Sans Expanded" pitchFamily="2" charset="0"/>
              </a:endParaRPr>
            </a:p>
          </p:txBody>
        </p:sp>
        <p:sp>
          <p:nvSpPr>
            <p:cNvPr id="11" name="Text 6"/>
            <p:cNvSpPr/>
            <p:nvPr/>
          </p:nvSpPr>
          <p:spPr>
            <a:xfrm>
              <a:off x="2018586" y="4909423"/>
              <a:ext cx="11818025" cy="326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Normalization:</a:t>
              </a:r>
              <a:r>
                <a:rPr lang="en-US" sz="16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Convert to Uppercase.</a:t>
              </a:r>
              <a:endParaRPr lang="en-US" sz="16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2018586" y="5307568"/>
              <a:ext cx="11818025" cy="326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Sanitization:</a:t>
              </a:r>
              <a:r>
                <a:rPr lang="en-US" sz="16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Remove non-alphanumeric characters.</a:t>
              </a:r>
              <a:endParaRPr lang="en-US" sz="16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2018586" y="5705713"/>
              <a:ext cx="11818025" cy="326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Reversal:</a:t>
              </a:r>
              <a:r>
                <a:rPr lang="en-US" sz="16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Generate reversed string in memory.</a:t>
              </a:r>
              <a:endParaRPr lang="en-US" sz="1600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14FF06D-77CA-5FF7-B623-E32B532ACE0C}"/>
                </a:ext>
              </a:extLst>
            </p:cNvPr>
            <p:cNvGrpSpPr/>
            <p:nvPr/>
          </p:nvGrpSpPr>
          <p:grpSpPr>
            <a:xfrm>
              <a:off x="793787" y="3951642"/>
              <a:ext cx="1020723" cy="2401041"/>
              <a:chOff x="793787" y="3951642"/>
              <a:chExt cx="1020723" cy="2401041"/>
            </a:xfrm>
          </p:grpSpPr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BC8A0229-ED1E-0949-DD6A-6F99C2262D32}"/>
                  </a:ext>
                </a:extLst>
              </p:cNvPr>
              <p:cNvSpPr/>
              <p:nvPr/>
            </p:nvSpPr>
            <p:spPr>
              <a:xfrm rot="5400000">
                <a:off x="103628" y="4641801"/>
                <a:ext cx="2401041" cy="1020723"/>
              </a:xfrm>
              <a:prstGeom prst="chevron">
                <a:avLst/>
              </a:prstGeom>
              <a:solidFill>
                <a:srgbClr val="ECECEC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587E18-84DE-30A4-8D82-78AEA06FE750}"/>
                  </a:ext>
                </a:extLst>
              </p:cNvPr>
              <p:cNvSpPr txBox="1"/>
              <p:nvPr/>
            </p:nvSpPr>
            <p:spPr>
              <a:xfrm>
                <a:off x="1064970" y="5070650"/>
                <a:ext cx="4783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  <a:latin typeface="Lucida Fax" panose="02060602050505020204" pitchFamily="18" charset="0"/>
                  </a:rPr>
                  <a:t>3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E4D760-0166-6EF9-5423-06411C1FDB72}"/>
              </a:ext>
            </a:extLst>
          </p:cNvPr>
          <p:cNvGrpSpPr/>
          <p:nvPr/>
        </p:nvGrpSpPr>
        <p:grpSpPr>
          <a:xfrm>
            <a:off x="793786" y="6010489"/>
            <a:ext cx="13042825" cy="1450801"/>
            <a:chOff x="793786" y="6010489"/>
            <a:chExt cx="13042825" cy="1450801"/>
          </a:xfrm>
        </p:grpSpPr>
        <p:sp>
          <p:nvSpPr>
            <p:cNvPr id="15" name="Text 9"/>
            <p:cNvSpPr/>
            <p:nvPr/>
          </p:nvSpPr>
          <p:spPr>
            <a:xfrm>
              <a:off x="2018586" y="6440567"/>
              <a:ext cx="3616166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Step 4: Comparison &amp; Output</a:t>
              </a:r>
              <a:endParaRPr lang="en-US" sz="2000" b="1" dirty="0">
                <a:latin typeface="Mona Sans Expanded" pitchFamily="2" charset="0"/>
              </a:endParaRPr>
            </a:p>
          </p:txBody>
        </p:sp>
        <p:sp>
          <p:nvSpPr>
            <p:cNvPr id="16" name="Text 10"/>
            <p:cNvSpPr/>
            <p:nvPr/>
          </p:nvSpPr>
          <p:spPr>
            <a:xfrm>
              <a:off x="2018586" y="6881813"/>
              <a:ext cx="11818025" cy="326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50"/>
                </a:lnSpc>
                <a:buNone/>
              </a:pPr>
              <a:r>
                <a:rPr lang="en-US" sz="160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Compare cleaned vs. reversed strings and display result.</a:t>
              </a:r>
              <a:endParaRPr lang="en-US" sz="16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23DA54-6C7E-195F-78F2-DFF47D28FED0}"/>
                </a:ext>
              </a:extLst>
            </p:cNvPr>
            <p:cNvGrpSpPr/>
            <p:nvPr/>
          </p:nvGrpSpPr>
          <p:grpSpPr>
            <a:xfrm>
              <a:off x="793786" y="6010489"/>
              <a:ext cx="1020723" cy="1450801"/>
              <a:chOff x="793786" y="6010489"/>
              <a:chExt cx="1020723" cy="1450801"/>
            </a:xfrm>
          </p:grpSpPr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E9FE21FD-ADF4-C939-0892-65A6BFD04964}"/>
                  </a:ext>
                </a:extLst>
              </p:cNvPr>
              <p:cNvSpPr/>
              <p:nvPr/>
            </p:nvSpPr>
            <p:spPr>
              <a:xfrm rot="5400000">
                <a:off x="578747" y="6225528"/>
                <a:ext cx="1450801" cy="1020723"/>
              </a:xfrm>
              <a:prstGeom prst="chevron">
                <a:avLst/>
              </a:prstGeom>
              <a:solidFill>
                <a:srgbClr val="ECECEC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7E5EB6-731A-DF75-B9B8-589F34475627}"/>
                  </a:ext>
                </a:extLst>
              </p:cNvPr>
              <p:cNvSpPr txBox="1"/>
              <p:nvPr/>
            </p:nvSpPr>
            <p:spPr>
              <a:xfrm>
                <a:off x="1064970" y="6669441"/>
                <a:ext cx="4783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  <a:latin typeface="Lucida Fax" panose="02060602050505020204" pitchFamily="18" charset="0"/>
                  </a:rPr>
                  <a:t>4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4C4BD2B8-2087-B0AD-E3B0-A1C99D7CA7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814036"/>
            <a:ext cx="90908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Technical Challenges &amp; Solutions</a:t>
            </a:r>
            <a:endParaRPr lang="en-US" sz="4450" b="1" dirty="0">
              <a:latin typeface="Mona Sans Expanded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FEF038-1E5D-973B-F666-E818A023FA7F}"/>
              </a:ext>
            </a:extLst>
          </p:cNvPr>
          <p:cNvGrpSpPr/>
          <p:nvPr/>
        </p:nvGrpSpPr>
        <p:grpSpPr>
          <a:xfrm>
            <a:off x="793790" y="3019458"/>
            <a:ext cx="4196358" cy="3345730"/>
            <a:chOff x="793790" y="3239378"/>
            <a:chExt cx="4196358" cy="334573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68CABBA-4CBD-3098-BB92-732BACEE0387}"/>
                </a:ext>
              </a:extLst>
            </p:cNvPr>
            <p:cNvGrpSpPr/>
            <p:nvPr/>
          </p:nvGrpSpPr>
          <p:grpSpPr>
            <a:xfrm>
              <a:off x="793790" y="3455310"/>
              <a:ext cx="4196358" cy="3129798"/>
              <a:chOff x="793790" y="3455310"/>
              <a:chExt cx="4196358" cy="312979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11F0C56-CEAE-AC2E-B444-99CD527134FC}"/>
                  </a:ext>
                </a:extLst>
              </p:cNvPr>
              <p:cNvGrpSpPr/>
              <p:nvPr/>
            </p:nvGrpSpPr>
            <p:grpSpPr>
              <a:xfrm>
                <a:off x="793790" y="3455310"/>
                <a:ext cx="4196358" cy="3129798"/>
                <a:chOff x="793790" y="3187420"/>
                <a:chExt cx="4196358" cy="3129798"/>
              </a:xfrm>
            </p:grpSpPr>
            <p:sp>
              <p:nvSpPr>
                <p:cNvPr id="20" name="Rectangle: Top Corners Rounded 19">
                  <a:extLst>
                    <a:ext uri="{FF2B5EF4-FFF2-40B4-BE49-F238E27FC236}">
                      <a16:creationId xmlns:a16="http://schemas.microsoft.com/office/drawing/2014/main" id="{AFDD074C-1D57-4D6D-374D-67D0146DA907}"/>
                    </a:ext>
                  </a:extLst>
                </p:cNvPr>
                <p:cNvSpPr/>
                <p:nvPr/>
              </p:nvSpPr>
              <p:spPr>
                <a:xfrm rot="10800000">
                  <a:off x="814358" y="3424390"/>
                  <a:ext cx="4151406" cy="2892828"/>
                </a:xfrm>
                <a:prstGeom prst="round2SameRect">
                  <a:avLst/>
                </a:prstGeom>
                <a:solidFill>
                  <a:srgbClr val="F2F2F2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B5D0535D-1DC6-F895-FA58-694B3C1AF768}"/>
                    </a:ext>
                  </a:extLst>
                </p:cNvPr>
                <p:cNvGrpSpPr/>
                <p:nvPr/>
              </p:nvGrpSpPr>
              <p:grpSpPr>
                <a:xfrm>
                  <a:off x="793790" y="3187420"/>
                  <a:ext cx="4196358" cy="318852"/>
                  <a:chOff x="793790" y="3187420"/>
                  <a:chExt cx="4196358" cy="318852"/>
                </a:xfrm>
              </p:grpSpPr>
              <p:sp>
                <p:nvSpPr>
                  <p:cNvPr id="22" name="Shape 2">
                    <a:extLst>
                      <a:ext uri="{FF2B5EF4-FFF2-40B4-BE49-F238E27FC236}">
                        <a16:creationId xmlns:a16="http://schemas.microsoft.com/office/drawing/2014/main" id="{DAE1112B-3A5D-54E2-1D5E-B70546396DAE}"/>
                      </a:ext>
                    </a:extLst>
                  </p:cNvPr>
                  <p:cNvSpPr/>
                  <p:nvPr/>
                </p:nvSpPr>
                <p:spPr>
                  <a:xfrm>
                    <a:off x="793790" y="3384352"/>
                    <a:ext cx="4196358" cy="121920"/>
                  </a:xfrm>
                  <a:prstGeom prst="roundRect">
                    <a:avLst>
                      <a:gd name="adj" fmla="val 78139"/>
                    </a:avLst>
                  </a:prstGeom>
                  <a:solidFill>
                    <a:srgbClr val="373B48"/>
                  </a:solidFill>
                  <a:ln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" name="Text 4">
                    <a:extLst>
                      <a:ext uri="{FF2B5EF4-FFF2-40B4-BE49-F238E27FC236}">
                        <a16:creationId xmlns:a16="http://schemas.microsoft.com/office/drawing/2014/main" id="{0AA50621-CCC4-0CAA-834C-575551BFA1C1}"/>
                      </a:ext>
                    </a:extLst>
                  </p:cNvPr>
                  <p:cNvSpPr/>
                  <p:nvPr/>
                </p:nvSpPr>
                <p:spPr>
                  <a:xfrm>
                    <a:off x="2833536" y="3187420"/>
                    <a:ext cx="235637" cy="29551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400"/>
                      </a:lnSpc>
                      <a:buNone/>
                    </a:pPr>
                    <a:endParaRPr lang="en-US" sz="2100" dirty="0"/>
                  </a:p>
                </p:txBody>
              </p:sp>
            </p:grpSp>
          </p:grpSp>
          <p:sp>
            <p:nvSpPr>
              <p:cNvPr id="4" name="Text 1"/>
              <p:cNvSpPr/>
              <p:nvPr/>
            </p:nvSpPr>
            <p:spPr>
              <a:xfrm>
                <a:off x="1020604" y="4110514"/>
                <a:ext cx="3129082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Garbage Comparisons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5" name="Text 2"/>
              <p:cNvSpPr/>
              <p:nvPr/>
            </p:nvSpPr>
            <p:spPr>
              <a:xfrm>
                <a:off x="1020604" y="4600932"/>
                <a:ext cx="389393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Issue: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CMPSB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compared against random memory.</a:t>
                </a:r>
                <a:endParaRPr lang="en-US" sz="1750" dirty="0"/>
              </a:p>
            </p:txBody>
          </p:sp>
          <p:sp>
            <p:nvSpPr>
              <p:cNvPr id="6" name="Text 3"/>
              <p:cNvSpPr/>
              <p:nvPr/>
            </p:nvSpPr>
            <p:spPr>
              <a:xfrm>
                <a:off x="1020604" y="5462826"/>
                <a:ext cx="389393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Solution: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Explicitly initialised </a:t>
                </a:r>
                <a:r>
                  <a:rPr lang="en-US" sz="1750" dirty="0">
                    <a:solidFill>
                      <a:srgbClr val="52586B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ES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register (</a:t>
                </a:r>
                <a:r>
                  <a:rPr lang="en-US" sz="1750" dirty="0">
                    <a:solidFill>
                      <a:schemeClr val="accent3">
                        <a:lumMod val="75000"/>
                      </a:schemeClr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MOV ES, AX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).</a:t>
                </a:r>
                <a:endParaRPr lang="en-US" sz="1750" dirty="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6A0A4A-B3D7-5AD5-7F16-9B2CD8A8259D}"/>
                </a:ext>
              </a:extLst>
            </p:cNvPr>
            <p:cNvSpPr txBox="1"/>
            <p:nvPr/>
          </p:nvSpPr>
          <p:spPr>
            <a:xfrm>
              <a:off x="805365" y="3239378"/>
              <a:ext cx="491000" cy="433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800" b="1" dirty="0">
                  <a:solidFill>
                    <a:srgbClr val="52586B"/>
                  </a:solidFill>
                  <a:latin typeface="Mona Sans Light" pitchFamily="34" charset="0"/>
                  <a:ea typeface="Mona Sans Light" pitchFamily="34" charset="-122"/>
                  <a:cs typeface="Mona Sans Light" pitchFamily="34" charset="-120"/>
                </a:rPr>
                <a:t>01</a:t>
              </a:r>
              <a:endParaRPr lang="en-US" sz="1800" b="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8874E6C-4CCF-5FCE-3450-0F8B9F7CDC05}"/>
              </a:ext>
            </a:extLst>
          </p:cNvPr>
          <p:cNvGrpSpPr/>
          <p:nvPr/>
        </p:nvGrpSpPr>
        <p:grpSpPr>
          <a:xfrm>
            <a:off x="5156683" y="3019458"/>
            <a:ext cx="4196358" cy="3345730"/>
            <a:chOff x="5156683" y="3239378"/>
            <a:chExt cx="4196358" cy="334573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2B96615-210E-9810-BBD6-D6255152EF18}"/>
                </a:ext>
              </a:extLst>
            </p:cNvPr>
            <p:cNvGrpSpPr/>
            <p:nvPr/>
          </p:nvGrpSpPr>
          <p:grpSpPr>
            <a:xfrm>
              <a:off x="5156683" y="3652242"/>
              <a:ext cx="4196358" cy="2932866"/>
              <a:chOff x="5156683" y="3652242"/>
              <a:chExt cx="4196358" cy="293286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26867E8-0634-C0AC-0667-5D163190F1B8}"/>
                  </a:ext>
                </a:extLst>
              </p:cNvPr>
              <p:cNvGrpSpPr/>
              <p:nvPr/>
            </p:nvGrpSpPr>
            <p:grpSpPr>
              <a:xfrm>
                <a:off x="5156683" y="3652242"/>
                <a:ext cx="4196358" cy="2932866"/>
                <a:chOff x="793790" y="3384352"/>
                <a:chExt cx="4196358" cy="2932866"/>
              </a:xfrm>
            </p:grpSpPr>
            <p:sp>
              <p:nvSpPr>
                <p:cNvPr id="34" name="Rectangle: Top Corners Rounded 33">
                  <a:extLst>
                    <a:ext uri="{FF2B5EF4-FFF2-40B4-BE49-F238E27FC236}">
                      <a16:creationId xmlns:a16="http://schemas.microsoft.com/office/drawing/2014/main" id="{38023049-D0D3-3487-2181-ACD778160349}"/>
                    </a:ext>
                  </a:extLst>
                </p:cNvPr>
                <p:cNvSpPr/>
                <p:nvPr/>
              </p:nvSpPr>
              <p:spPr>
                <a:xfrm rot="10800000">
                  <a:off x="814358" y="3424390"/>
                  <a:ext cx="4151406" cy="2892828"/>
                </a:xfrm>
                <a:prstGeom prst="round2SameRect">
                  <a:avLst/>
                </a:prstGeom>
                <a:solidFill>
                  <a:srgbClr val="F2F2F2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" name="Shape 2">
                  <a:extLst>
                    <a:ext uri="{FF2B5EF4-FFF2-40B4-BE49-F238E27FC236}">
                      <a16:creationId xmlns:a16="http://schemas.microsoft.com/office/drawing/2014/main" id="{72D72384-FB5C-43D9-CE51-96B0E608A3DB}"/>
                    </a:ext>
                  </a:extLst>
                </p:cNvPr>
                <p:cNvSpPr/>
                <p:nvPr/>
              </p:nvSpPr>
              <p:spPr>
                <a:xfrm>
                  <a:off x="793790" y="3384352"/>
                  <a:ext cx="4196358" cy="121920"/>
                </a:xfrm>
                <a:prstGeom prst="roundRect">
                  <a:avLst>
                    <a:gd name="adj" fmla="val 78139"/>
                  </a:avLst>
                </a:prstGeom>
                <a:solidFill>
                  <a:srgbClr val="373B48"/>
                </a:solidFill>
                <a:ln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8" name="Text 4"/>
              <p:cNvSpPr/>
              <p:nvPr/>
            </p:nvSpPr>
            <p:spPr>
              <a:xfrm>
                <a:off x="5368171" y="4110514"/>
                <a:ext cx="2862620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Multi-digit Mismatch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5368171" y="4600932"/>
                <a:ext cx="389393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Issue: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Difficulty showing exact error position for long strings.</a:t>
                </a:r>
                <a:endParaRPr lang="en-US" sz="1750" dirty="0"/>
              </a:p>
            </p:txBody>
          </p:sp>
          <p:sp>
            <p:nvSpPr>
              <p:cNvPr id="10" name="Text 6"/>
              <p:cNvSpPr/>
              <p:nvPr/>
            </p:nvSpPr>
            <p:spPr>
              <a:xfrm>
                <a:off x="5368171" y="5462826"/>
                <a:ext cx="389393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Solution: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Custom procedure to convert binary position to ASCII digits.</a:t>
                </a:r>
                <a:endParaRPr lang="en-US" sz="1750" dirty="0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E7510C-63B7-8ED1-F2E4-E0FAEFFD8427}"/>
                </a:ext>
              </a:extLst>
            </p:cNvPr>
            <p:cNvSpPr txBox="1"/>
            <p:nvPr/>
          </p:nvSpPr>
          <p:spPr>
            <a:xfrm>
              <a:off x="5158546" y="3239378"/>
              <a:ext cx="633150" cy="433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800" b="1" dirty="0">
                  <a:solidFill>
                    <a:srgbClr val="52586B"/>
                  </a:solidFill>
                  <a:latin typeface="Mona Sans Light" pitchFamily="34" charset="0"/>
                  <a:ea typeface="Mona Sans Light" pitchFamily="34" charset="-122"/>
                  <a:cs typeface="Mona Sans Light" pitchFamily="34" charset="-120"/>
                </a:rPr>
                <a:t>0</a:t>
              </a:r>
              <a:r>
                <a:rPr lang="en-US" b="1" dirty="0">
                  <a:solidFill>
                    <a:srgbClr val="52586B"/>
                  </a:solidFill>
                  <a:latin typeface="Mona Sans Light" pitchFamily="34" charset="0"/>
                  <a:ea typeface="Mona Sans Light" pitchFamily="34" charset="-122"/>
                  <a:cs typeface="Mona Sans Light" pitchFamily="34" charset="-120"/>
                </a:rPr>
                <a:t>2</a:t>
              </a:r>
              <a:endParaRPr lang="en-US" sz="18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18C75C-B472-7F47-8869-18546A3209D6}"/>
              </a:ext>
            </a:extLst>
          </p:cNvPr>
          <p:cNvGrpSpPr/>
          <p:nvPr/>
        </p:nvGrpSpPr>
        <p:grpSpPr>
          <a:xfrm>
            <a:off x="9519577" y="3019458"/>
            <a:ext cx="4196358" cy="3345730"/>
            <a:chOff x="9519577" y="3239378"/>
            <a:chExt cx="4196358" cy="334573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5AF4A18-0993-B3E5-9923-686D8E6DAE0C}"/>
                </a:ext>
              </a:extLst>
            </p:cNvPr>
            <p:cNvGrpSpPr/>
            <p:nvPr/>
          </p:nvGrpSpPr>
          <p:grpSpPr>
            <a:xfrm>
              <a:off x="9519577" y="3441859"/>
              <a:ext cx="4196358" cy="3143249"/>
              <a:chOff x="9519577" y="3441859"/>
              <a:chExt cx="4196358" cy="3143249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A522FEF8-71B4-6CD5-F607-5351F547D9BC}"/>
                  </a:ext>
                </a:extLst>
              </p:cNvPr>
              <p:cNvGrpSpPr/>
              <p:nvPr/>
            </p:nvGrpSpPr>
            <p:grpSpPr>
              <a:xfrm>
                <a:off x="9519577" y="3441859"/>
                <a:ext cx="4196358" cy="3143249"/>
                <a:chOff x="793790" y="3173969"/>
                <a:chExt cx="4196358" cy="3143249"/>
              </a:xfrm>
            </p:grpSpPr>
            <p:sp>
              <p:nvSpPr>
                <p:cNvPr id="41" name="Rectangle: Top Corners Rounded 40">
                  <a:extLst>
                    <a:ext uri="{FF2B5EF4-FFF2-40B4-BE49-F238E27FC236}">
                      <a16:creationId xmlns:a16="http://schemas.microsoft.com/office/drawing/2014/main" id="{F88C7F13-BB92-205E-C5C4-8681A2F8891A}"/>
                    </a:ext>
                  </a:extLst>
                </p:cNvPr>
                <p:cNvSpPr/>
                <p:nvPr/>
              </p:nvSpPr>
              <p:spPr>
                <a:xfrm rot="10800000">
                  <a:off x="814358" y="3424390"/>
                  <a:ext cx="4151406" cy="2892828"/>
                </a:xfrm>
                <a:prstGeom prst="round2SameRect">
                  <a:avLst/>
                </a:prstGeom>
                <a:solidFill>
                  <a:srgbClr val="F2F2F2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0F240C21-7CCC-A3F8-B8F3-4FC4840E2DA7}"/>
                    </a:ext>
                  </a:extLst>
                </p:cNvPr>
                <p:cNvGrpSpPr/>
                <p:nvPr/>
              </p:nvGrpSpPr>
              <p:grpSpPr>
                <a:xfrm>
                  <a:off x="793790" y="3173969"/>
                  <a:ext cx="4196358" cy="332303"/>
                  <a:chOff x="793790" y="3173969"/>
                  <a:chExt cx="4196358" cy="332303"/>
                </a:xfrm>
              </p:grpSpPr>
              <p:sp>
                <p:nvSpPr>
                  <p:cNvPr id="43" name="Shape 2">
                    <a:extLst>
                      <a:ext uri="{FF2B5EF4-FFF2-40B4-BE49-F238E27FC236}">
                        <a16:creationId xmlns:a16="http://schemas.microsoft.com/office/drawing/2014/main" id="{1170B065-C598-4303-F7FD-14D6B4127D22}"/>
                      </a:ext>
                    </a:extLst>
                  </p:cNvPr>
                  <p:cNvSpPr/>
                  <p:nvPr/>
                </p:nvSpPr>
                <p:spPr>
                  <a:xfrm>
                    <a:off x="793790" y="3384352"/>
                    <a:ext cx="4196358" cy="121920"/>
                  </a:xfrm>
                  <a:prstGeom prst="roundRect">
                    <a:avLst>
                      <a:gd name="adj" fmla="val 78139"/>
                    </a:avLst>
                  </a:prstGeom>
                  <a:solidFill>
                    <a:srgbClr val="373B48"/>
                  </a:solidFill>
                  <a:ln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Text 4">
                    <a:extLst>
                      <a:ext uri="{FF2B5EF4-FFF2-40B4-BE49-F238E27FC236}">
                        <a16:creationId xmlns:a16="http://schemas.microsoft.com/office/drawing/2014/main" id="{FDEBB994-3026-DB94-1A7C-A0DD6344BBEC}"/>
                      </a:ext>
                    </a:extLst>
                  </p:cNvPr>
                  <p:cNvSpPr/>
                  <p:nvPr/>
                </p:nvSpPr>
                <p:spPr>
                  <a:xfrm>
                    <a:off x="2835440" y="3173969"/>
                    <a:ext cx="235637" cy="29551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400"/>
                      </a:lnSpc>
                      <a:buNone/>
                    </a:pPr>
                    <a:endParaRPr lang="en-US" sz="2100" dirty="0"/>
                  </a:p>
                </p:txBody>
              </p:sp>
            </p:grpSp>
          </p:grpSp>
          <p:sp>
            <p:nvSpPr>
              <p:cNvPr id="12" name="Text 7"/>
              <p:cNvSpPr/>
              <p:nvPr/>
            </p:nvSpPr>
            <p:spPr>
              <a:xfrm>
                <a:off x="9715738" y="4110514"/>
                <a:ext cx="3334464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Complex Input Handling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13" name="Text 8"/>
              <p:cNvSpPr/>
              <p:nvPr/>
            </p:nvSpPr>
            <p:spPr>
              <a:xfrm>
                <a:off x="9715738" y="4600932"/>
                <a:ext cx="389393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Issue: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"</a:t>
                </a:r>
                <a:r>
                  <a:rPr lang="en-US" sz="1750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Madam, I'm Adam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 failed standard checks.</a:t>
                </a:r>
                <a:endParaRPr lang="en-US" sz="1750" dirty="0"/>
              </a:p>
            </p:txBody>
          </p:sp>
          <p:sp>
            <p:nvSpPr>
              <p:cNvPr id="14" name="Text 9"/>
              <p:cNvSpPr/>
              <p:nvPr/>
            </p:nvSpPr>
            <p:spPr>
              <a:xfrm>
                <a:off x="9715738" y="5462826"/>
                <a:ext cx="3893939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Solution: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Developed sanitisation module to strip punctuation.</a:t>
                </a:r>
                <a:endParaRPr lang="en-US" sz="1750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68826C2-99A7-A9EA-AE7F-2D4B58993E88}"/>
                </a:ext>
              </a:extLst>
            </p:cNvPr>
            <p:cNvSpPr txBox="1"/>
            <p:nvPr/>
          </p:nvSpPr>
          <p:spPr>
            <a:xfrm>
              <a:off x="9568498" y="3239378"/>
              <a:ext cx="638921" cy="4336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800" b="1" dirty="0">
                  <a:solidFill>
                    <a:srgbClr val="52586B"/>
                  </a:solidFill>
                  <a:latin typeface="Mona Sans Light" pitchFamily="34" charset="0"/>
                  <a:ea typeface="Mona Sans Light" pitchFamily="34" charset="-122"/>
                  <a:cs typeface="Mona Sans Light" pitchFamily="34" charset="-120"/>
                </a:rPr>
                <a:t>03</a:t>
              </a:r>
              <a:endParaRPr lang="en-US" sz="1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ED7A6-9643-7FCE-3B09-FC957A88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F0F0D5D1-477F-E6C2-EE1C-FF85D2A7DA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1AED5A3-C19E-A716-97B4-D44DCCA50E19}"/>
              </a:ext>
            </a:extLst>
          </p:cNvPr>
          <p:cNvSpPr/>
          <p:nvPr/>
        </p:nvSpPr>
        <p:spPr>
          <a:xfrm>
            <a:off x="793790" y="807898"/>
            <a:ext cx="74942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Testing &amp; Validation - Part 1</a:t>
            </a:r>
            <a:endParaRPr lang="en-US" sz="4450" b="1" dirty="0">
              <a:latin typeface="Mona Sans Expanded" pitchFamily="2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0807690-8D5F-E82B-4FCF-0CDA89C37785}"/>
              </a:ext>
            </a:extLst>
          </p:cNvPr>
          <p:cNvGrpSpPr/>
          <p:nvPr/>
        </p:nvGrpSpPr>
        <p:grpSpPr>
          <a:xfrm>
            <a:off x="8738126" y="1805715"/>
            <a:ext cx="4201061" cy="1993815"/>
            <a:chOff x="8738126" y="1805715"/>
            <a:chExt cx="4201061" cy="199381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FD47449-D182-A6EC-B641-FAE811E8F926}"/>
                </a:ext>
              </a:extLst>
            </p:cNvPr>
            <p:cNvGrpSpPr/>
            <p:nvPr/>
          </p:nvGrpSpPr>
          <p:grpSpPr>
            <a:xfrm>
              <a:off x="8738126" y="1805715"/>
              <a:ext cx="4201061" cy="1993815"/>
              <a:chOff x="10316682" y="163331"/>
              <a:chExt cx="4201061" cy="2728436"/>
            </a:xfrm>
          </p:grpSpPr>
          <p:sp>
            <p:nvSpPr>
              <p:cNvPr id="3" name="Shape 1">
                <a:extLst>
                  <a:ext uri="{FF2B5EF4-FFF2-40B4-BE49-F238E27FC236}">
                    <a16:creationId xmlns:a16="http://schemas.microsoft.com/office/drawing/2014/main" id="{2BE923AB-4B9D-C948-5C45-04D4E63BD207}"/>
                  </a:ext>
                </a:extLst>
              </p:cNvPr>
              <p:cNvSpPr/>
              <p:nvPr/>
            </p:nvSpPr>
            <p:spPr>
              <a:xfrm>
                <a:off x="10321385" y="163331"/>
                <a:ext cx="4196358" cy="2728436"/>
              </a:xfrm>
              <a:prstGeom prst="roundRect">
                <a:avLst>
                  <a:gd name="adj" fmla="val 3492"/>
                </a:avLst>
              </a:prstGeom>
              <a:solidFill>
                <a:srgbClr val="F2F2F2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Shape 2">
                <a:extLst>
                  <a:ext uri="{FF2B5EF4-FFF2-40B4-BE49-F238E27FC236}">
                    <a16:creationId xmlns:a16="http://schemas.microsoft.com/office/drawing/2014/main" id="{18EA3BB1-F8F8-3A1F-2519-053BB651CF92}"/>
                  </a:ext>
                </a:extLst>
              </p:cNvPr>
              <p:cNvSpPr/>
              <p:nvPr/>
            </p:nvSpPr>
            <p:spPr>
              <a:xfrm>
                <a:off x="10316682" y="163331"/>
                <a:ext cx="127932" cy="2728436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baseline="-250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22DA841-1BA1-089B-70F6-36D374DA1201}"/>
                </a:ext>
              </a:extLst>
            </p:cNvPr>
            <p:cNvGrpSpPr/>
            <p:nvPr/>
          </p:nvGrpSpPr>
          <p:grpSpPr>
            <a:xfrm>
              <a:off x="8972560" y="2105812"/>
              <a:ext cx="3732193" cy="1140935"/>
              <a:chOff x="10551116" y="463428"/>
              <a:chExt cx="3732193" cy="1140935"/>
            </a:xfrm>
          </p:grpSpPr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D4D727E1-A862-ECD8-20E0-765185727D05}"/>
                  </a:ext>
                </a:extLst>
              </p:cNvPr>
              <p:cNvSpPr/>
              <p:nvPr/>
            </p:nvSpPr>
            <p:spPr>
              <a:xfrm>
                <a:off x="10555819" y="463428"/>
                <a:ext cx="3083123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Standard Palindromes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F480640A-9F50-FC22-C19A-91228E81BF57}"/>
                  </a:ext>
                </a:extLst>
              </p:cNvPr>
              <p:cNvSpPr/>
              <p:nvPr/>
            </p:nvSpPr>
            <p:spPr>
              <a:xfrm>
                <a:off x="10555819" y="865978"/>
                <a:ext cx="3727490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“atta" </a:t>
                </a:r>
                <a:r>
                  <a:rPr lang="en-US" sz="1750" dirty="0">
                    <a:solidFill>
                      <a:srgbClr val="373B48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➔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b="1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Pass</a:t>
                </a:r>
                <a:endParaRPr lang="en-US" sz="175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Text 5">
                <a:extLst>
                  <a:ext uri="{FF2B5EF4-FFF2-40B4-BE49-F238E27FC236}">
                    <a16:creationId xmlns:a16="http://schemas.microsoft.com/office/drawing/2014/main" id="{D8D856D6-A916-5AF2-E32D-C3B9167899D1}"/>
                  </a:ext>
                </a:extLst>
              </p:cNvPr>
              <p:cNvSpPr/>
              <p:nvPr/>
            </p:nvSpPr>
            <p:spPr>
              <a:xfrm>
                <a:off x="10551116" y="1241460"/>
                <a:ext cx="3727490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"kayak" </a:t>
                </a:r>
                <a:r>
                  <a:rPr lang="en-US" sz="1750" dirty="0">
                    <a:solidFill>
                      <a:srgbClr val="373B48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➔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b="1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Pass</a:t>
                </a:r>
                <a:endParaRPr lang="en-US" sz="175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64721C7-B973-63E7-7B71-1A94BAEE1D47}"/>
              </a:ext>
            </a:extLst>
          </p:cNvPr>
          <p:cNvGrpSpPr/>
          <p:nvPr/>
        </p:nvGrpSpPr>
        <p:grpSpPr>
          <a:xfrm>
            <a:off x="8738126" y="6047207"/>
            <a:ext cx="4196358" cy="1993815"/>
            <a:chOff x="8738126" y="6047207"/>
            <a:chExt cx="4196358" cy="199381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329AF3-A72B-97A9-0702-C15778224E23}"/>
                </a:ext>
              </a:extLst>
            </p:cNvPr>
            <p:cNvGrpSpPr/>
            <p:nvPr/>
          </p:nvGrpSpPr>
          <p:grpSpPr>
            <a:xfrm>
              <a:off x="8738126" y="6047207"/>
              <a:ext cx="4196358" cy="1993815"/>
              <a:chOff x="10321385" y="5599385"/>
              <a:chExt cx="4196358" cy="2728436"/>
            </a:xfrm>
          </p:grpSpPr>
          <p:sp>
            <p:nvSpPr>
              <p:cNvPr id="9" name="Shape 6">
                <a:extLst>
                  <a:ext uri="{FF2B5EF4-FFF2-40B4-BE49-F238E27FC236}">
                    <a16:creationId xmlns:a16="http://schemas.microsoft.com/office/drawing/2014/main" id="{F535F287-0CE3-0637-7D90-D43640B65350}"/>
                  </a:ext>
                </a:extLst>
              </p:cNvPr>
              <p:cNvSpPr/>
              <p:nvPr/>
            </p:nvSpPr>
            <p:spPr>
              <a:xfrm>
                <a:off x="10321385" y="5599385"/>
                <a:ext cx="4196358" cy="2728436"/>
              </a:xfrm>
              <a:prstGeom prst="roundRect">
                <a:avLst>
                  <a:gd name="adj" fmla="val 3492"/>
                </a:avLst>
              </a:prstGeom>
              <a:solidFill>
                <a:srgbClr val="F2F2F2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Shape 2">
                <a:extLst>
                  <a:ext uri="{FF2B5EF4-FFF2-40B4-BE49-F238E27FC236}">
                    <a16:creationId xmlns:a16="http://schemas.microsoft.com/office/drawing/2014/main" id="{8634C191-1363-1710-A695-494C7D05CDC2}"/>
                  </a:ext>
                </a:extLst>
              </p:cNvPr>
              <p:cNvSpPr/>
              <p:nvPr/>
            </p:nvSpPr>
            <p:spPr>
              <a:xfrm>
                <a:off x="10324004" y="5599385"/>
                <a:ext cx="127932" cy="2728436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baseline="-25000" dirty="0"/>
              </a:p>
            </p:txBody>
          </p:sp>
        </p:grp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2E787975-2500-21E9-FC13-68F213BA32DC}"/>
                </a:ext>
              </a:extLst>
            </p:cNvPr>
            <p:cNvSpPr/>
            <p:nvPr/>
          </p:nvSpPr>
          <p:spPr>
            <a:xfrm>
              <a:off x="8972560" y="641933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Case Sensitivity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69AF6302-54F6-FE1B-C5B6-585C2EC156B4}"/>
                </a:ext>
              </a:extLst>
            </p:cNvPr>
            <p:cNvSpPr/>
            <p:nvPr/>
          </p:nvSpPr>
          <p:spPr>
            <a:xfrm>
              <a:off x="8972560" y="6826327"/>
              <a:ext cx="372749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"Racecar" </a:t>
              </a:r>
              <a:r>
                <a:rPr lang="en-US" sz="1750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➔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r>
                <a:rPr lang="en-US" sz="1750" b="1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Pass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(Handled via uppercase conversion)</a:t>
              </a:r>
              <a:endParaRPr lang="en-US" sz="175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91A6FF-47EC-404E-D7E2-468334AD8BBA}"/>
              </a:ext>
            </a:extLst>
          </p:cNvPr>
          <p:cNvGrpSpPr/>
          <p:nvPr/>
        </p:nvGrpSpPr>
        <p:grpSpPr>
          <a:xfrm>
            <a:off x="8742829" y="4025871"/>
            <a:ext cx="4196358" cy="1794995"/>
            <a:chOff x="8742829" y="4025871"/>
            <a:chExt cx="4196358" cy="1794995"/>
          </a:xfrm>
        </p:grpSpPr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4FCF0927-A929-D87B-AC0C-DCFD745196D4}"/>
                </a:ext>
              </a:extLst>
            </p:cNvPr>
            <p:cNvSpPr/>
            <p:nvPr/>
          </p:nvSpPr>
          <p:spPr>
            <a:xfrm>
              <a:off x="8742829" y="4025871"/>
              <a:ext cx="4196358" cy="1791710"/>
            </a:xfrm>
            <a:prstGeom prst="roundRect">
              <a:avLst>
                <a:gd name="adj" fmla="val 3492"/>
              </a:avLst>
            </a:prstGeom>
            <a:solidFill>
              <a:srgbClr val="F2F2F2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2B9A5143-E333-8A09-DA3D-ABF4EDB1D0B1}"/>
                </a:ext>
              </a:extLst>
            </p:cNvPr>
            <p:cNvSpPr/>
            <p:nvPr/>
          </p:nvSpPr>
          <p:spPr>
            <a:xfrm>
              <a:off x="8977263" y="4397999"/>
              <a:ext cx="2971800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52586B"/>
                  </a:solidFill>
                  <a:latin typeface="Mona Sans Expanded" pitchFamily="2" charset="0"/>
                  <a:ea typeface="Mona Sans Semi Bold" pitchFamily="34" charset="-122"/>
                  <a:cs typeface="Mona Sans Semi Bold" pitchFamily="34" charset="-120"/>
                </a:rPr>
                <a:t>Numeric Palindromes</a:t>
              </a:r>
              <a:endParaRPr lang="en-US" sz="2200" b="1" dirty="0">
                <a:latin typeface="Mona Sans Expanded" pitchFamily="2" charset="0"/>
              </a:endParaRP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399CD68B-F62D-5B27-8842-1A0E22AA0868}"/>
                </a:ext>
              </a:extLst>
            </p:cNvPr>
            <p:cNvSpPr/>
            <p:nvPr/>
          </p:nvSpPr>
          <p:spPr>
            <a:xfrm>
              <a:off x="8977263" y="4831989"/>
              <a:ext cx="372749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"12321" </a:t>
              </a:r>
              <a:r>
                <a:rPr lang="en-US" sz="1750" dirty="0">
                  <a:solidFill>
                    <a:srgbClr val="373B48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➔</a:t>
              </a:r>
              <a:r>
                <a:rPr lang="en-US" sz="1750" dirty="0">
                  <a:solidFill>
                    <a:srgbClr val="52586B"/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 </a:t>
              </a:r>
              <a:r>
                <a:rPr lang="en-US" sz="1750" dirty="0">
                  <a:solidFill>
                    <a:schemeClr val="accent3">
                      <a:lumMod val="75000"/>
                    </a:schemeClr>
                  </a:solidFill>
                  <a:latin typeface="Funnel Sans" pitchFamily="34" charset="0"/>
                  <a:ea typeface="Funnel Sans" pitchFamily="34" charset="-122"/>
                  <a:cs typeface="Funnel Sans" pitchFamily="34" charset="-120"/>
                </a:rPr>
                <a:t>Pass</a:t>
              </a:r>
              <a:endParaRPr lang="en-US" sz="175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067FD4BE-08C7-83AC-BA7C-CE07D7DB581C}"/>
                </a:ext>
              </a:extLst>
            </p:cNvPr>
            <p:cNvSpPr/>
            <p:nvPr/>
          </p:nvSpPr>
          <p:spPr>
            <a:xfrm>
              <a:off x="8742829" y="4029156"/>
              <a:ext cx="117074" cy="1791710"/>
            </a:xfrm>
            <a:prstGeom prst="roundRect">
              <a:avLst>
                <a:gd name="adj" fmla="val 78139"/>
              </a:avLst>
            </a:prstGeom>
            <a:solidFill>
              <a:srgbClr val="373B48"/>
            </a:solidFill>
            <a:ln/>
          </p:spPr>
          <p:txBody>
            <a:bodyPr/>
            <a:lstStyle/>
            <a:p>
              <a:endParaRPr lang="en-US" baseline="-25000" dirty="0"/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CFC9A263-6322-523F-4D64-0A2EBCE763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863"/>
          <a:stretch>
            <a:fillRect/>
          </a:stretch>
        </p:blipFill>
        <p:spPr>
          <a:xfrm>
            <a:off x="793790" y="1805715"/>
            <a:ext cx="7705200" cy="623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6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CFE1AD0F-E565-E280-B433-5F60B10557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2533" y="595905"/>
            <a:ext cx="85009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Testing &amp; Validation - Part 2</a:t>
            </a:r>
            <a:endParaRPr lang="en-US" sz="4450" b="1" dirty="0">
              <a:latin typeface="Mona Sans Expanded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62AD5C-6976-5E11-5128-4272D5D91E92}"/>
              </a:ext>
            </a:extLst>
          </p:cNvPr>
          <p:cNvSpPr txBox="1"/>
          <p:nvPr/>
        </p:nvSpPr>
        <p:spPr>
          <a:xfrm>
            <a:off x="10060520" y="634690"/>
            <a:ext cx="491000" cy="433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endParaRPr lang="en-US" sz="1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487761-3BE0-9676-2F97-520BA9031CB6}"/>
              </a:ext>
            </a:extLst>
          </p:cNvPr>
          <p:cNvSpPr txBox="1"/>
          <p:nvPr/>
        </p:nvSpPr>
        <p:spPr>
          <a:xfrm>
            <a:off x="10042654" y="2886178"/>
            <a:ext cx="633150" cy="433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A861C4-F593-549B-6F0D-B1CAC008C998}"/>
              </a:ext>
            </a:extLst>
          </p:cNvPr>
          <p:cNvSpPr txBox="1"/>
          <p:nvPr/>
        </p:nvSpPr>
        <p:spPr>
          <a:xfrm>
            <a:off x="10069737" y="4992541"/>
            <a:ext cx="638921" cy="433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endParaRPr lang="en-US" sz="1800" b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1CEE9E1-B346-5985-665B-312C506D6A1C}"/>
              </a:ext>
            </a:extLst>
          </p:cNvPr>
          <p:cNvGrpSpPr/>
          <p:nvPr/>
        </p:nvGrpSpPr>
        <p:grpSpPr>
          <a:xfrm>
            <a:off x="9106312" y="1539101"/>
            <a:ext cx="4201061" cy="1818684"/>
            <a:chOff x="3962462" y="1582694"/>
            <a:chExt cx="4201061" cy="181682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77B07C0-E1D5-E371-C492-340E92EC78FB}"/>
                </a:ext>
              </a:extLst>
            </p:cNvPr>
            <p:cNvGrpSpPr/>
            <p:nvPr/>
          </p:nvGrpSpPr>
          <p:grpSpPr>
            <a:xfrm>
              <a:off x="3962462" y="1582694"/>
              <a:ext cx="4201061" cy="1816823"/>
              <a:chOff x="10316682" y="163331"/>
              <a:chExt cx="4201061" cy="2728436"/>
            </a:xfrm>
          </p:grpSpPr>
          <p:sp>
            <p:nvSpPr>
              <p:cNvPr id="33" name="Shape 1">
                <a:extLst>
                  <a:ext uri="{FF2B5EF4-FFF2-40B4-BE49-F238E27FC236}">
                    <a16:creationId xmlns:a16="http://schemas.microsoft.com/office/drawing/2014/main" id="{7FFEF6C7-A72D-A173-3B14-A494C6AD29CE}"/>
                  </a:ext>
                </a:extLst>
              </p:cNvPr>
              <p:cNvSpPr/>
              <p:nvPr/>
            </p:nvSpPr>
            <p:spPr>
              <a:xfrm>
                <a:off x="10321385" y="163331"/>
                <a:ext cx="4196358" cy="2728436"/>
              </a:xfrm>
              <a:prstGeom prst="roundRect">
                <a:avLst>
                  <a:gd name="adj" fmla="val 3492"/>
                </a:avLst>
              </a:prstGeom>
              <a:solidFill>
                <a:srgbClr val="F2F2F2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" name="Shape 2">
                <a:extLst>
                  <a:ext uri="{FF2B5EF4-FFF2-40B4-BE49-F238E27FC236}">
                    <a16:creationId xmlns:a16="http://schemas.microsoft.com/office/drawing/2014/main" id="{11A25177-0DFD-4825-4DB4-8B168D9A377C}"/>
                  </a:ext>
                </a:extLst>
              </p:cNvPr>
              <p:cNvSpPr/>
              <p:nvPr/>
            </p:nvSpPr>
            <p:spPr>
              <a:xfrm>
                <a:off x="10316682" y="163331"/>
                <a:ext cx="127932" cy="2728436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baseline="-250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5E8289B-7A34-EDC9-718C-D7FBE48F9029}"/>
                </a:ext>
              </a:extLst>
            </p:cNvPr>
            <p:cNvGrpSpPr/>
            <p:nvPr/>
          </p:nvGrpSpPr>
          <p:grpSpPr>
            <a:xfrm>
              <a:off x="4286073" y="1819052"/>
              <a:ext cx="3681770" cy="1216224"/>
              <a:chOff x="1051084" y="3981807"/>
              <a:chExt cx="3681770" cy="1216224"/>
            </a:xfrm>
          </p:grpSpPr>
          <p:sp>
            <p:nvSpPr>
              <p:cNvPr id="7" name="Text 5"/>
              <p:cNvSpPr/>
              <p:nvPr/>
            </p:nvSpPr>
            <p:spPr>
              <a:xfrm>
                <a:off x="1051084" y="3981807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Sentence Handling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1051084" y="4472226"/>
                <a:ext cx="3681770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"No x in Nixon" </a:t>
                </a:r>
                <a:r>
                  <a:rPr lang="en-US" sz="1750" dirty="0">
                    <a:solidFill>
                      <a:srgbClr val="373B48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➔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b="1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Pass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. Sanitizer reduces to "NOXINNIXON".</a:t>
                </a:r>
                <a:endParaRPr lang="en-US" sz="1750" dirty="0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CA6BA84-7A6A-4870-00F6-4978C38EEB11}"/>
              </a:ext>
            </a:extLst>
          </p:cNvPr>
          <p:cNvGrpSpPr/>
          <p:nvPr/>
        </p:nvGrpSpPr>
        <p:grpSpPr>
          <a:xfrm>
            <a:off x="9106312" y="3593672"/>
            <a:ext cx="4196358" cy="1509469"/>
            <a:chOff x="3962462" y="3869645"/>
            <a:chExt cx="4196358" cy="150792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8ED6290-145E-8CBD-639D-F816B9EE94D2}"/>
                </a:ext>
              </a:extLst>
            </p:cNvPr>
            <p:cNvGrpSpPr/>
            <p:nvPr/>
          </p:nvGrpSpPr>
          <p:grpSpPr>
            <a:xfrm>
              <a:off x="3962462" y="3869645"/>
              <a:ext cx="4196358" cy="1507924"/>
              <a:chOff x="3962462" y="3869644"/>
              <a:chExt cx="4196358" cy="1794995"/>
            </a:xfrm>
          </p:grpSpPr>
          <p:sp>
            <p:nvSpPr>
              <p:cNvPr id="43" name="Shape 10">
                <a:extLst>
                  <a:ext uri="{FF2B5EF4-FFF2-40B4-BE49-F238E27FC236}">
                    <a16:creationId xmlns:a16="http://schemas.microsoft.com/office/drawing/2014/main" id="{BAECDBD6-2A86-E0C1-9DF6-A3E19110E90D}"/>
                  </a:ext>
                </a:extLst>
              </p:cNvPr>
              <p:cNvSpPr/>
              <p:nvPr/>
            </p:nvSpPr>
            <p:spPr>
              <a:xfrm>
                <a:off x="3962462" y="3869644"/>
                <a:ext cx="4196358" cy="1791710"/>
              </a:xfrm>
              <a:prstGeom prst="roundRect">
                <a:avLst>
                  <a:gd name="adj" fmla="val 3492"/>
                </a:avLst>
              </a:prstGeom>
              <a:solidFill>
                <a:srgbClr val="F2F2F2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0" name="Shape 2">
                <a:extLst>
                  <a:ext uri="{FF2B5EF4-FFF2-40B4-BE49-F238E27FC236}">
                    <a16:creationId xmlns:a16="http://schemas.microsoft.com/office/drawing/2014/main" id="{E774EC97-3E57-D3E2-2323-F8585AA78E88}"/>
                  </a:ext>
                </a:extLst>
              </p:cNvPr>
              <p:cNvSpPr/>
              <p:nvPr/>
            </p:nvSpPr>
            <p:spPr>
              <a:xfrm>
                <a:off x="3962462" y="3872929"/>
                <a:ext cx="117074" cy="1791710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baseline="-25000" dirty="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41E401B-3283-FFBC-FABC-634482FE4B87}"/>
                </a:ext>
              </a:extLst>
            </p:cNvPr>
            <p:cNvGrpSpPr/>
            <p:nvPr/>
          </p:nvGrpSpPr>
          <p:grpSpPr>
            <a:xfrm>
              <a:off x="4286073" y="4196946"/>
              <a:ext cx="3681770" cy="853322"/>
              <a:chOff x="5474256" y="3981807"/>
              <a:chExt cx="3681770" cy="853322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5474256" y="3981807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Non-Palindromes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5474256" y="4472226"/>
                <a:ext cx="3681770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"Assembly" </a:t>
                </a:r>
                <a:r>
                  <a:rPr lang="en-US" sz="1750" dirty="0">
                    <a:solidFill>
                      <a:srgbClr val="373B48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➔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</a:t>
                </a:r>
                <a:r>
                  <a:rPr lang="en-US" sz="1750" b="1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Not a Palindrome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.</a:t>
                </a:r>
                <a:endParaRPr lang="en-US" sz="1750" dirty="0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9BE6DA2-0B54-AC8A-2298-7507BCBCE5C2}"/>
              </a:ext>
            </a:extLst>
          </p:cNvPr>
          <p:cNvGrpSpPr/>
          <p:nvPr/>
        </p:nvGrpSpPr>
        <p:grpSpPr>
          <a:xfrm>
            <a:off x="9106312" y="5339027"/>
            <a:ext cx="4196358" cy="2553811"/>
            <a:chOff x="3962462" y="5226226"/>
            <a:chExt cx="4196358" cy="255119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E62B9A-69B8-A096-6512-FF1E58A863D1}"/>
                </a:ext>
              </a:extLst>
            </p:cNvPr>
            <p:cNvGrpSpPr/>
            <p:nvPr/>
          </p:nvGrpSpPr>
          <p:grpSpPr>
            <a:xfrm>
              <a:off x="3962462" y="5226226"/>
              <a:ext cx="4196358" cy="2551198"/>
              <a:chOff x="10321385" y="5599385"/>
              <a:chExt cx="4196358" cy="2728436"/>
            </a:xfrm>
          </p:grpSpPr>
          <p:sp>
            <p:nvSpPr>
              <p:cNvPr id="40" name="Shape 6">
                <a:extLst>
                  <a:ext uri="{FF2B5EF4-FFF2-40B4-BE49-F238E27FC236}">
                    <a16:creationId xmlns:a16="http://schemas.microsoft.com/office/drawing/2014/main" id="{4A90E89A-5E30-5992-105F-075A2388D9AE}"/>
                  </a:ext>
                </a:extLst>
              </p:cNvPr>
              <p:cNvSpPr/>
              <p:nvPr/>
            </p:nvSpPr>
            <p:spPr>
              <a:xfrm>
                <a:off x="10321385" y="5599385"/>
                <a:ext cx="4196358" cy="2728436"/>
              </a:xfrm>
              <a:prstGeom prst="roundRect">
                <a:avLst>
                  <a:gd name="adj" fmla="val 3492"/>
                </a:avLst>
              </a:prstGeom>
              <a:solidFill>
                <a:srgbClr val="F2F2F2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Shape 2">
                <a:extLst>
                  <a:ext uri="{FF2B5EF4-FFF2-40B4-BE49-F238E27FC236}">
                    <a16:creationId xmlns:a16="http://schemas.microsoft.com/office/drawing/2014/main" id="{BEA05883-C829-450B-9072-1D55AA02C75A}"/>
                  </a:ext>
                </a:extLst>
              </p:cNvPr>
              <p:cNvSpPr/>
              <p:nvPr/>
            </p:nvSpPr>
            <p:spPr>
              <a:xfrm>
                <a:off x="10324004" y="5599385"/>
                <a:ext cx="127932" cy="2728436"/>
              </a:xfrm>
              <a:prstGeom prst="roundRect">
                <a:avLst>
                  <a:gd name="adj" fmla="val 78139"/>
                </a:avLst>
              </a:prstGeom>
              <a:solidFill>
                <a:srgbClr val="373B48"/>
              </a:solidFill>
              <a:ln/>
            </p:spPr>
            <p:txBody>
              <a:bodyPr/>
              <a:lstStyle/>
              <a:p>
                <a:endParaRPr lang="en-US" baseline="-25000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B1819BA-D997-B1E9-3AD2-DDE1479E388B}"/>
                </a:ext>
              </a:extLst>
            </p:cNvPr>
            <p:cNvGrpSpPr/>
            <p:nvPr/>
          </p:nvGrpSpPr>
          <p:grpSpPr>
            <a:xfrm>
              <a:off x="4285031" y="5502959"/>
              <a:ext cx="3681770" cy="1997732"/>
              <a:chOff x="9897427" y="3981807"/>
              <a:chExt cx="3681770" cy="1997732"/>
            </a:xfrm>
          </p:grpSpPr>
          <p:sp>
            <p:nvSpPr>
              <p:cNvPr id="19" name="Text 17"/>
              <p:cNvSpPr/>
              <p:nvPr/>
            </p:nvSpPr>
            <p:spPr>
              <a:xfrm>
                <a:off x="9897427" y="3981807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52586B"/>
                    </a:solidFill>
                    <a:latin typeface="Mona Sans Expanded" pitchFamily="2" charset="0"/>
                    <a:ea typeface="Mona Sans Semi Bold" pitchFamily="34" charset="-122"/>
                    <a:cs typeface="Mona Sans Semi Bold" pitchFamily="34" charset="-120"/>
                  </a:rPr>
                  <a:t>Edge Cases</a:t>
                </a:r>
                <a:endParaRPr lang="en-US" sz="2200" b="1" dirty="0">
                  <a:latin typeface="Mona Sans Expanded" pitchFamily="2" charset="0"/>
                </a:endParaRPr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9897427" y="4452130"/>
                <a:ext cx="3681770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Empty Input: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Displays </a:t>
                </a:r>
                <a:r>
                  <a:rPr lang="en-US" sz="1750" b="1" dirty="0">
                    <a:solidFill>
                      <a:srgbClr val="29769D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"Input was empty"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.</a:t>
                </a:r>
                <a:endParaRPr lang="en-US" sz="175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9897427" y="5253734"/>
                <a:ext cx="3681770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b="1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Exit Command: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 "</a:t>
                </a:r>
                <a:r>
                  <a:rPr lang="en-US" sz="1750" b="1" dirty="0">
                    <a:solidFill>
                      <a:schemeClr val="accent3">
                        <a:lumMod val="75000"/>
                      </a:schemeClr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EXIT</a:t>
                </a:r>
                <a:r>
                  <a:rPr lang="en-US" sz="1750" dirty="0">
                    <a:solidFill>
                      <a:srgbClr val="52586B"/>
                    </a:solidFill>
                    <a:latin typeface="Funnel Sans" pitchFamily="34" charset="0"/>
                    <a:ea typeface="Funnel Sans" pitchFamily="34" charset="-122"/>
                    <a:cs typeface="Funnel Sans" pitchFamily="34" charset="-120"/>
                  </a:rPr>
                  <a:t>" terminates program gracefully.</a:t>
                </a:r>
                <a:endParaRPr lang="en-US" sz="1750" dirty="0"/>
              </a:p>
            </p:txBody>
          </p:sp>
        </p:grp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92F05DCA-7FC1-90CC-139C-A4E956A0D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33" y="1539101"/>
            <a:ext cx="8339280" cy="63537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48AE5025-5906-E4B2-8F0A-5A38668FF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3230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Conclusion</a:t>
            </a:r>
            <a:endParaRPr lang="en-US" sz="4450" b="1" dirty="0">
              <a:latin typeface="Mona Sans Expande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987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Summary</a:t>
            </a:r>
            <a:endParaRPr lang="en-US" sz="2650" b="1" dirty="0">
              <a:latin typeface="Mona Sans Expanded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5088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Successfully met all objectives: dynamic input, manual reversal, and robust comparison.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5987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Value Add</a:t>
            </a:r>
            <a:endParaRPr lang="en-US" sz="2650" b="1" dirty="0">
              <a:latin typeface="Mona Sans Expanded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425088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Input sanitisation transforms a basic exercise into a practical, real-world utility.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5987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73B48"/>
                </a:solidFill>
                <a:latin typeface="Mona Sans Expanded" pitchFamily="2" charset="0"/>
                <a:ea typeface="Mona Sans Semi Bold" pitchFamily="34" charset="-122"/>
                <a:cs typeface="Mona Sans Semi Bold" pitchFamily="34" charset="-120"/>
              </a:rPr>
              <a:t>Skill Demonstration</a:t>
            </a:r>
            <a:endParaRPr lang="en-US" sz="2650" b="1" dirty="0">
              <a:latin typeface="Mona Sans Expanded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425088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Proved proficiency in 8086 architecture, including register management (</a:t>
            </a:r>
            <a:r>
              <a:rPr lang="en-US" sz="1750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SI, DI, CX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and ASCII operations.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C4C55E0C-1EBF-21AB-EFD5-A663E850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544128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Q&amp;A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415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 for your attention.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1849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Any Questions?</a:t>
            </a:r>
            <a:endParaRPr lang="en-US" sz="3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F8C6A-373C-0BB5-61C1-235C0A42C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631" y="521810"/>
            <a:ext cx="7185980" cy="718598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A820DF98-E1FF-1FB2-AE91-EC4685C01E18}"/>
              </a:ext>
            </a:extLst>
          </p:cNvPr>
          <p:cNvSpPr/>
          <p:nvPr/>
        </p:nvSpPr>
        <p:spPr>
          <a:xfrm>
            <a:off x="6650631" y="77524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Funnel Sans" pitchFamily="2" charset="0"/>
              </a:rPr>
              <a:t>Please Don’t Ask </a:t>
            </a:r>
            <a:r>
              <a:rPr lang="en-US" sz="1750" dirty="0">
                <a:solidFill>
                  <a:srgbClr val="373B48"/>
                </a:solidFill>
                <a:latin typeface="Funnel Sans" pitchFamily="2" charset="0"/>
                <a:sym typeface="Wingdings" panose="05000000000000000000" pitchFamily="2" charset="2"/>
              </a:rPr>
              <a:t></a:t>
            </a:r>
            <a:endParaRPr lang="en-US" sz="1750" dirty="0">
              <a:solidFill>
                <a:srgbClr val="373B48"/>
              </a:solidFill>
              <a:latin typeface="Funnel Sans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276</TotalTime>
  <Words>802</Words>
  <Application>Microsoft Office PowerPoint</Application>
  <PresentationFormat>Custom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Lucida Fax</vt:lpstr>
      <vt:lpstr>Calibri Light</vt:lpstr>
      <vt:lpstr>Mona Sans Expanded</vt:lpstr>
      <vt:lpstr>Mona Sans Light</vt:lpstr>
      <vt:lpstr>Consolas</vt:lpstr>
      <vt:lpstr>Funnel Sans</vt:lpstr>
      <vt:lpstr>Mona Sans Semi Bold</vt:lpstr>
      <vt:lpstr>Calibri</vt:lpstr>
      <vt:lpstr>Arial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Rafay Rajpoot</dc:creator>
  <cp:lastModifiedBy>RAFAY SADIQ</cp:lastModifiedBy>
  <cp:revision>10</cp:revision>
  <dcterms:created xsi:type="dcterms:W3CDTF">2025-12-13T16:26:34Z</dcterms:created>
  <dcterms:modified xsi:type="dcterms:W3CDTF">2025-12-23T01:27:04Z</dcterms:modified>
</cp:coreProperties>
</file>