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884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Funnel Sans" panose="020B0604020202020204" charset="0"/>
      <p:regular r:id="rId17"/>
      <p:bold r:id="rId18"/>
      <p:italic r:id="rId19"/>
      <p:boldItalic r:id="rId20"/>
    </p:embeddedFont>
    <p:embeddedFont>
      <p:font typeface="Mona Sans Expanded" panose="020B0604020202020204" charset="0"/>
      <p:regular r:id="rId21"/>
      <p:bold r:id="rId22"/>
      <p:italic r:id="rId23"/>
      <p:boldItalic r:id="rId24"/>
    </p:embeddedFont>
    <p:embeddedFont>
      <p:font typeface="Mona Sans Light" panose="020B0604020202020204" charset="0"/>
      <p:regular r:id="rId25"/>
      <p:italic r:id="rId26"/>
    </p:embeddedFont>
    <p:embeddedFont>
      <p:font typeface="Mona Sans Semi Bold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4F4"/>
    <a:srgbClr val="B2B2B2"/>
    <a:srgbClr val="52586B"/>
    <a:srgbClr val="888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44" autoAdjust="0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30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6334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87493-7CD4-C2E8-7ECF-A256D525A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6D6B01-EA22-2B7D-C1DB-5D607278FA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11EBE-B3FA-F099-9C61-DA8E39038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3F103-BC34-4FE4-A40E-EDDEECFDA5D0}" type="datetimeFigureOut">
              <a:rPr lang="en-US" smtClean="0"/>
              <a:pPr/>
              <a:t>1/31/2026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CDAF24-4BD3-8614-7A87-0AEA5B07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3CDC0-C1B4-4B50-F736-EBAB4BEDD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48905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A083E-91DE-BC8D-4CD3-3F35D7C63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B5843-8B14-983E-27AA-32DDB697F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DADBB6-41CE-BA22-E465-22569CEE7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1/31/2026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9415B-1278-B15E-0043-A62690318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04E85-DD0C-FBCB-605B-ED4473C26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84212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34F52-0898-5ED1-9E3B-1245DD76A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FE8EB1-E40B-09EE-C37D-3F850DEF2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533CB-9439-0229-1D82-028B4F7E9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1/31/2026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718B7-8FF3-B93C-CFBD-93FC7B684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927CB8-B102-3723-4792-5405518F2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19813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CBB1B-6089-EE12-3A1F-E355EEBCA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D5794-F3C2-E11D-69B2-A1D2D4F883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BB9FA5-FCE5-40B6-7339-2A352067D7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E55C53-7A76-A028-6563-F01379D16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1/31/2026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691D95-C665-16C6-AC58-CF2606664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64341E-4E91-18BD-6FF2-406C7957D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16450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5318F-BA4A-9656-EF34-27B417E8B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A5F3A-A343-DC75-5B72-1709781D73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90BFDA-21F5-3717-A024-44F9797B2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11609D-62D8-66BF-77DE-69D423D506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0AFC99-930F-359B-EA5E-7FDF1BAC90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167A0B-D12D-D928-A7A3-5AAC0A737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1/31/2026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5DD893-8197-2419-98EF-0412CC093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394B42-C985-E044-C4D8-BC8E21C95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95612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E270A-0E5B-BEF6-8B5A-8A1712753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2D56DA-1FDD-87F8-1727-B30CE35EA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1/31/2026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B73EF0-DE12-1F0D-0923-55AD39F6E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A9A493-5A98-70B8-3314-F1494FE70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89085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9DD9D8-DECE-06F7-C77C-1BA7AE860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1/31/2026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82055A-5007-E20C-EEA7-514CF3B8B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075E2F-8928-B40E-5685-81FD7630E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83355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91B17-9E2B-6563-996B-35A13D961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77674-5416-CF66-3A16-74AF751F7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690B3E-E80A-7AD4-34E5-8756EE927A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BC0C96-1153-4C13-81CB-B9B16342F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1/31/2026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6C489F-C94F-A698-D46B-1B78CDEDE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8B45A1-63B4-57A6-3A9D-2E256ED7B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8168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8A312-DBC1-4C5B-5D57-FC5F1AF8C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D55621-BF31-3C12-B23E-28113E6E77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B23D6-37D5-2039-3DBD-0BEDBB9596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46E146-107D-0767-F919-A12F968FD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1/31/2026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8E8840-E30A-2156-3D7A-9095D8494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8B8BEB-7626-89D4-6129-87511AD77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42714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E72FE-AAAC-EFEF-1918-753244274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CE8018-6370-FEB5-F47B-5D3A96FDFF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53E1F-2251-076A-8F72-15F50438D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1/31/2026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27DD6-F207-FEC4-CBEA-7B10402DA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E01AA-006A-6145-ECE9-D8E58B473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148378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55E043-E063-0129-97ED-E81DC1652E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86C243-2418-566A-824F-CB3915E6F1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26BF4-2EBC-15A3-3EC7-811662928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t>1/31/2026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9CD4F-F1EF-8574-BA02-18539BF73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DF9DF-14D1-2A3B-84D5-B83C1D917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88701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92925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38923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47152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3715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44690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43767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49866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20405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23619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8981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36DFD4-E468-0048-2ADE-F365E35C6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986665-CEEE-54D0-5418-E6022C6DB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FB9F15-958D-E419-BB08-7DBD089F42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1/31/2026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FCBB5A-CA3C-3259-3160-1F2FB76892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295A26-9684-64C9-E96D-EC25C9EFBA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793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5" r:id="rId1"/>
    <p:sldLayoutId id="2147483886" r:id="rId2"/>
    <p:sldLayoutId id="2147483887" r:id="rId3"/>
    <p:sldLayoutId id="2147483888" r:id="rId4"/>
    <p:sldLayoutId id="2147483889" r:id="rId5"/>
    <p:sldLayoutId id="2147483890" r:id="rId6"/>
    <p:sldLayoutId id="2147483891" r:id="rId7"/>
    <p:sldLayoutId id="2147483892" r:id="rId8"/>
    <p:sldLayoutId id="2147483893" r:id="rId9"/>
    <p:sldLayoutId id="2147483894" r:id="rId10"/>
    <p:sldLayoutId id="2147483895" r:id="rId11"/>
    <p:sldLayoutId id="2147483896" r:id="rId12"/>
    <p:sldLayoutId id="2147483897" r:id="rId13"/>
    <p:sldLayoutId id="2147483898" r:id="rId14"/>
    <p:sldLayoutId id="2147483899" r:id="rId15"/>
    <p:sldLayoutId id="2147483900" r:id="rId16"/>
    <p:sldLayoutId id="2147483901" r:id="rId17"/>
    <p:sldLayoutId id="2147483902" r:id="rId18"/>
    <p:sldLayoutId id="2147483903" r:id="rId19"/>
    <p:sldLayoutId id="2147483904" r:id="rId20"/>
    <p:sldLayoutId id="2147483905" r:id="rId21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6EAFBB7C-BA65-4034-8F52-32E6C514E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657" y="1866"/>
            <a:ext cx="14626741" cy="8229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B9D56ACA-1E9F-4685-8853-D3A4777AC0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66"/>
            <a:ext cx="14630400" cy="8229600"/>
          </a:xfrm>
          <a:custGeom>
            <a:avLst/>
            <a:gdLst>
              <a:gd name="connsiteX0" fmla="*/ 3847754 w 12192000"/>
              <a:gd name="connsiteY0" fmla="*/ 5 h 6858000"/>
              <a:gd name="connsiteX1" fmla="*/ 3847754 w 12192000"/>
              <a:gd name="connsiteY1" fmla="*/ 4197373 h 6858000"/>
              <a:gd name="connsiteX2" fmla="*/ 4423416 w 12192000"/>
              <a:gd name="connsiteY2" fmla="*/ 4197373 h 6858000"/>
              <a:gd name="connsiteX3" fmla="*/ 4430942 w 12192000"/>
              <a:gd name="connsiteY3" fmla="*/ 4172627 h 6858000"/>
              <a:gd name="connsiteX4" fmla="*/ 4570893 w 12192000"/>
              <a:gd name="connsiteY4" fmla="*/ 4067350 h 6858000"/>
              <a:gd name="connsiteX5" fmla="*/ 5082240 w 12192000"/>
              <a:gd name="connsiteY5" fmla="*/ 4000508 h 6858000"/>
              <a:gd name="connsiteX6" fmla="*/ 5767374 w 12192000"/>
              <a:gd name="connsiteY6" fmla="*/ 3903586 h 6858000"/>
              <a:gd name="connsiteX7" fmla="*/ 6455849 w 12192000"/>
              <a:gd name="connsiteY7" fmla="*/ 3820032 h 6858000"/>
              <a:gd name="connsiteX8" fmla="*/ 7144325 w 12192000"/>
              <a:gd name="connsiteY8" fmla="*/ 3820032 h 6858000"/>
              <a:gd name="connsiteX9" fmla="*/ 7341512 w 12192000"/>
              <a:gd name="connsiteY9" fmla="*/ 3826717 h 6858000"/>
              <a:gd name="connsiteX10" fmla="*/ 7344854 w 12192000"/>
              <a:gd name="connsiteY10" fmla="*/ 3826717 h 6858000"/>
              <a:gd name="connsiteX11" fmla="*/ 7534641 w 12192000"/>
              <a:gd name="connsiteY11" fmla="*/ 3832816 h 6858000"/>
              <a:gd name="connsiteX12" fmla="*/ 7534641 w 12192000"/>
              <a:gd name="connsiteY12" fmla="*/ 5 h 6858000"/>
              <a:gd name="connsiteX13" fmla="*/ 3728859 w 12192000"/>
              <a:gd name="connsiteY13" fmla="*/ 0 h 6858000"/>
              <a:gd name="connsiteX14" fmla="*/ 12192000 w 12192000"/>
              <a:gd name="connsiteY14" fmla="*/ 0 h 6858000"/>
              <a:gd name="connsiteX15" fmla="*/ 12192000 w 12192000"/>
              <a:gd name="connsiteY15" fmla="*/ 1 h 6858000"/>
              <a:gd name="connsiteX16" fmla="*/ 7653538 w 12192000"/>
              <a:gd name="connsiteY16" fmla="*/ 1 h 6858000"/>
              <a:gd name="connsiteX17" fmla="*/ 7653538 w 12192000"/>
              <a:gd name="connsiteY17" fmla="*/ 3836633 h 6858000"/>
              <a:gd name="connsiteX18" fmla="*/ 7773901 w 12192000"/>
              <a:gd name="connsiteY18" fmla="*/ 3840500 h 6858000"/>
              <a:gd name="connsiteX19" fmla="*/ 8200440 w 12192000"/>
              <a:gd name="connsiteY19" fmla="*/ 3856793 h 6858000"/>
              <a:gd name="connsiteX20" fmla="*/ 8517940 w 12192000"/>
              <a:gd name="connsiteY20" fmla="*/ 3860135 h 6858000"/>
              <a:gd name="connsiteX21" fmla="*/ 9206418 w 12192000"/>
              <a:gd name="connsiteY21" fmla="*/ 3863477 h 6858000"/>
              <a:gd name="connsiteX22" fmla="*/ 9891553 w 12192000"/>
              <a:gd name="connsiteY22" fmla="*/ 3850108 h 6858000"/>
              <a:gd name="connsiteX23" fmla="*/ 10586714 w 12192000"/>
              <a:gd name="connsiteY23" fmla="*/ 3810003 h 6858000"/>
              <a:gd name="connsiteX24" fmla="*/ 11271848 w 12192000"/>
              <a:gd name="connsiteY24" fmla="*/ 3756529 h 6858000"/>
              <a:gd name="connsiteX25" fmla="*/ 11709667 w 12192000"/>
              <a:gd name="connsiteY25" fmla="*/ 3636212 h 6858000"/>
              <a:gd name="connsiteX26" fmla="*/ 12184248 w 12192000"/>
              <a:gd name="connsiteY26" fmla="*/ 3429001 h 6858000"/>
              <a:gd name="connsiteX27" fmla="*/ 12192000 w 12192000"/>
              <a:gd name="connsiteY27" fmla="*/ 3437173 h 6858000"/>
              <a:gd name="connsiteX28" fmla="*/ 12192000 w 12192000"/>
              <a:gd name="connsiteY28" fmla="*/ 6858000 h 6858000"/>
              <a:gd name="connsiteX29" fmla="*/ 0 w 12192000"/>
              <a:gd name="connsiteY29" fmla="*/ 6858000 h 6858000"/>
              <a:gd name="connsiteX30" fmla="*/ 0 w 12192000"/>
              <a:gd name="connsiteY30" fmla="*/ 6857989 h 6858000"/>
              <a:gd name="connsiteX31" fmla="*/ 6542821 w 12192000"/>
              <a:gd name="connsiteY31" fmla="*/ 6857989 h 6858000"/>
              <a:gd name="connsiteX32" fmla="*/ 6553813 w 12192000"/>
              <a:gd name="connsiteY32" fmla="*/ 6856417 h 6858000"/>
              <a:gd name="connsiteX33" fmla="*/ 6836849 w 12192000"/>
              <a:gd name="connsiteY33" fmla="*/ 6797865 h 6858000"/>
              <a:gd name="connsiteX34" fmla="*/ 5951187 w 12192000"/>
              <a:gd name="connsiteY34" fmla="*/ 6644126 h 6858000"/>
              <a:gd name="connsiteX35" fmla="*/ 6001320 w 12192000"/>
              <a:gd name="connsiteY35" fmla="*/ 6624073 h 6858000"/>
              <a:gd name="connsiteX36" fmla="*/ 5904397 w 12192000"/>
              <a:gd name="connsiteY36" fmla="*/ 6543863 h 6858000"/>
              <a:gd name="connsiteX37" fmla="*/ 5506684 w 12192000"/>
              <a:gd name="connsiteY37" fmla="*/ 6416862 h 6858000"/>
              <a:gd name="connsiteX38" fmla="*/ 6001320 w 12192000"/>
              <a:gd name="connsiteY38" fmla="*/ 6202967 h 6858000"/>
              <a:gd name="connsiteX39" fmla="*/ 5443186 w 12192000"/>
              <a:gd name="connsiteY39" fmla="*/ 5912202 h 6858000"/>
              <a:gd name="connsiteX40" fmla="*/ 5159104 w 12192000"/>
              <a:gd name="connsiteY40" fmla="*/ 5842017 h 6858000"/>
              <a:gd name="connsiteX41" fmla="*/ 6094899 w 12192000"/>
              <a:gd name="connsiteY41" fmla="*/ 5477726 h 6858000"/>
              <a:gd name="connsiteX42" fmla="*/ 4577576 w 12192000"/>
              <a:gd name="connsiteY42" fmla="*/ 5297251 h 6858000"/>
              <a:gd name="connsiteX43" fmla="*/ 4701234 w 12192000"/>
              <a:gd name="connsiteY43" fmla="*/ 5223724 h 6858000"/>
              <a:gd name="connsiteX44" fmla="*/ 5643712 w 12192000"/>
              <a:gd name="connsiteY44" fmla="*/ 5243777 h 6858000"/>
              <a:gd name="connsiteX45" fmla="*/ 5800793 w 12192000"/>
              <a:gd name="connsiteY45" fmla="*/ 5186961 h 6858000"/>
              <a:gd name="connsiteX46" fmla="*/ 5643712 w 12192000"/>
              <a:gd name="connsiteY46" fmla="*/ 5096724 h 6858000"/>
              <a:gd name="connsiteX47" fmla="*/ 5032104 w 12192000"/>
              <a:gd name="connsiteY47" fmla="*/ 5029881 h 6858000"/>
              <a:gd name="connsiteX48" fmla="*/ 4871682 w 12192000"/>
              <a:gd name="connsiteY48" fmla="*/ 4879485 h 6858000"/>
              <a:gd name="connsiteX49" fmla="*/ 4600971 w 12192000"/>
              <a:gd name="connsiteY49" fmla="*/ 4705695 h 6858000"/>
              <a:gd name="connsiteX50" fmla="*/ 4788128 w 12192000"/>
              <a:gd name="connsiteY50" fmla="*/ 4561984 h 6858000"/>
              <a:gd name="connsiteX51" fmla="*/ 4483995 w 12192000"/>
              <a:gd name="connsiteY51" fmla="*/ 4348088 h 6858000"/>
              <a:gd name="connsiteX52" fmla="*/ 4460097 w 12192000"/>
              <a:gd name="connsiteY52" fmla="*/ 4316252 h 6858000"/>
              <a:gd name="connsiteX53" fmla="*/ 0 w 12192000"/>
              <a:gd name="connsiteY53" fmla="*/ 4316252 h 6858000"/>
              <a:gd name="connsiteX54" fmla="*/ 0 w 12192000"/>
              <a:gd name="connsiteY54" fmla="*/ 4197368 h 6858000"/>
              <a:gd name="connsiteX55" fmla="*/ 3728859 w 12192000"/>
              <a:gd name="connsiteY55" fmla="*/ 419736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000" h="6858000">
                <a:moveTo>
                  <a:pt x="3847754" y="5"/>
                </a:moveTo>
                <a:lnTo>
                  <a:pt x="3847754" y="4197373"/>
                </a:lnTo>
                <a:lnTo>
                  <a:pt x="4423416" y="4197373"/>
                </a:lnTo>
                <a:lnTo>
                  <a:pt x="4430942" y="4172627"/>
                </a:lnTo>
                <a:cubicBezTo>
                  <a:pt x="4453920" y="4128344"/>
                  <a:pt x="4509064" y="4095758"/>
                  <a:pt x="4570893" y="4067350"/>
                </a:cubicBezTo>
                <a:cubicBezTo>
                  <a:pt x="4731315" y="3997165"/>
                  <a:pt x="4908447" y="4013876"/>
                  <a:pt x="5082240" y="4000508"/>
                </a:cubicBezTo>
                <a:cubicBezTo>
                  <a:pt x="5312846" y="3970428"/>
                  <a:pt x="5533424" y="3900244"/>
                  <a:pt x="5767374" y="3903586"/>
                </a:cubicBezTo>
                <a:cubicBezTo>
                  <a:pt x="5987953" y="3833401"/>
                  <a:pt x="6231927" y="3910270"/>
                  <a:pt x="6455849" y="3820032"/>
                </a:cubicBezTo>
                <a:cubicBezTo>
                  <a:pt x="6683114" y="3820032"/>
                  <a:pt x="6913720" y="3820032"/>
                  <a:pt x="7144325" y="3820032"/>
                </a:cubicBezTo>
                <a:cubicBezTo>
                  <a:pt x="7211170" y="3823375"/>
                  <a:pt x="7274668" y="3823375"/>
                  <a:pt x="7341512" y="3826717"/>
                </a:cubicBezTo>
                <a:cubicBezTo>
                  <a:pt x="7341512" y="3826717"/>
                  <a:pt x="7344854" y="3826717"/>
                  <a:pt x="7344854" y="3826717"/>
                </a:cubicBezTo>
                <a:lnTo>
                  <a:pt x="7534641" y="3832816"/>
                </a:lnTo>
                <a:lnTo>
                  <a:pt x="7534641" y="5"/>
                </a:lnTo>
                <a:close/>
                <a:moveTo>
                  <a:pt x="3728859" y="0"/>
                </a:moveTo>
                <a:lnTo>
                  <a:pt x="12192000" y="0"/>
                </a:lnTo>
                <a:lnTo>
                  <a:pt x="12192000" y="1"/>
                </a:lnTo>
                <a:lnTo>
                  <a:pt x="7653538" y="1"/>
                </a:lnTo>
                <a:lnTo>
                  <a:pt x="7653538" y="3836633"/>
                </a:lnTo>
                <a:lnTo>
                  <a:pt x="7773901" y="3840500"/>
                </a:lnTo>
                <a:cubicBezTo>
                  <a:pt x="7916359" y="3845096"/>
                  <a:pt x="8058399" y="3850109"/>
                  <a:pt x="8200440" y="3856793"/>
                </a:cubicBezTo>
                <a:cubicBezTo>
                  <a:pt x="8307387" y="3856793"/>
                  <a:pt x="8410993" y="3860135"/>
                  <a:pt x="8517940" y="3860135"/>
                </a:cubicBezTo>
                <a:cubicBezTo>
                  <a:pt x="8745205" y="3876845"/>
                  <a:pt x="8975812" y="3886871"/>
                  <a:pt x="9206418" y="3863477"/>
                </a:cubicBezTo>
                <a:cubicBezTo>
                  <a:pt x="9437024" y="3883530"/>
                  <a:pt x="9660946" y="3870162"/>
                  <a:pt x="9891553" y="3850108"/>
                </a:cubicBezTo>
                <a:cubicBezTo>
                  <a:pt x="10125500" y="3873504"/>
                  <a:pt x="10356108" y="3840082"/>
                  <a:pt x="10586714" y="3810003"/>
                </a:cubicBezTo>
                <a:cubicBezTo>
                  <a:pt x="10817321" y="3823372"/>
                  <a:pt x="11047927" y="3823372"/>
                  <a:pt x="11271848" y="3756529"/>
                </a:cubicBezTo>
                <a:cubicBezTo>
                  <a:pt x="11442298" y="3830056"/>
                  <a:pt x="11525851" y="3589423"/>
                  <a:pt x="11709667" y="3636212"/>
                </a:cubicBezTo>
                <a:cubicBezTo>
                  <a:pt x="11893484" y="3686345"/>
                  <a:pt x="12023827" y="3495843"/>
                  <a:pt x="12184248" y="3429001"/>
                </a:cubicBezTo>
                <a:lnTo>
                  <a:pt x="12192000" y="3437173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857989"/>
                </a:lnTo>
                <a:lnTo>
                  <a:pt x="6542821" y="6857989"/>
                </a:lnTo>
                <a:lnTo>
                  <a:pt x="6553813" y="6856417"/>
                </a:lnTo>
                <a:cubicBezTo>
                  <a:pt x="6636844" y="6844080"/>
                  <a:pt x="6761651" y="6822931"/>
                  <a:pt x="6836849" y="6797865"/>
                </a:cubicBezTo>
                <a:cubicBezTo>
                  <a:pt x="6663059" y="6794522"/>
                  <a:pt x="5977924" y="6667523"/>
                  <a:pt x="5951187" y="6644126"/>
                </a:cubicBezTo>
                <a:cubicBezTo>
                  <a:pt x="5964556" y="6637442"/>
                  <a:pt x="5984611" y="6630759"/>
                  <a:pt x="6001320" y="6624073"/>
                </a:cubicBezTo>
                <a:cubicBezTo>
                  <a:pt x="5964556" y="6604022"/>
                  <a:pt x="5934477" y="6580627"/>
                  <a:pt x="5904397" y="6543863"/>
                </a:cubicBezTo>
                <a:cubicBezTo>
                  <a:pt x="5807476" y="6420205"/>
                  <a:pt x="5643712" y="6463653"/>
                  <a:pt x="5506684" y="6416862"/>
                </a:cubicBezTo>
                <a:cubicBezTo>
                  <a:pt x="5593580" y="6156177"/>
                  <a:pt x="5824187" y="6253098"/>
                  <a:pt x="6001320" y="6202967"/>
                </a:cubicBezTo>
                <a:cubicBezTo>
                  <a:pt x="5536764" y="6049228"/>
                  <a:pt x="5627001" y="5969017"/>
                  <a:pt x="5443186" y="5912202"/>
                </a:cubicBezTo>
                <a:cubicBezTo>
                  <a:pt x="5212579" y="5842017"/>
                  <a:pt x="5159104" y="5842017"/>
                  <a:pt x="5159104" y="5842017"/>
                </a:cubicBezTo>
                <a:cubicBezTo>
                  <a:pt x="5429816" y="5628122"/>
                  <a:pt x="5754003" y="5858729"/>
                  <a:pt x="6094899" y="5477726"/>
                </a:cubicBezTo>
                <a:cubicBezTo>
                  <a:pt x="5767371" y="5424253"/>
                  <a:pt x="4788128" y="5397515"/>
                  <a:pt x="4577576" y="5297251"/>
                </a:cubicBezTo>
                <a:cubicBezTo>
                  <a:pt x="4657786" y="5334014"/>
                  <a:pt x="4664471" y="5223724"/>
                  <a:pt x="4701234" y="5223724"/>
                </a:cubicBezTo>
                <a:cubicBezTo>
                  <a:pt x="5012051" y="5220383"/>
                  <a:pt x="5329552" y="5283884"/>
                  <a:pt x="5643712" y="5243777"/>
                </a:cubicBezTo>
                <a:cubicBezTo>
                  <a:pt x="5700528" y="5240436"/>
                  <a:pt x="5790766" y="5270513"/>
                  <a:pt x="5800793" y="5186961"/>
                </a:cubicBezTo>
                <a:cubicBezTo>
                  <a:pt x="5810818" y="5083355"/>
                  <a:pt x="5693843" y="5106750"/>
                  <a:pt x="5643712" y="5096724"/>
                </a:cubicBezTo>
                <a:cubicBezTo>
                  <a:pt x="5439842" y="5063302"/>
                  <a:pt x="5239316" y="5049935"/>
                  <a:pt x="5032104" y="5029881"/>
                </a:cubicBezTo>
                <a:cubicBezTo>
                  <a:pt x="4945209" y="5019854"/>
                  <a:pt x="4838261" y="5039907"/>
                  <a:pt x="4871682" y="4879485"/>
                </a:cubicBezTo>
                <a:cubicBezTo>
                  <a:pt x="4844944" y="4725749"/>
                  <a:pt x="4684523" y="4779222"/>
                  <a:pt x="4600971" y="4705695"/>
                </a:cubicBezTo>
                <a:cubicBezTo>
                  <a:pt x="4641075" y="4618800"/>
                  <a:pt x="4754708" y="4678959"/>
                  <a:pt x="4788128" y="4561984"/>
                </a:cubicBezTo>
                <a:cubicBezTo>
                  <a:pt x="4627707" y="4598747"/>
                  <a:pt x="4644418" y="4344747"/>
                  <a:pt x="4483995" y="4348088"/>
                </a:cubicBezTo>
                <a:lnTo>
                  <a:pt x="4460097" y="4316252"/>
                </a:lnTo>
                <a:lnTo>
                  <a:pt x="0" y="4316252"/>
                </a:lnTo>
                <a:lnTo>
                  <a:pt x="0" y="4197368"/>
                </a:lnTo>
                <a:lnTo>
                  <a:pt x="3728859" y="4197368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ext 0"/>
          <p:cNvSpPr/>
          <p:nvPr/>
        </p:nvSpPr>
        <p:spPr>
          <a:xfrm>
            <a:off x="7612380" y="5017768"/>
            <a:ext cx="6606976" cy="17656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b="1" dirty="0">
                <a:latin typeface="+mj-lt"/>
                <a:ea typeface="+mj-ea"/>
                <a:cs typeface="+mj-cs"/>
              </a:rPr>
              <a:t>Real-Time File Integrity Monitoring (FIM) for Critical Infrastructure</a:t>
            </a:r>
          </a:p>
        </p:txBody>
      </p:sp>
      <p:sp>
        <p:nvSpPr>
          <p:cNvPr id="4" name="Text 1"/>
          <p:cNvSpPr/>
          <p:nvPr/>
        </p:nvSpPr>
        <p:spPr>
          <a:xfrm>
            <a:off x="7612380" y="6851478"/>
            <a:ext cx="6475170" cy="7761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Enhancing Server Security using Wazuh &amp; Sysmon</a:t>
            </a:r>
          </a:p>
        </p:txBody>
      </p:sp>
      <p:pic>
        <p:nvPicPr>
          <p:cNvPr id="25" name="Picture 2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1A69F87-1F8A-6991-46F3-17CFB0CA6BB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602624" y="905300"/>
            <a:ext cx="3352496" cy="3352496"/>
          </a:xfrm>
          <a:prstGeom prst="rect">
            <a:avLst/>
          </a:prstGeom>
        </p:spPr>
      </p:pic>
      <p:pic>
        <p:nvPicPr>
          <p:cNvPr id="12" name="Picture 11" descr="A blue logo with a bird and a black background&#10;&#10;AI-generated content may be incorrect.">
            <a:extLst>
              <a:ext uri="{FF2B5EF4-FFF2-40B4-BE49-F238E27FC236}">
                <a16:creationId xmlns:a16="http://schemas.microsoft.com/office/drawing/2014/main" id="{33CE3CBB-3924-0B7E-6F3C-FE9C6EEC75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5157" y="720982"/>
            <a:ext cx="3477446" cy="3477446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10482C36-9431-36CC-1377-C17BAC747927}"/>
              </a:ext>
            </a:extLst>
          </p:cNvPr>
          <p:cNvGrpSpPr/>
          <p:nvPr/>
        </p:nvGrpSpPr>
        <p:grpSpPr>
          <a:xfrm>
            <a:off x="602624" y="5814105"/>
            <a:ext cx="4482533" cy="830519"/>
            <a:chOff x="793790" y="5469493"/>
            <a:chExt cx="6313884" cy="833319"/>
          </a:xfrm>
        </p:grpSpPr>
        <p:sp>
          <p:nvSpPr>
            <p:cNvPr id="5" name="Text 2"/>
            <p:cNvSpPr/>
            <p:nvPr/>
          </p:nvSpPr>
          <p:spPr>
            <a:xfrm>
              <a:off x="793790" y="5469493"/>
              <a:ext cx="6313884" cy="34016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defTabSz="641452">
                <a:lnSpc>
                  <a:spcPts val="1860"/>
                </a:lnSpc>
                <a:spcAft>
                  <a:spcPts val="690"/>
                </a:spcAft>
              </a:pPr>
              <a:r>
                <a:rPr lang="en-US" b="1" kern="1200" dirty="0">
                  <a:solidFill>
                    <a:srgbClr val="40465A"/>
                  </a:solidFill>
                  <a:latin typeface="Mona Sans Expanded" pitchFamily="2" charset="0"/>
                  <a:ea typeface="Funnel Sans" pitchFamily="34" charset="-122"/>
                  <a:cs typeface="+mn-cs"/>
                </a:rPr>
                <a:t>Presented by:</a:t>
              </a:r>
              <a:endParaRPr lang="en-US" sz="3600" b="1" dirty="0">
                <a:latin typeface="Mona Sans Expanded" pitchFamily="2" charset="0"/>
              </a:endParaRPr>
            </a:p>
          </p:txBody>
        </p:sp>
        <p:sp>
          <p:nvSpPr>
            <p:cNvPr id="6" name="Text 3"/>
            <p:cNvSpPr/>
            <p:nvPr/>
          </p:nvSpPr>
          <p:spPr>
            <a:xfrm>
              <a:off x="793790" y="5962650"/>
              <a:ext cx="6313884" cy="34016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defTabSz="641452">
                <a:lnSpc>
                  <a:spcPts val="1860"/>
                </a:lnSpc>
                <a:spcAft>
                  <a:spcPts val="690"/>
                </a:spcAft>
              </a:pPr>
              <a:r>
                <a:rPr lang="en-US" kern="1200">
                  <a:solidFill>
                    <a:srgbClr val="40465A"/>
                  </a:solidFill>
                  <a:latin typeface="Funnel Sans" pitchFamily="34" charset="0"/>
                  <a:ea typeface="Funnel Sans" pitchFamily="34" charset="-122"/>
                  <a:cs typeface="+mn-cs"/>
                </a:rPr>
                <a:t>Abdul Rafay (Roll No: </a:t>
              </a:r>
              <a:r>
                <a:rPr lang="en-US" b="1" kern="1200">
                  <a:solidFill>
                    <a:srgbClr val="40465A"/>
                  </a:solidFill>
                  <a:latin typeface="Funnel Sans" pitchFamily="34" charset="0"/>
                  <a:ea typeface="Funnel Sans" pitchFamily="34" charset="-122"/>
                  <a:cs typeface="+mn-cs"/>
                </a:rPr>
                <a:t>243705</a:t>
              </a:r>
              <a:r>
                <a:rPr lang="en-US" kern="1200">
                  <a:solidFill>
                    <a:srgbClr val="40465A"/>
                  </a:solidFill>
                  <a:latin typeface="Funnel Sans" pitchFamily="34" charset="0"/>
                  <a:ea typeface="Funnel Sans" pitchFamily="34" charset="-122"/>
                  <a:cs typeface="+mn-cs"/>
                </a:rPr>
                <a:t>)</a:t>
              </a:r>
              <a:endParaRPr lang="en-US" sz="360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D5C909F-5800-63A5-0665-5AF43A2DD6C8}"/>
              </a:ext>
            </a:extLst>
          </p:cNvPr>
          <p:cNvGrpSpPr/>
          <p:nvPr/>
        </p:nvGrpSpPr>
        <p:grpSpPr>
          <a:xfrm>
            <a:off x="9666102" y="1553637"/>
            <a:ext cx="4205482" cy="1679752"/>
            <a:chOff x="4583470" y="5971540"/>
            <a:chExt cx="3321010" cy="1326476"/>
          </a:xfrm>
        </p:grpSpPr>
        <p:sp>
          <p:nvSpPr>
            <p:cNvPr id="19" name="Text 3">
              <a:extLst>
                <a:ext uri="{FF2B5EF4-FFF2-40B4-BE49-F238E27FC236}">
                  <a16:creationId xmlns:a16="http://schemas.microsoft.com/office/drawing/2014/main" id="{A069C934-53C3-0250-BAF8-B521F04A0CE8}"/>
                </a:ext>
              </a:extLst>
            </p:cNvPr>
            <p:cNvSpPr/>
            <p:nvPr/>
          </p:nvSpPr>
          <p:spPr>
            <a:xfrm>
              <a:off x="4583470" y="5971540"/>
              <a:ext cx="3321010" cy="34016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defTabSz="1155436">
                <a:lnSpc>
                  <a:spcPts val="3349"/>
                </a:lnSpc>
                <a:spcAft>
                  <a:spcPts val="648"/>
                </a:spcAft>
              </a:pPr>
              <a:r>
                <a:rPr lang="en-US" sz="2085" b="1" kern="1200" dirty="0">
                  <a:solidFill>
                    <a:srgbClr val="40465A"/>
                  </a:solidFill>
                  <a:latin typeface="Funnel Sans" pitchFamily="2" charset="0"/>
                  <a:ea typeface="+mn-ea"/>
                  <a:cs typeface="+mn-cs"/>
                </a:rPr>
                <a:t>Subject:</a:t>
              </a:r>
              <a:r>
                <a:rPr lang="en-US" sz="2085" kern="1200" dirty="0">
                  <a:solidFill>
                    <a:srgbClr val="40465A"/>
                  </a:solidFill>
                  <a:latin typeface="Funnel Sans" pitchFamily="2" charset="0"/>
                  <a:ea typeface="+mn-ea"/>
                  <a:cs typeface="+mn-cs"/>
                </a:rPr>
                <a:t> Information Assurance </a:t>
              </a:r>
              <a:endParaRPr lang="en-US" sz="1650" dirty="0">
                <a:solidFill>
                  <a:srgbClr val="52586B"/>
                </a:solidFill>
                <a:latin typeface="Funnel Sans" pitchFamily="2" charset="0"/>
              </a:endParaRPr>
            </a:p>
          </p:txBody>
        </p:sp>
        <p:sp>
          <p:nvSpPr>
            <p:cNvPr id="20" name="Text 4">
              <a:extLst>
                <a:ext uri="{FF2B5EF4-FFF2-40B4-BE49-F238E27FC236}">
                  <a16:creationId xmlns:a16="http://schemas.microsoft.com/office/drawing/2014/main" id="{EAECAD07-2BD3-C677-8FBB-9B4D7193F0DD}"/>
                </a:ext>
              </a:extLst>
            </p:cNvPr>
            <p:cNvSpPr/>
            <p:nvPr/>
          </p:nvSpPr>
          <p:spPr>
            <a:xfrm>
              <a:off x="4583470" y="6464697"/>
              <a:ext cx="3321010" cy="34016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defTabSz="1155436">
                <a:lnSpc>
                  <a:spcPts val="3349"/>
                </a:lnSpc>
                <a:spcAft>
                  <a:spcPts val="648"/>
                </a:spcAft>
              </a:pPr>
              <a:r>
                <a:rPr lang="en-US" sz="2085" b="1" kern="1200">
                  <a:solidFill>
                    <a:srgbClr val="40465A"/>
                  </a:solidFill>
                  <a:latin typeface="Funnel Sans" pitchFamily="2" charset="0"/>
                  <a:ea typeface="+mn-ea"/>
                  <a:cs typeface="+mn-cs"/>
                </a:rPr>
                <a:t>Submitted To: </a:t>
              </a:r>
              <a:r>
                <a:rPr lang="en-US" sz="2085" kern="1200">
                  <a:solidFill>
                    <a:srgbClr val="40465A"/>
                  </a:solidFill>
                  <a:latin typeface="Funnel Sans" pitchFamily="2" charset="0"/>
                  <a:ea typeface="+mn-ea"/>
                  <a:cs typeface="+mn-cs"/>
                </a:rPr>
                <a:t>Dr Ahmed Naeem</a:t>
              </a:r>
              <a:endParaRPr lang="en-US" sz="1650">
                <a:solidFill>
                  <a:srgbClr val="52586B"/>
                </a:solidFill>
                <a:latin typeface="Funnel Sans" pitchFamily="2" charset="0"/>
              </a:endParaRPr>
            </a:p>
          </p:txBody>
        </p:sp>
        <p:sp>
          <p:nvSpPr>
            <p:cNvPr id="21" name="Text 5">
              <a:extLst>
                <a:ext uri="{FF2B5EF4-FFF2-40B4-BE49-F238E27FC236}">
                  <a16:creationId xmlns:a16="http://schemas.microsoft.com/office/drawing/2014/main" id="{E46EFBBF-4B08-C32C-144A-2D783AD3B6F4}"/>
                </a:ext>
              </a:extLst>
            </p:cNvPr>
            <p:cNvSpPr/>
            <p:nvPr/>
          </p:nvSpPr>
          <p:spPr>
            <a:xfrm>
              <a:off x="4583470" y="6957854"/>
              <a:ext cx="3321010" cy="34016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defTabSz="1155436">
                <a:lnSpc>
                  <a:spcPts val="3349"/>
                </a:lnSpc>
                <a:spcAft>
                  <a:spcPts val="648"/>
                </a:spcAft>
              </a:pPr>
              <a:r>
                <a:rPr lang="en-US" sz="2085" b="1" kern="1200" dirty="0">
                  <a:solidFill>
                    <a:srgbClr val="40465A"/>
                  </a:solidFill>
                  <a:latin typeface="Funnel Sans" pitchFamily="34" charset="0"/>
                  <a:ea typeface="Funnel Sans" pitchFamily="34" charset="-122"/>
                  <a:cs typeface="+mn-cs"/>
                </a:rPr>
                <a:t>Section:</a:t>
              </a:r>
              <a:r>
                <a:rPr lang="en-US" sz="2085" kern="1200" dirty="0">
                  <a:solidFill>
                    <a:srgbClr val="40465A"/>
                  </a:solidFill>
                  <a:latin typeface="Funnel Sans" pitchFamily="34" charset="0"/>
                  <a:ea typeface="Funnel Sans" pitchFamily="34" charset="-122"/>
                  <a:cs typeface="+mn-cs"/>
                </a:rPr>
                <a:t> Bs Cyber Security – A </a:t>
              </a:r>
              <a:endParaRPr lang="en-US" sz="165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670" y="1550789"/>
            <a:ext cx="1205992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000" b="1" dirty="0">
                <a:solidFill>
                  <a:schemeClr val="bg2">
                    <a:lumMod val="25000"/>
                  </a:schemeClr>
                </a:solidFill>
                <a:latin typeface="Mona Sans Expanded" pitchFamily="2" charset="0"/>
                <a:ea typeface="Mona Sans Semi Bold" pitchFamily="34" charset="-122"/>
                <a:cs typeface="Mona Sans Semi Bold" pitchFamily="34" charset="-120"/>
              </a:rPr>
              <a:t>Introduction to File Integrity Monitoring (FIM)</a:t>
            </a:r>
            <a:endParaRPr lang="en-US" sz="4000" b="1" dirty="0">
              <a:solidFill>
                <a:schemeClr val="bg2">
                  <a:lumMod val="25000"/>
                </a:schemeClr>
              </a:solidFill>
              <a:latin typeface="Mona Sans Expanded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602105" y="2883337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3</a:t>
            </a:r>
            <a:endParaRPr lang="en-US" sz="2100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BA4CE07-AEAB-1FE9-7884-D1D68633481A}"/>
              </a:ext>
            </a:extLst>
          </p:cNvPr>
          <p:cNvGrpSpPr/>
          <p:nvPr/>
        </p:nvGrpSpPr>
        <p:grpSpPr>
          <a:xfrm>
            <a:off x="793670" y="3053358"/>
            <a:ext cx="4196478" cy="3625453"/>
            <a:chOff x="793670" y="3053358"/>
            <a:chExt cx="4196478" cy="3625453"/>
          </a:xfrm>
        </p:grpSpPr>
        <p:sp>
          <p:nvSpPr>
            <p:cNvPr id="3" name="Shape 1"/>
            <p:cNvSpPr/>
            <p:nvPr/>
          </p:nvSpPr>
          <p:spPr>
            <a:xfrm>
              <a:off x="793790" y="3053358"/>
              <a:ext cx="4196358" cy="3625453"/>
            </a:xfrm>
            <a:prstGeom prst="roundRect">
              <a:avLst>
                <a:gd name="adj" fmla="val 4035"/>
              </a:avLst>
            </a:prstGeom>
            <a:noFill/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1051084" y="3671133"/>
              <a:ext cx="3402330" cy="4252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300"/>
                </a:lnSpc>
                <a:buNone/>
              </a:pPr>
              <a:r>
                <a:rPr lang="en-US" sz="2650" b="1" dirty="0">
                  <a:solidFill>
                    <a:srgbClr val="52586B"/>
                  </a:solidFill>
                  <a:latin typeface="Mona Sans Expanded" pitchFamily="2" charset="0"/>
                  <a:ea typeface="Mona Sans Semi Bold" pitchFamily="34" charset="-122"/>
                  <a:cs typeface="Mona Sans Semi Bold" pitchFamily="34" charset="-120"/>
                </a:rPr>
                <a:t>What is FIM?</a:t>
              </a:r>
              <a:endParaRPr lang="en-US" sz="2650" b="1" dirty="0">
                <a:latin typeface="Mona Sans Expanded" pitchFamily="2" charset="0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1051084" y="4181713"/>
              <a:ext cx="3681770" cy="18145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A crucial technology designed to monitor files for unauthorised modifications. It acts as a digital "tripwire" for sensitive data, flagging any unexpected changes.</a:t>
              </a:r>
              <a:endParaRPr lang="en-US" sz="1750" dirty="0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A060D491-483E-0022-9621-6E6E6843F537}"/>
                </a:ext>
              </a:extLst>
            </p:cNvPr>
            <p:cNvGrpSpPr/>
            <p:nvPr/>
          </p:nvGrpSpPr>
          <p:grpSpPr>
            <a:xfrm>
              <a:off x="793670" y="3080431"/>
              <a:ext cx="4196358" cy="471858"/>
              <a:chOff x="661334" y="2533293"/>
              <a:chExt cx="4196358" cy="471858"/>
            </a:xfrm>
          </p:grpSpPr>
          <p:sp>
            <p:nvSpPr>
              <p:cNvPr id="26" name="Text 1">
                <a:extLst>
                  <a:ext uri="{FF2B5EF4-FFF2-40B4-BE49-F238E27FC236}">
                    <a16:creationId xmlns:a16="http://schemas.microsoft.com/office/drawing/2014/main" id="{84A4F880-A8E8-7AA8-972B-2934D0592253}"/>
                  </a:ext>
                </a:extLst>
              </p:cNvPr>
              <p:cNvSpPr/>
              <p:nvPr/>
            </p:nvSpPr>
            <p:spPr>
              <a:xfrm>
                <a:off x="793790" y="2533293"/>
                <a:ext cx="226814" cy="28348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52586B"/>
                    </a:solidFill>
                    <a:latin typeface="Mona Sans Light" pitchFamily="34" charset="0"/>
                    <a:ea typeface="Mona Sans Light" pitchFamily="34" charset="-122"/>
                    <a:cs typeface="Mona Sans Light" pitchFamily="34" charset="-120"/>
                  </a:rPr>
                  <a:t>01</a:t>
                </a:r>
                <a:endParaRPr lang="en-US" sz="1750" dirty="0"/>
              </a:p>
            </p:txBody>
          </p:sp>
          <p:sp>
            <p:nvSpPr>
              <p:cNvPr id="27" name="Shape 3">
                <a:extLst>
                  <a:ext uri="{FF2B5EF4-FFF2-40B4-BE49-F238E27FC236}">
                    <a16:creationId xmlns:a16="http://schemas.microsoft.com/office/drawing/2014/main" id="{043B7B9B-9567-89AA-AEC1-E0DE8094A5D5}"/>
                  </a:ext>
                </a:extLst>
              </p:cNvPr>
              <p:cNvSpPr/>
              <p:nvPr/>
            </p:nvSpPr>
            <p:spPr>
              <a:xfrm rot="5400000">
                <a:off x="2723852" y="871311"/>
                <a:ext cx="71322" cy="4196358"/>
              </a:xfrm>
              <a:prstGeom prst="roundRect">
                <a:avLst>
                  <a:gd name="adj" fmla="val 78139"/>
                </a:avLst>
              </a:prstGeom>
              <a:solidFill>
                <a:srgbClr val="373B48"/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</p:grp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BC4F5B7-F8E3-29C2-24BE-98C66B290A96}"/>
              </a:ext>
            </a:extLst>
          </p:cNvPr>
          <p:cNvGrpSpPr/>
          <p:nvPr/>
        </p:nvGrpSpPr>
        <p:grpSpPr>
          <a:xfrm>
            <a:off x="9628823" y="3053358"/>
            <a:ext cx="4207668" cy="3625453"/>
            <a:chOff x="9628823" y="3053358"/>
            <a:chExt cx="4207668" cy="3625453"/>
          </a:xfrm>
        </p:grpSpPr>
        <p:sp>
          <p:nvSpPr>
            <p:cNvPr id="15" name="Shape 13"/>
            <p:cNvSpPr/>
            <p:nvPr/>
          </p:nvSpPr>
          <p:spPr>
            <a:xfrm>
              <a:off x="9640133" y="3053358"/>
              <a:ext cx="4196358" cy="3625453"/>
            </a:xfrm>
            <a:prstGeom prst="roundRect">
              <a:avLst>
                <a:gd name="adj" fmla="val 4035"/>
              </a:avLst>
            </a:prstGeom>
            <a:noFill/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Text 17"/>
            <p:cNvSpPr/>
            <p:nvPr/>
          </p:nvSpPr>
          <p:spPr>
            <a:xfrm>
              <a:off x="9897427" y="3671133"/>
              <a:ext cx="3681770" cy="85058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3300"/>
                </a:lnSpc>
                <a:buNone/>
              </a:pPr>
              <a:r>
                <a:rPr lang="en-US" sz="2650" b="1" dirty="0">
                  <a:solidFill>
                    <a:srgbClr val="52586B"/>
                  </a:solidFill>
                  <a:latin typeface="Mona Sans Expanded" pitchFamily="2" charset="0"/>
                  <a:ea typeface="Mona Sans Semi Bold" pitchFamily="34" charset="-122"/>
                  <a:cs typeface="Mona Sans Semi Bold" pitchFamily="34" charset="-120"/>
                </a:rPr>
                <a:t>The Goal: Ensuring Integrity</a:t>
              </a:r>
              <a:endParaRPr lang="en-US" sz="2650" b="1" dirty="0">
                <a:latin typeface="Mona Sans Expanded" pitchFamily="2" charset="0"/>
              </a:endParaRPr>
            </a:p>
          </p:txBody>
        </p:sp>
        <p:sp>
          <p:nvSpPr>
            <p:cNvPr id="20" name="Text 18"/>
            <p:cNvSpPr/>
            <p:nvPr/>
          </p:nvSpPr>
          <p:spPr>
            <a:xfrm>
              <a:off x="9897427" y="4607004"/>
              <a:ext cx="3681770" cy="18145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FIM is fundamental to upholding the "Integrity" pillar of the CIA Triad (Confidentiality, Integrity, Availability), safeguarding data from malicious or accidental corruption.</a:t>
              </a:r>
              <a:endParaRPr lang="en-US" sz="1750" dirty="0"/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2D35235D-EBDB-766A-8A0E-1F6C9CCAB7B5}"/>
                </a:ext>
              </a:extLst>
            </p:cNvPr>
            <p:cNvGrpSpPr/>
            <p:nvPr/>
          </p:nvGrpSpPr>
          <p:grpSpPr>
            <a:xfrm>
              <a:off x="9628823" y="3081933"/>
              <a:ext cx="4196358" cy="471858"/>
              <a:chOff x="9628823" y="2533293"/>
              <a:chExt cx="4342148" cy="471858"/>
            </a:xfrm>
          </p:grpSpPr>
          <p:sp>
            <p:nvSpPr>
              <p:cNvPr id="29" name="Text 12">
                <a:extLst>
                  <a:ext uri="{FF2B5EF4-FFF2-40B4-BE49-F238E27FC236}">
                    <a16:creationId xmlns:a16="http://schemas.microsoft.com/office/drawing/2014/main" id="{8E3F5025-272C-58A8-48FF-BAAF5BEC079D}"/>
                  </a:ext>
                </a:extLst>
              </p:cNvPr>
              <p:cNvSpPr/>
              <p:nvPr/>
            </p:nvSpPr>
            <p:spPr>
              <a:xfrm>
                <a:off x="9753540" y="2533293"/>
                <a:ext cx="226814" cy="28348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52586B"/>
                    </a:solidFill>
                    <a:latin typeface="Mona Sans Light" pitchFamily="34" charset="0"/>
                    <a:ea typeface="Mona Sans Light" pitchFamily="34" charset="-122"/>
                    <a:cs typeface="Mona Sans Light" pitchFamily="34" charset="-120"/>
                  </a:rPr>
                  <a:t>03</a:t>
                </a:r>
                <a:endParaRPr lang="en-US" sz="1750" dirty="0"/>
              </a:p>
            </p:txBody>
          </p:sp>
          <p:sp>
            <p:nvSpPr>
              <p:cNvPr id="30" name="Shape 3">
                <a:extLst>
                  <a:ext uri="{FF2B5EF4-FFF2-40B4-BE49-F238E27FC236}">
                    <a16:creationId xmlns:a16="http://schemas.microsoft.com/office/drawing/2014/main" id="{83159423-D25D-D1AC-7E62-460B067CA027}"/>
                  </a:ext>
                </a:extLst>
              </p:cNvPr>
              <p:cNvSpPr/>
              <p:nvPr/>
            </p:nvSpPr>
            <p:spPr>
              <a:xfrm rot="5400000">
                <a:off x="11764236" y="798416"/>
                <a:ext cx="71322" cy="4342148"/>
              </a:xfrm>
              <a:prstGeom prst="roundRect">
                <a:avLst>
                  <a:gd name="adj" fmla="val 78139"/>
                </a:avLst>
              </a:prstGeom>
              <a:solidFill>
                <a:srgbClr val="373B48"/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9ED6B14-0BD3-A3A3-29BC-6EC350BBB0DE}"/>
              </a:ext>
            </a:extLst>
          </p:cNvPr>
          <p:cNvGrpSpPr/>
          <p:nvPr/>
        </p:nvGrpSpPr>
        <p:grpSpPr>
          <a:xfrm>
            <a:off x="5216962" y="3053358"/>
            <a:ext cx="4200358" cy="3625453"/>
            <a:chOff x="5216962" y="3053358"/>
            <a:chExt cx="4200358" cy="3625453"/>
          </a:xfrm>
        </p:grpSpPr>
        <p:sp>
          <p:nvSpPr>
            <p:cNvPr id="9" name="Shape 7"/>
            <p:cNvSpPr/>
            <p:nvPr/>
          </p:nvSpPr>
          <p:spPr>
            <a:xfrm>
              <a:off x="5216962" y="3053358"/>
              <a:ext cx="4196358" cy="3625453"/>
            </a:xfrm>
            <a:prstGeom prst="roundRect">
              <a:avLst>
                <a:gd name="adj" fmla="val 4035"/>
              </a:avLst>
            </a:prstGeom>
            <a:noFill/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Text 11"/>
            <p:cNvSpPr/>
            <p:nvPr/>
          </p:nvSpPr>
          <p:spPr>
            <a:xfrm>
              <a:off x="5474256" y="3671133"/>
              <a:ext cx="3402330" cy="4252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300"/>
                </a:lnSpc>
                <a:buNone/>
              </a:pPr>
              <a:r>
                <a:rPr lang="en-US" sz="2650" b="1" dirty="0">
                  <a:solidFill>
                    <a:srgbClr val="52586B"/>
                  </a:solidFill>
                  <a:latin typeface="Mona Sans Expanded" pitchFamily="2" charset="0"/>
                  <a:ea typeface="Mona Sans Semi Bold" pitchFamily="34" charset="-122"/>
                  <a:cs typeface="Mona Sans Semi Bold" pitchFamily="34" charset="-120"/>
                </a:rPr>
                <a:t>The Core Concept</a:t>
              </a:r>
              <a:endParaRPr lang="en-US" sz="2650" b="1" dirty="0">
                <a:latin typeface="Mona Sans Expanded" pitchFamily="2" charset="0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5474256" y="4181713"/>
              <a:ext cx="3681770" cy="21774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In essence, FIM provides an answer to the critical question: "If a file changes, was that change authorised?" It scrutinises attributes such as file size, modification dates, and cryptographic hashes.</a:t>
              </a:r>
              <a:endParaRPr lang="en-US" sz="1750" dirty="0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6B822716-B6CF-67F2-2C80-53AD1DD23061}"/>
                </a:ext>
              </a:extLst>
            </p:cNvPr>
            <p:cNvGrpSpPr/>
            <p:nvPr/>
          </p:nvGrpSpPr>
          <p:grpSpPr>
            <a:xfrm>
              <a:off x="5220962" y="3093361"/>
              <a:ext cx="4196358" cy="471858"/>
              <a:chOff x="5061031" y="2533293"/>
              <a:chExt cx="4342148" cy="471858"/>
            </a:xfrm>
          </p:grpSpPr>
          <p:sp>
            <p:nvSpPr>
              <p:cNvPr id="32" name="Text 5">
                <a:extLst>
                  <a:ext uri="{FF2B5EF4-FFF2-40B4-BE49-F238E27FC236}">
                    <a16:creationId xmlns:a16="http://schemas.microsoft.com/office/drawing/2014/main" id="{07C98665-5F43-CD39-B36B-49782D651A3A}"/>
                  </a:ext>
                </a:extLst>
              </p:cNvPr>
              <p:cNvSpPr/>
              <p:nvPr/>
            </p:nvSpPr>
            <p:spPr>
              <a:xfrm>
                <a:off x="5216962" y="2533293"/>
                <a:ext cx="226814" cy="28348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52586B"/>
                    </a:solidFill>
                    <a:latin typeface="Mona Sans Light" pitchFamily="34" charset="0"/>
                    <a:ea typeface="Mona Sans Light" pitchFamily="34" charset="-122"/>
                    <a:cs typeface="Mona Sans Light" pitchFamily="34" charset="-120"/>
                  </a:rPr>
                  <a:t>02</a:t>
                </a:r>
                <a:endParaRPr lang="en-US" sz="1750" dirty="0"/>
              </a:p>
            </p:txBody>
          </p:sp>
          <p:sp>
            <p:nvSpPr>
              <p:cNvPr id="33" name="Shape 3">
                <a:extLst>
                  <a:ext uri="{FF2B5EF4-FFF2-40B4-BE49-F238E27FC236}">
                    <a16:creationId xmlns:a16="http://schemas.microsoft.com/office/drawing/2014/main" id="{A6BDCDEC-8D81-DE2E-F325-18A7C85A6E8C}"/>
                  </a:ext>
                </a:extLst>
              </p:cNvPr>
              <p:cNvSpPr/>
              <p:nvPr/>
            </p:nvSpPr>
            <p:spPr>
              <a:xfrm rot="5400000">
                <a:off x="7196444" y="798416"/>
                <a:ext cx="71322" cy="4342148"/>
              </a:xfrm>
              <a:prstGeom prst="roundRect">
                <a:avLst>
                  <a:gd name="adj" fmla="val 78139"/>
                </a:avLst>
              </a:prstGeom>
              <a:solidFill>
                <a:srgbClr val="373B48"/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9527" y="1550698"/>
            <a:ext cx="984504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000" b="1" dirty="0">
                <a:solidFill>
                  <a:schemeClr val="bg2">
                    <a:lumMod val="25000"/>
                  </a:schemeClr>
                </a:solidFill>
                <a:latin typeface="Mona Sans Expanded" pitchFamily="2" charset="0"/>
                <a:ea typeface="Mona Sans Semi Bold" pitchFamily="34" charset="-122"/>
                <a:cs typeface="Mona Sans Semi Bold" pitchFamily="34" charset="-120"/>
              </a:rPr>
              <a:t>The Problem: Silent Data Corruption</a:t>
            </a:r>
            <a:endParaRPr lang="en-US" sz="4000" b="1" dirty="0">
              <a:solidFill>
                <a:schemeClr val="bg2">
                  <a:lumMod val="25000"/>
                </a:schemeClr>
              </a:solidFill>
              <a:latin typeface="Mona Sans Expanded" pitchFamily="2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BB6E6EC-3586-8A1C-6CA2-268296320F27}"/>
              </a:ext>
            </a:extLst>
          </p:cNvPr>
          <p:cNvGrpSpPr/>
          <p:nvPr/>
        </p:nvGrpSpPr>
        <p:grpSpPr>
          <a:xfrm>
            <a:off x="614620" y="3046460"/>
            <a:ext cx="4202432" cy="3625453"/>
            <a:chOff x="614620" y="3046460"/>
            <a:chExt cx="4202432" cy="3625453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D7B05A7E-B31A-8DA0-3CA1-CC2A60D17E8A}"/>
                </a:ext>
              </a:extLst>
            </p:cNvPr>
            <p:cNvGrpSpPr/>
            <p:nvPr/>
          </p:nvGrpSpPr>
          <p:grpSpPr>
            <a:xfrm>
              <a:off x="614620" y="3046460"/>
              <a:ext cx="4196358" cy="3625453"/>
              <a:chOff x="614620" y="3046460"/>
              <a:chExt cx="4196358" cy="3625453"/>
            </a:xfrm>
          </p:grpSpPr>
          <p:sp>
            <p:nvSpPr>
              <p:cNvPr id="9" name="Shape 1">
                <a:extLst>
                  <a:ext uri="{FF2B5EF4-FFF2-40B4-BE49-F238E27FC236}">
                    <a16:creationId xmlns:a16="http://schemas.microsoft.com/office/drawing/2014/main" id="{C681D81D-1366-CEAB-A6F0-91AC4F9C354A}"/>
                  </a:ext>
                </a:extLst>
              </p:cNvPr>
              <p:cNvSpPr/>
              <p:nvPr/>
            </p:nvSpPr>
            <p:spPr>
              <a:xfrm>
                <a:off x="614620" y="3046460"/>
                <a:ext cx="4196358" cy="3625453"/>
              </a:xfrm>
              <a:prstGeom prst="roundRect">
                <a:avLst>
                  <a:gd name="adj" fmla="val 4035"/>
                </a:avLst>
              </a:prstGeom>
              <a:noFill/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" name="Text 1"/>
              <p:cNvSpPr/>
              <p:nvPr/>
            </p:nvSpPr>
            <p:spPr>
              <a:xfrm>
                <a:off x="793790" y="3606728"/>
                <a:ext cx="2835235" cy="354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750"/>
                  </a:lnSpc>
                  <a:buNone/>
                </a:pPr>
                <a:r>
                  <a:rPr lang="en-US" sz="2200" b="1" dirty="0">
                    <a:solidFill>
                      <a:srgbClr val="373B48"/>
                    </a:solidFill>
                    <a:latin typeface="Mona Sans Expanded" pitchFamily="2" charset="0"/>
                    <a:ea typeface="Mona Sans Semi Bold" pitchFamily="34" charset="-122"/>
                    <a:cs typeface="Mona Sans Semi Bold" pitchFamily="34" charset="-120"/>
                  </a:rPr>
                  <a:t>Evolving Threats</a:t>
                </a:r>
                <a:endParaRPr lang="en-US" sz="2200" b="1" dirty="0">
                  <a:latin typeface="Mona Sans Expanded" pitchFamily="2" charset="0"/>
                </a:endParaRPr>
              </a:p>
            </p:txBody>
          </p:sp>
          <p:sp>
            <p:nvSpPr>
              <p:cNvPr id="4" name="Text 2"/>
              <p:cNvSpPr/>
              <p:nvPr/>
            </p:nvSpPr>
            <p:spPr>
              <a:xfrm>
                <a:off x="793790" y="4045632"/>
                <a:ext cx="3978116" cy="181451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Organisations face persistent threats from both insider risks and advanced malware, including ransomware and sophisticated rootkits, which can subtly compromise systems.</a:t>
                </a:r>
                <a:endParaRPr lang="en-US" sz="1750" dirty="0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D326213-B7C2-41B6-E206-14325B0812F1}"/>
                </a:ext>
              </a:extLst>
            </p:cNvPr>
            <p:cNvGrpSpPr/>
            <p:nvPr/>
          </p:nvGrpSpPr>
          <p:grpSpPr>
            <a:xfrm>
              <a:off x="620694" y="3051453"/>
              <a:ext cx="4196358" cy="471858"/>
              <a:chOff x="661334" y="2533293"/>
              <a:chExt cx="4196358" cy="471858"/>
            </a:xfrm>
          </p:grpSpPr>
          <p:sp>
            <p:nvSpPr>
              <p:cNvPr id="20" name="Text 1">
                <a:extLst>
                  <a:ext uri="{FF2B5EF4-FFF2-40B4-BE49-F238E27FC236}">
                    <a16:creationId xmlns:a16="http://schemas.microsoft.com/office/drawing/2014/main" id="{9A821015-EE97-0802-C0C7-232F2D59695B}"/>
                  </a:ext>
                </a:extLst>
              </p:cNvPr>
              <p:cNvSpPr/>
              <p:nvPr/>
            </p:nvSpPr>
            <p:spPr>
              <a:xfrm>
                <a:off x="793790" y="2533293"/>
                <a:ext cx="226814" cy="28348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52586B"/>
                    </a:solidFill>
                    <a:latin typeface="Mona Sans Light" pitchFamily="34" charset="0"/>
                    <a:ea typeface="Mona Sans Light" pitchFamily="34" charset="-122"/>
                    <a:cs typeface="Mona Sans Light" pitchFamily="34" charset="-120"/>
                  </a:rPr>
                  <a:t>01</a:t>
                </a:r>
                <a:endParaRPr lang="en-US" sz="1750" dirty="0"/>
              </a:p>
            </p:txBody>
          </p:sp>
          <p:sp>
            <p:nvSpPr>
              <p:cNvPr id="21" name="Shape 3">
                <a:extLst>
                  <a:ext uri="{FF2B5EF4-FFF2-40B4-BE49-F238E27FC236}">
                    <a16:creationId xmlns:a16="http://schemas.microsoft.com/office/drawing/2014/main" id="{F1ADAB23-D3ED-25E3-5B55-0A70C5E2421C}"/>
                  </a:ext>
                </a:extLst>
              </p:cNvPr>
              <p:cNvSpPr/>
              <p:nvPr/>
            </p:nvSpPr>
            <p:spPr>
              <a:xfrm rot="5400000">
                <a:off x="2723852" y="871311"/>
                <a:ext cx="71322" cy="4196358"/>
              </a:xfrm>
              <a:prstGeom prst="roundRect">
                <a:avLst>
                  <a:gd name="adj" fmla="val 78139"/>
                </a:avLst>
              </a:prstGeom>
              <a:solidFill>
                <a:srgbClr val="373B48"/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</p:grp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3C8BFBE-D767-E252-8F24-447EA568328A}"/>
              </a:ext>
            </a:extLst>
          </p:cNvPr>
          <p:cNvGrpSpPr/>
          <p:nvPr/>
        </p:nvGrpSpPr>
        <p:grpSpPr>
          <a:xfrm>
            <a:off x="9628823" y="3046460"/>
            <a:ext cx="4238267" cy="3625453"/>
            <a:chOff x="9628823" y="3046460"/>
            <a:chExt cx="4238267" cy="3625453"/>
          </a:xfrm>
        </p:grpSpPr>
        <p:sp>
          <p:nvSpPr>
            <p:cNvPr id="7" name="Text 5"/>
            <p:cNvSpPr/>
            <p:nvPr/>
          </p:nvSpPr>
          <p:spPr>
            <a:xfrm>
              <a:off x="9830752" y="3629946"/>
              <a:ext cx="2928699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373B48"/>
                  </a:solidFill>
                  <a:latin typeface="Mona Sans Expanded" pitchFamily="2" charset="0"/>
                  <a:ea typeface="Mona Sans Semi Bold" pitchFamily="34" charset="-122"/>
                  <a:cs typeface="Mona Sans Semi Bold" pitchFamily="34" charset="-120"/>
                </a:rPr>
                <a:t>Grave Consequences</a:t>
              </a:r>
              <a:endParaRPr lang="en-US" sz="2200" b="1" dirty="0">
                <a:latin typeface="Mona Sans Expanded" pitchFamily="2" charset="0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9830752" y="4068850"/>
              <a:ext cx="3978116" cy="21774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Unauthorised modifications to critical configuration files (e.g., </a:t>
              </a:r>
              <a:r>
                <a:rPr lang="en-US" sz="1750" dirty="0">
                  <a:solidFill>
                    <a:srgbClr val="52586B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hosts</a:t>
              </a:r>
              <a:r>
                <a:rPr lang="en-US" sz="175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 or </a:t>
              </a:r>
              <a:r>
                <a:rPr lang="en-US" sz="1750" dirty="0">
                  <a:solidFill>
                    <a:srgbClr val="52586B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passwd</a:t>
              </a:r>
              <a:r>
                <a:rPr lang="en-US" sz="175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) can enable silent traffic redirection, credential theft, or system compromise, often going unnoticed until it is too late.</a:t>
              </a:r>
              <a:endParaRPr lang="en-US" sz="1750" dirty="0"/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11F37E69-0A06-001B-4559-BD141745635D}"/>
                </a:ext>
              </a:extLst>
            </p:cNvPr>
            <p:cNvGrpSpPr/>
            <p:nvPr/>
          </p:nvGrpSpPr>
          <p:grpSpPr>
            <a:xfrm>
              <a:off x="9628823" y="3046460"/>
              <a:ext cx="4238267" cy="3625453"/>
              <a:chOff x="9628823" y="3046460"/>
              <a:chExt cx="4238267" cy="3625453"/>
            </a:xfrm>
          </p:grpSpPr>
          <p:sp>
            <p:nvSpPr>
              <p:cNvPr id="11" name="Shape 1">
                <a:extLst>
                  <a:ext uri="{FF2B5EF4-FFF2-40B4-BE49-F238E27FC236}">
                    <a16:creationId xmlns:a16="http://schemas.microsoft.com/office/drawing/2014/main" id="{9F38EEB2-6B05-0E40-4FEB-E63998AB786C}"/>
                  </a:ext>
                </a:extLst>
              </p:cNvPr>
              <p:cNvSpPr/>
              <p:nvPr/>
            </p:nvSpPr>
            <p:spPr>
              <a:xfrm>
                <a:off x="9640252" y="3046460"/>
                <a:ext cx="4196358" cy="3625453"/>
              </a:xfrm>
              <a:prstGeom prst="roundRect">
                <a:avLst>
                  <a:gd name="adj" fmla="val 4035"/>
                </a:avLst>
              </a:prstGeom>
              <a:noFill/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737A737F-307F-0AAB-368C-809AE6B45C7F}"/>
                  </a:ext>
                </a:extLst>
              </p:cNvPr>
              <p:cNvGrpSpPr/>
              <p:nvPr/>
            </p:nvGrpSpPr>
            <p:grpSpPr>
              <a:xfrm>
                <a:off x="9628823" y="3051453"/>
                <a:ext cx="4238267" cy="471858"/>
                <a:chOff x="9628823" y="2533293"/>
                <a:chExt cx="4342148" cy="471858"/>
              </a:xfrm>
            </p:grpSpPr>
            <p:sp>
              <p:nvSpPr>
                <p:cNvPr id="23" name="Text 12">
                  <a:extLst>
                    <a:ext uri="{FF2B5EF4-FFF2-40B4-BE49-F238E27FC236}">
                      <a16:creationId xmlns:a16="http://schemas.microsoft.com/office/drawing/2014/main" id="{A9FA3D04-B3D6-8B1F-ACD7-1AD9B0C1C2CE}"/>
                    </a:ext>
                  </a:extLst>
                </p:cNvPr>
                <p:cNvSpPr/>
                <p:nvPr/>
              </p:nvSpPr>
              <p:spPr>
                <a:xfrm>
                  <a:off x="9753540" y="2533293"/>
                  <a:ext cx="226814" cy="283488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2850"/>
                    </a:lnSpc>
                    <a:buNone/>
                  </a:pPr>
                  <a:r>
                    <a:rPr lang="en-US" sz="1750" dirty="0">
                      <a:solidFill>
                        <a:srgbClr val="52586B"/>
                      </a:solidFill>
                      <a:latin typeface="Mona Sans Light" pitchFamily="34" charset="0"/>
                      <a:ea typeface="Mona Sans Light" pitchFamily="34" charset="-122"/>
                      <a:cs typeface="Mona Sans Light" pitchFamily="34" charset="-120"/>
                    </a:rPr>
                    <a:t>03</a:t>
                  </a:r>
                  <a:endParaRPr lang="en-US" sz="1750" dirty="0"/>
                </a:p>
              </p:txBody>
            </p:sp>
            <p:sp>
              <p:nvSpPr>
                <p:cNvPr id="24" name="Shape 3">
                  <a:extLst>
                    <a:ext uri="{FF2B5EF4-FFF2-40B4-BE49-F238E27FC236}">
                      <a16:creationId xmlns:a16="http://schemas.microsoft.com/office/drawing/2014/main" id="{20345F45-AD03-E2F1-C685-7F514649614C}"/>
                    </a:ext>
                  </a:extLst>
                </p:cNvPr>
                <p:cNvSpPr/>
                <p:nvPr/>
              </p:nvSpPr>
              <p:spPr>
                <a:xfrm rot="5400000">
                  <a:off x="11764236" y="798416"/>
                  <a:ext cx="71322" cy="4342148"/>
                </a:xfrm>
                <a:prstGeom prst="roundRect">
                  <a:avLst>
                    <a:gd name="adj" fmla="val 78139"/>
                  </a:avLst>
                </a:prstGeom>
                <a:solidFill>
                  <a:srgbClr val="373B48"/>
                </a:solidFill>
                <a:ln/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B3F2BF4-8F5B-0C17-6B4F-784E8C2F5325}"/>
              </a:ext>
            </a:extLst>
          </p:cNvPr>
          <p:cNvGrpSpPr/>
          <p:nvPr/>
        </p:nvGrpSpPr>
        <p:grpSpPr>
          <a:xfrm>
            <a:off x="5132152" y="3041102"/>
            <a:ext cx="4196722" cy="3625453"/>
            <a:chOff x="5132152" y="3041102"/>
            <a:chExt cx="4196722" cy="3625453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5375D09D-EC27-74A5-D18B-965F5C1EE7B6}"/>
                </a:ext>
              </a:extLst>
            </p:cNvPr>
            <p:cNvGrpSpPr/>
            <p:nvPr/>
          </p:nvGrpSpPr>
          <p:grpSpPr>
            <a:xfrm>
              <a:off x="5260687" y="3624587"/>
              <a:ext cx="3978116" cy="2253417"/>
              <a:chOff x="5260687" y="3624587"/>
              <a:chExt cx="3978116" cy="2253417"/>
            </a:xfrm>
          </p:grpSpPr>
          <p:sp>
            <p:nvSpPr>
              <p:cNvPr id="5" name="Text 3"/>
              <p:cNvSpPr/>
              <p:nvPr/>
            </p:nvSpPr>
            <p:spPr>
              <a:xfrm>
                <a:off x="5260687" y="3624587"/>
                <a:ext cx="3420308" cy="354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750"/>
                  </a:lnSpc>
                  <a:buNone/>
                </a:pPr>
                <a:r>
                  <a:rPr lang="en-US" sz="2200" b="1" dirty="0">
                    <a:solidFill>
                      <a:srgbClr val="373B48"/>
                    </a:solidFill>
                    <a:latin typeface="Mona Sans Expanded" pitchFamily="2" charset="0"/>
                    <a:ea typeface="Mona Sans Semi Bold" pitchFamily="34" charset="-122"/>
                    <a:cs typeface="Mona Sans Semi Bold" pitchFamily="34" charset="-120"/>
                  </a:rPr>
                  <a:t>Windows Log Limitations</a:t>
                </a:r>
                <a:endParaRPr lang="en-US" sz="2200" b="1" dirty="0">
                  <a:latin typeface="Mona Sans Expanded" pitchFamily="2" charset="0"/>
                </a:endParaRPr>
              </a:p>
            </p:txBody>
          </p:sp>
          <p:sp>
            <p:nvSpPr>
              <p:cNvPr id="6" name="Text 4"/>
              <p:cNvSpPr/>
              <p:nvPr/>
            </p:nvSpPr>
            <p:spPr>
              <a:xfrm>
                <a:off x="5260687" y="4063491"/>
                <a:ext cx="3978116" cy="181451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Standard Windows logging mechanisms are often insufficient, as they typically do not detect deep </a:t>
                </a:r>
                <a:r>
                  <a:rPr lang="en-US" sz="1750" i="1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content</a:t>
                </a:r>
                <a:r>
                  <a:rPr lang="en-US" sz="1750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 changes within files, focusing more on access than modification.</a:t>
                </a:r>
                <a:endParaRPr lang="en-US" sz="1750" dirty="0"/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0E61437-D891-D7BD-ABA4-45DA14B61382}"/>
                </a:ext>
              </a:extLst>
            </p:cNvPr>
            <p:cNvGrpSpPr/>
            <p:nvPr/>
          </p:nvGrpSpPr>
          <p:grpSpPr>
            <a:xfrm>
              <a:off x="5132152" y="3041102"/>
              <a:ext cx="4196722" cy="3625453"/>
              <a:chOff x="5132152" y="3041102"/>
              <a:chExt cx="4196722" cy="3625453"/>
            </a:xfrm>
          </p:grpSpPr>
          <p:sp>
            <p:nvSpPr>
              <p:cNvPr id="10" name="Shape 1">
                <a:extLst>
                  <a:ext uri="{FF2B5EF4-FFF2-40B4-BE49-F238E27FC236}">
                    <a16:creationId xmlns:a16="http://schemas.microsoft.com/office/drawing/2014/main" id="{2EBFC1F6-DF7A-A34C-A488-A66A8ED0C2AA}"/>
                  </a:ext>
                </a:extLst>
              </p:cNvPr>
              <p:cNvSpPr/>
              <p:nvPr/>
            </p:nvSpPr>
            <p:spPr>
              <a:xfrm>
                <a:off x="5132516" y="3041102"/>
                <a:ext cx="4196358" cy="3625453"/>
              </a:xfrm>
              <a:prstGeom prst="roundRect">
                <a:avLst>
                  <a:gd name="adj" fmla="val 4035"/>
                </a:avLst>
              </a:prstGeom>
              <a:noFill/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253204F5-3BE4-2071-87CC-4EACB48269E6}"/>
                  </a:ext>
                </a:extLst>
              </p:cNvPr>
              <p:cNvGrpSpPr/>
              <p:nvPr/>
            </p:nvGrpSpPr>
            <p:grpSpPr>
              <a:xfrm>
                <a:off x="5132152" y="3051453"/>
                <a:ext cx="4196358" cy="471858"/>
                <a:chOff x="5061031" y="2533293"/>
                <a:chExt cx="4342148" cy="471858"/>
              </a:xfrm>
            </p:grpSpPr>
            <p:sp>
              <p:nvSpPr>
                <p:cNvPr id="26" name="Text 5">
                  <a:extLst>
                    <a:ext uri="{FF2B5EF4-FFF2-40B4-BE49-F238E27FC236}">
                      <a16:creationId xmlns:a16="http://schemas.microsoft.com/office/drawing/2014/main" id="{65DB2E96-9894-AF75-9889-8C2174AD15BD}"/>
                    </a:ext>
                  </a:extLst>
                </p:cNvPr>
                <p:cNvSpPr/>
                <p:nvPr/>
              </p:nvSpPr>
              <p:spPr>
                <a:xfrm>
                  <a:off x="5216962" y="2533293"/>
                  <a:ext cx="226814" cy="283488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2850"/>
                    </a:lnSpc>
                    <a:buNone/>
                  </a:pPr>
                  <a:r>
                    <a:rPr lang="en-US" sz="1750" dirty="0">
                      <a:solidFill>
                        <a:srgbClr val="52586B"/>
                      </a:solidFill>
                      <a:latin typeface="Mona Sans Light" pitchFamily="34" charset="0"/>
                      <a:ea typeface="Mona Sans Light" pitchFamily="34" charset="-122"/>
                      <a:cs typeface="Mona Sans Light" pitchFamily="34" charset="-120"/>
                    </a:rPr>
                    <a:t>02</a:t>
                  </a:r>
                  <a:endParaRPr lang="en-US" sz="1750" dirty="0"/>
                </a:p>
              </p:txBody>
            </p:sp>
            <p:sp>
              <p:nvSpPr>
                <p:cNvPr id="27" name="Shape 3">
                  <a:extLst>
                    <a:ext uri="{FF2B5EF4-FFF2-40B4-BE49-F238E27FC236}">
                      <a16:creationId xmlns:a16="http://schemas.microsoft.com/office/drawing/2014/main" id="{D82D20D9-C147-1BA4-C1F7-F41A5A207966}"/>
                    </a:ext>
                  </a:extLst>
                </p:cNvPr>
                <p:cNvSpPr/>
                <p:nvPr/>
              </p:nvSpPr>
              <p:spPr>
                <a:xfrm rot="5400000">
                  <a:off x="7196444" y="798416"/>
                  <a:ext cx="71322" cy="4342148"/>
                </a:xfrm>
                <a:prstGeom prst="roundRect">
                  <a:avLst>
                    <a:gd name="adj" fmla="val 78139"/>
                  </a:avLst>
                </a:prstGeom>
                <a:solidFill>
                  <a:srgbClr val="373B48"/>
                </a:solidFill>
                <a:ln/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75435"/>
            <a:ext cx="1151810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000" b="1" dirty="0">
                <a:solidFill>
                  <a:schemeClr val="bg2">
                    <a:lumMod val="25000"/>
                  </a:schemeClr>
                </a:solidFill>
                <a:latin typeface="Mona Sans Expanded" pitchFamily="2" charset="0"/>
                <a:ea typeface="Mona Sans Semi Bold" pitchFamily="34" charset="-122"/>
                <a:cs typeface="Mona Sans Semi Bold" pitchFamily="34" charset="-120"/>
              </a:rPr>
              <a:t>Proposed Solution: A Layered Architecture</a:t>
            </a:r>
            <a:endParaRPr lang="en-US" sz="4000" b="1" dirty="0">
              <a:solidFill>
                <a:schemeClr val="bg2">
                  <a:lumMod val="25000"/>
                </a:schemeClr>
              </a:solidFill>
              <a:latin typeface="Mona Sans Expanded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1" y="2358835"/>
            <a:ext cx="12026860" cy="745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Our defence-in-depth strategy integrates robust tools to provide comprehensive monitoring and detection capabilities for critical Windows servers.</a:t>
            </a:r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5869137A-693F-80E2-71CF-142701DA7C33}"/>
              </a:ext>
            </a:extLst>
          </p:cNvPr>
          <p:cNvGrpSpPr/>
          <p:nvPr/>
        </p:nvGrpSpPr>
        <p:grpSpPr>
          <a:xfrm>
            <a:off x="793790" y="3324345"/>
            <a:ext cx="4196359" cy="3293626"/>
            <a:chOff x="793790" y="3324345"/>
            <a:chExt cx="4196359" cy="3293626"/>
          </a:xfrm>
        </p:grpSpPr>
        <p:sp>
          <p:nvSpPr>
            <p:cNvPr id="7" name="Text 4"/>
            <p:cNvSpPr/>
            <p:nvPr/>
          </p:nvSpPr>
          <p:spPr>
            <a:xfrm>
              <a:off x="1028224" y="3925450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52586B"/>
                  </a:solidFill>
                  <a:latin typeface="Mona Sans Expanded" pitchFamily="2" charset="0"/>
                  <a:ea typeface="Mona Sans Semi Bold" pitchFamily="34" charset="-122"/>
                  <a:cs typeface="Mona Sans Semi Bold" pitchFamily="34" charset="-120"/>
                </a:rPr>
                <a:t>Wazuh Agent</a:t>
              </a:r>
              <a:endParaRPr lang="en-US" sz="2200" b="1" dirty="0">
                <a:latin typeface="Mona Sans Expanded" pitchFamily="2" charset="0"/>
              </a:endParaRPr>
            </a:p>
          </p:txBody>
        </p:sp>
        <p:sp>
          <p:nvSpPr>
            <p:cNvPr id="8" name="Text 5"/>
            <p:cNvSpPr/>
            <p:nvPr/>
          </p:nvSpPr>
          <p:spPr>
            <a:xfrm>
              <a:off x="1028224" y="4393962"/>
              <a:ext cx="3727490" cy="14516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Deploys on target servers to actively monitor the file system. It acts as the "camera," continuously observing file states and reporting changes.</a:t>
              </a:r>
              <a:endParaRPr lang="en-US" sz="1750" dirty="0"/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97C16907-497B-2765-EC04-3B7B22A7059D}"/>
                </a:ext>
              </a:extLst>
            </p:cNvPr>
            <p:cNvGrpSpPr/>
            <p:nvPr/>
          </p:nvGrpSpPr>
          <p:grpSpPr>
            <a:xfrm>
              <a:off x="793790" y="3324345"/>
              <a:ext cx="4196359" cy="3293626"/>
              <a:chOff x="793790" y="3324345"/>
              <a:chExt cx="4196359" cy="3293626"/>
            </a:xfrm>
          </p:grpSpPr>
          <p:sp>
            <p:nvSpPr>
              <p:cNvPr id="20" name="Shape 1">
                <a:extLst>
                  <a:ext uri="{FF2B5EF4-FFF2-40B4-BE49-F238E27FC236}">
                    <a16:creationId xmlns:a16="http://schemas.microsoft.com/office/drawing/2014/main" id="{BF2AC59C-B322-F14B-504B-E6972B962143}"/>
                  </a:ext>
                </a:extLst>
              </p:cNvPr>
              <p:cNvSpPr/>
              <p:nvPr/>
            </p:nvSpPr>
            <p:spPr>
              <a:xfrm>
                <a:off x="793790" y="3324345"/>
                <a:ext cx="4196358" cy="3293626"/>
              </a:xfrm>
              <a:prstGeom prst="roundRect">
                <a:avLst>
                  <a:gd name="adj" fmla="val 4035"/>
                </a:avLst>
              </a:prstGeom>
              <a:noFill/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ED888AF0-1228-4BD9-7197-CFDE7F7856E6}"/>
                  </a:ext>
                </a:extLst>
              </p:cNvPr>
              <p:cNvGrpSpPr/>
              <p:nvPr/>
            </p:nvGrpSpPr>
            <p:grpSpPr>
              <a:xfrm>
                <a:off x="793791" y="3325960"/>
                <a:ext cx="4196358" cy="451538"/>
                <a:chOff x="793791" y="3325960"/>
                <a:chExt cx="4196358" cy="451538"/>
              </a:xfrm>
            </p:grpSpPr>
            <p:sp>
              <p:nvSpPr>
                <p:cNvPr id="32" name="Text 1">
                  <a:extLst>
                    <a:ext uri="{FF2B5EF4-FFF2-40B4-BE49-F238E27FC236}">
                      <a16:creationId xmlns:a16="http://schemas.microsoft.com/office/drawing/2014/main" id="{4F730E72-02A9-05D7-4589-F8C566CEA159}"/>
                    </a:ext>
                  </a:extLst>
                </p:cNvPr>
                <p:cNvSpPr/>
                <p:nvPr/>
              </p:nvSpPr>
              <p:spPr>
                <a:xfrm>
                  <a:off x="926247" y="3325960"/>
                  <a:ext cx="226814" cy="283488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2850"/>
                    </a:lnSpc>
                    <a:buNone/>
                  </a:pPr>
                  <a:r>
                    <a:rPr lang="en-US" sz="1750" dirty="0">
                      <a:solidFill>
                        <a:srgbClr val="52586B"/>
                      </a:solidFill>
                      <a:latin typeface="Mona Sans Light" pitchFamily="34" charset="0"/>
                      <a:ea typeface="Mona Sans Light" pitchFamily="34" charset="-122"/>
                      <a:cs typeface="Mona Sans Light" pitchFamily="34" charset="-120"/>
                    </a:rPr>
                    <a:t>01</a:t>
                  </a:r>
                  <a:endParaRPr lang="en-US" sz="1750" dirty="0"/>
                </a:p>
              </p:txBody>
            </p:sp>
            <p:sp>
              <p:nvSpPr>
                <p:cNvPr id="33" name="Shape 3">
                  <a:extLst>
                    <a:ext uri="{FF2B5EF4-FFF2-40B4-BE49-F238E27FC236}">
                      <a16:creationId xmlns:a16="http://schemas.microsoft.com/office/drawing/2014/main" id="{47828E3E-2CCD-8FE4-BB68-C0CF42E4639F}"/>
                    </a:ext>
                  </a:extLst>
                </p:cNvPr>
                <p:cNvSpPr/>
                <p:nvPr/>
              </p:nvSpPr>
              <p:spPr>
                <a:xfrm rot="5400000">
                  <a:off x="2856309" y="1643658"/>
                  <a:ext cx="71322" cy="4196358"/>
                </a:xfrm>
                <a:prstGeom prst="roundRect">
                  <a:avLst>
                    <a:gd name="adj" fmla="val 78139"/>
                  </a:avLst>
                </a:prstGeom>
                <a:solidFill>
                  <a:srgbClr val="373B48"/>
                </a:solidFill>
                <a:ln/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</p:grp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6272A12-B8FA-CE6D-4A10-6F24193953E4}"/>
              </a:ext>
            </a:extLst>
          </p:cNvPr>
          <p:cNvGrpSpPr/>
          <p:nvPr/>
        </p:nvGrpSpPr>
        <p:grpSpPr>
          <a:xfrm>
            <a:off x="9639360" y="3305640"/>
            <a:ext cx="4219832" cy="3312330"/>
            <a:chOff x="9639360" y="3305640"/>
            <a:chExt cx="4219832" cy="3312330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030209FD-AC0E-FCF5-D621-79369A3F9CE2}"/>
                </a:ext>
              </a:extLst>
            </p:cNvPr>
            <p:cNvGrpSpPr/>
            <p:nvPr/>
          </p:nvGrpSpPr>
          <p:grpSpPr>
            <a:xfrm>
              <a:off x="9640133" y="3324344"/>
              <a:ext cx="4196358" cy="3293626"/>
              <a:chOff x="9640133" y="3324344"/>
              <a:chExt cx="4196358" cy="3293626"/>
            </a:xfrm>
          </p:grpSpPr>
          <p:sp>
            <p:nvSpPr>
              <p:cNvPr id="22" name="Shape 13">
                <a:extLst>
                  <a:ext uri="{FF2B5EF4-FFF2-40B4-BE49-F238E27FC236}">
                    <a16:creationId xmlns:a16="http://schemas.microsoft.com/office/drawing/2014/main" id="{56A54C14-F2BF-8B0C-6E88-3F0A05943660}"/>
                  </a:ext>
                </a:extLst>
              </p:cNvPr>
              <p:cNvSpPr/>
              <p:nvPr/>
            </p:nvSpPr>
            <p:spPr>
              <a:xfrm>
                <a:off x="9640133" y="3324344"/>
                <a:ext cx="4196358" cy="3293626"/>
              </a:xfrm>
              <a:prstGeom prst="roundRect">
                <a:avLst>
                  <a:gd name="adj" fmla="val 4035"/>
                </a:avLst>
              </a:prstGeom>
              <a:noFill/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 12"/>
              <p:cNvSpPr/>
              <p:nvPr/>
            </p:nvSpPr>
            <p:spPr>
              <a:xfrm>
                <a:off x="9874568" y="3925450"/>
                <a:ext cx="2835235" cy="354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750"/>
                  </a:lnSpc>
                  <a:buNone/>
                </a:pPr>
                <a:r>
                  <a:rPr lang="en-US" sz="2200" b="1" dirty="0">
                    <a:solidFill>
                      <a:srgbClr val="52586B"/>
                    </a:solidFill>
                    <a:latin typeface="Mona Sans Expanded" pitchFamily="2" charset="0"/>
                    <a:ea typeface="Mona Sans Semi Bold" pitchFamily="34" charset="-122"/>
                    <a:cs typeface="Mona Sans Semi Bold" pitchFamily="34" charset="-120"/>
                  </a:rPr>
                  <a:t>Wazuh Manager</a:t>
                </a:r>
                <a:endParaRPr lang="en-US" sz="2200" b="1" dirty="0">
                  <a:latin typeface="Mona Sans Expanded" pitchFamily="2" charset="0"/>
                </a:endParaRPr>
              </a:p>
            </p:txBody>
          </p:sp>
          <p:sp>
            <p:nvSpPr>
              <p:cNvPr id="18" name="Text 13"/>
              <p:cNvSpPr/>
              <p:nvPr/>
            </p:nvSpPr>
            <p:spPr>
              <a:xfrm>
                <a:off x="9874568" y="4285377"/>
                <a:ext cx="3727490" cy="181451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Centralises log data, correlates events, and provides a unified dashboard for alerts. This serves as the command centre, enabling rapid response to security incidents.</a:t>
                </a:r>
                <a:endParaRPr lang="en-US" sz="1750" dirty="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6F875D7F-C5A4-A2EC-9E05-7128D928149B}"/>
                </a:ext>
              </a:extLst>
            </p:cNvPr>
            <p:cNvGrpSpPr/>
            <p:nvPr/>
          </p:nvGrpSpPr>
          <p:grpSpPr>
            <a:xfrm>
              <a:off x="9639360" y="3305640"/>
              <a:ext cx="4219832" cy="471858"/>
              <a:chOff x="9628823" y="2533293"/>
              <a:chExt cx="4342148" cy="471858"/>
            </a:xfrm>
          </p:grpSpPr>
          <p:sp>
            <p:nvSpPr>
              <p:cNvPr id="35" name="Text 12">
                <a:extLst>
                  <a:ext uri="{FF2B5EF4-FFF2-40B4-BE49-F238E27FC236}">
                    <a16:creationId xmlns:a16="http://schemas.microsoft.com/office/drawing/2014/main" id="{D37AFA0D-4F1C-6499-F7EF-54EBA87B80AC}"/>
                  </a:ext>
                </a:extLst>
              </p:cNvPr>
              <p:cNvSpPr/>
              <p:nvPr/>
            </p:nvSpPr>
            <p:spPr>
              <a:xfrm>
                <a:off x="9753540" y="2533293"/>
                <a:ext cx="226814" cy="28348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52586B"/>
                    </a:solidFill>
                    <a:latin typeface="Mona Sans Light" pitchFamily="34" charset="0"/>
                    <a:ea typeface="Mona Sans Light" pitchFamily="34" charset="-122"/>
                    <a:cs typeface="Mona Sans Light" pitchFamily="34" charset="-120"/>
                  </a:rPr>
                  <a:t>03</a:t>
                </a:r>
                <a:endParaRPr lang="en-US" sz="1750" dirty="0"/>
              </a:p>
            </p:txBody>
          </p:sp>
          <p:sp>
            <p:nvSpPr>
              <p:cNvPr id="36" name="Shape 3">
                <a:extLst>
                  <a:ext uri="{FF2B5EF4-FFF2-40B4-BE49-F238E27FC236}">
                    <a16:creationId xmlns:a16="http://schemas.microsoft.com/office/drawing/2014/main" id="{0FE5FFC6-3089-08B9-63A2-6458C439C024}"/>
                  </a:ext>
                </a:extLst>
              </p:cNvPr>
              <p:cNvSpPr/>
              <p:nvPr/>
            </p:nvSpPr>
            <p:spPr>
              <a:xfrm rot="5400000">
                <a:off x="11764236" y="798416"/>
                <a:ext cx="71322" cy="4342148"/>
              </a:xfrm>
              <a:prstGeom prst="roundRect">
                <a:avLst>
                  <a:gd name="adj" fmla="val 78139"/>
                </a:avLst>
              </a:prstGeom>
              <a:solidFill>
                <a:srgbClr val="373B48"/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</p:grp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7C18BA38-F794-96A6-0E91-3FD307F94C6E}"/>
              </a:ext>
            </a:extLst>
          </p:cNvPr>
          <p:cNvGrpSpPr/>
          <p:nvPr/>
        </p:nvGrpSpPr>
        <p:grpSpPr>
          <a:xfrm>
            <a:off x="5213808" y="3305640"/>
            <a:ext cx="4219832" cy="3312331"/>
            <a:chOff x="5213808" y="3305640"/>
            <a:chExt cx="4219832" cy="3312331"/>
          </a:xfrm>
        </p:grpSpPr>
        <p:sp>
          <p:nvSpPr>
            <p:cNvPr id="12" name="Text 8"/>
            <p:cNvSpPr/>
            <p:nvPr/>
          </p:nvSpPr>
          <p:spPr>
            <a:xfrm>
              <a:off x="5451396" y="3925450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52586B"/>
                  </a:solidFill>
                  <a:latin typeface="Mona Sans Expanded" pitchFamily="2" charset="0"/>
                  <a:ea typeface="Mona Sans Semi Bold" pitchFamily="34" charset="-122"/>
                  <a:cs typeface="Mona Sans Semi Bold" pitchFamily="34" charset="-120"/>
                </a:rPr>
                <a:t>Sysmon Integration</a:t>
              </a:r>
              <a:endParaRPr lang="en-US" sz="2200" b="1" dirty="0">
                <a:latin typeface="Mona Sans Expanded" pitchFamily="2" charset="0"/>
              </a:endParaRPr>
            </a:p>
          </p:txBody>
        </p:sp>
        <p:sp>
          <p:nvSpPr>
            <p:cNvPr id="13" name="Text 9"/>
            <p:cNvSpPr/>
            <p:nvPr/>
          </p:nvSpPr>
          <p:spPr>
            <a:xfrm>
              <a:off x="5451396" y="4304427"/>
              <a:ext cx="3727490" cy="21774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Monitors system processes and network connections. This acts as the "forensics" unit, capturing granular details about process creation, file access, and user actions.</a:t>
              </a:r>
              <a:endParaRPr lang="en-US" sz="1750" dirty="0"/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09E0DD1D-5FF8-02B5-AEB5-42D47625CEEF}"/>
                </a:ext>
              </a:extLst>
            </p:cNvPr>
            <p:cNvGrpSpPr/>
            <p:nvPr/>
          </p:nvGrpSpPr>
          <p:grpSpPr>
            <a:xfrm>
              <a:off x="5213808" y="3305640"/>
              <a:ext cx="4219832" cy="3312331"/>
              <a:chOff x="5213808" y="3305640"/>
              <a:chExt cx="4219832" cy="3312331"/>
            </a:xfrm>
          </p:grpSpPr>
          <p:sp>
            <p:nvSpPr>
              <p:cNvPr id="21" name="Shape 7">
                <a:extLst>
                  <a:ext uri="{FF2B5EF4-FFF2-40B4-BE49-F238E27FC236}">
                    <a16:creationId xmlns:a16="http://schemas.microsoft.com/office/drawing/2014/main" id="{EED2BE1C-8928-B4D7-D5CC-81FFF53CFD6B}"/>
                  </a:ext>
                </a:extLst>
              </p:cNvPr>
              <p:cNvSpPr/>
              <p:nvPr/>
            </p:nvSpPr>
            <p:spPr>
              <a:xfrm>
                <a:off x="5216962" y="3324345"/>
                <a:ext cx="4196358" cy="3293626"/>
              </a:xfrm>
              <a:prstGeom prst="roundRect">
                <a:avLst>
                  <a:gd name="adj" fmla="val 4035"/>
                </a:avLst>
              </a:prstGeom>
              <a:noFill/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CE03691D-A9CD-9B57-43B8-AA3503B6AF8F}"/>
                  </a:ext>
                </a:extLst>
              </p:cNvPr>
              <p:cNvGrpSpPr/>
              <p:nvPr/>
            </p:nvGrpSpPr>
            <p:grpSpPr>
              <a:xfrm>
                <a:off x="5213808" y="3305640"/>
                <a:ext cx="4219832" cy="471858"/>
                <a:chOff x="5061031" y="2533293"/>
                <a:chExt cx="4342148" cy="471858"/>
              </a:xfrm>
            </p:grpSpPr>
            <p:sp>
              <p:nvSpPr>
                <p:cNvPr id="38" name="Text 5">
                  <a:extLst>
                    <a:ext uri="{FF2B5EF4-FFF2-40B4-BE49-F238E27FC236}">
                      <a16:creationId xmlns:a16="http://schemas.microsoft.com/office/drawing/2014/main" id="{56A264B6-1623-1B46-0287-504A0FFEF02A}"/>
                    </a:ext>
                  </a:extLst>
                </p:cNvPr>
                <p:cNvSpPr/>
                <p:nvPr/>
              </p:nvSpPr>
              <p:spPr>
                <a:xfrm>
                  <a:off x="5216962" y="2533293"/>
                  <a:ext cx="226814" cy="283488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2850"/>
                    </a:lnSpc>
                    <a:buNone/>
                  </a:pPr>
                  <a:r>
                    <a:rPr lang="en-US" sz="1750" dirty="0">
                      <a:solidFill>
                        <a:srgbClr val="52586B"/>
                      </a:solidFill>
                      <a:latin typeface="Mona Sans Light" pitchFamily="34" charset="0"/>
                      <a:ea typeface="Mona Sans Light" pitchFamily="34" charset="-122"/>
                      <a:cs typeface="Mona Sans Light" pitchFamily="34" charset="-120"/>
                    </a:rPr>
                    <a:t>02</a:t>
                  </a:r>
                  <a:endParaRPr lang="en-US" sz="1750" dirty="0"/>
                </a:p>
              </p:txBody>
            </p:sp>
            <p:sp>
              <p:nvSpPr>
                <p:cNvPr id="39" name="Shape 3">
                  <a:extLst>
                    <a:ext uri="{FF2B5EF4-FFF2-40B4-BE49-F238E27FC236}">
                      <a16:creationId xmlns:a16="http://schemas.microsoft.com/office/drawing/2014/main" id="{F407A6A7-5C3A-E648-E938-F6A294BDD0E3}"/>
                    </a:ext>
                  </a:extLst>
                </p:cNvPr>
                <p:cNvSpPr/>
                <p:nvPr/>
              </p:nvSpPr>
              <p:spPr>
                <a:xfrm rot="5400000">
                  <a:off x="7196444" y="798416"/>
                  <a:ext cx="71322" cy="4342148"/>
                </a:xfrm>
                <a:prstGeom prst="roundRect">
                  <a:avLst>
                    <a:gd name="adj" fmla="val 78139"/>
                  </a:avLst>
                </a:prstGeom>
                <a:solidFill>
                  <a:srgbClr val="373B48"/>
                </a:solidFill>
                <a:ln/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53766"/>
            <a:ext cx="1211972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600" b="1" dirty="0">
                <a:solidFill>
                  <a:schemeClr val="bg2">
                    <a:lumMod val="25000"/>
                  </a:schemeClr>
                </a:solidFill>
                <a:latin typeface="Mona Sans Expanded" pitchFamily="2" charset="0"/>
                <a:ea typeface="Mona Sans Semi Bold" pitchFamily="34" charset="-122"/>
                <a:cs typeface="Mona Sans Semi Bold" pitchFamily="34" charset="-120"/>
              </a:rPr>
              <a:t>Implementation: Configuration &amp; Integration</a:t>
            </a:r>
            <a:endParaRPr lang="en-US" sz="3600" b="1" dirty="0">
              <a:solidFill>
                <a:schemeClr val="bg2">
                  <a:lumMod val="25000"/>
                </a:schemeClr>
              </a:solidFill>
              <a:latin typeface="Mona Sans Expanded" pitchFamily="2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6E64040-72C9-8B5A-6010-3DA785464FF9}"/>
              </a:ext>
            </a:extLst>
          </p:cNvPr>
          <p:cNvGrpSpPr/>
          <p:nvPr/>
        </p:nvGrpSpPr>
        <p:grpSpPr>
          <a:xfrm>
            <a:off x="659429" y="2689661"/>
            <a:ext cx="4330719" cy="3625453"/>
            <a:chOff x="659429" y="2466141"/>
            <a:chExt cx="4330719" cy="3625453"/>
          </a:xfrm>
        </p:grpSpPr>
        <p:sp>
          <p:nvSpPr>
            <p:cNvPr id="20" name="Shape 1">
              <a:extLst>
                <a:ext uri="{FF2B5EF4-FFF2-40B4-BE49-F238E27FC236}">
                  <a16:creationId xmlns:a16="http://schemas.microsoft.com/office/drawing/2014/main" id="{B6AF531A-8BBE-C014-A859-8030A78C35FF}"/>
                </a:ext>
              </a:extLst>
            </p:cNvPr>
            <p:cNvSpPr/>
            <p:nvPr/>
          </p:nvSpPr>
          <p:spPr>
            <a:xfrm>
              <a:off x="659429" y="2466141"/>
              <a:ext cx="4196358" cy="3625453"/>
            </a:xfrm>
            <a:prstGeom prst="roundRect">
              <a:avLst>
                <a:gd name="adj" fmla="val 4035"/>
              </a:avLst>
            </a:prstGeom>
            <a:noFill/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793790" y="3130886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000" b="1" dirty="0">
                  <a:solidFill>
                    <a:srgbClr val="52586B"/>
                  </a:solidFill>
                  <a:latin typeface="Mona Sans Expanded" pitchFamily="2" charset="0"/>
                  <a:ea typeface="Mona Sans Semi Bold" pitchFamily="34" charset="-122"/>
                  <a:cs typeface="Mona Sans Semi Bold" pitchFamily="34" charset="-120"/>
                </a:rPr>
                <a:t>Sysmon Installation</a:t>
              </a:r>
              <a:endParaRPr lang="en-US" sz="2000" b="1" dirty="0">
                <a:latin typeface="Mona Sans Expanded" pitchFamily="2" charset="0"/>
              </a:endParaRPr>
            </a:p>
          </p:txBody>
        </p:sp>
        <p:sp>
          <p:nvSpPr>
            <p:cNvPr id="6" name="Text 4"/>
            <p:cNvSpPr/>
            <p:nvPr/>
          </p:nvSpPr>
          <p:spPr>
            <a:xfrm>
              <a:off x="793790" y="3553063"/>
              <a:ext cx="4196358" cy="14516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Installed Sysmon with a custom configuration for granular logging, ensuring detailed event capturing. Initialised via </a:t>
              </a:r>
              <a:r>
                <a:rPr lang="en-US" sz="1750" dirty="0">
                  <a:solidFill>
                    <a:schemeClr val="accent2">
                      <a:lumMod val="75000"/>
                    </a:schemeClr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sysmon -i</a:t>
              </a:r>
              <a:r>
                <a:rPr lang="en-US" sz="1750" dirty="0">
                  <a:solidFill>
                    <a:schemeClr val="accent2">
                      <a:lumMod val="75000"/>
                    </a:schemeClr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.</a:t>
              </a:r>
              <a:endParaRPr lang="en-US" sz="175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BAB67382-A4D6-863B-EA00-1464E2F0DD7E}"/>
                </a:ext>
              </a:extLst>
            </p:cNvPr>
            <p:cNvGrpSpPr/>
            <p:nvPr/>
          </p:nvGrpSpPr>
          <p:grpSpPr>
            <a:xfrm>
              <a:off x="661334" y="2533293"/>
              <a:ext cx="4196358" cy="471858"/>
              <a:chOff x="661334" y="2533293"/>
              <a:chExt cx="4196358" cy="471858"/>
            </a:xfrm>
          </p:grpSpPr>
          <p:sp>
            <p:nvSpPr>
              <p:cNvPr id="3" name="Text 1"/>
              <p:cNvSpPr/>
              <p:nvPr/>
            </p:nvSpPr>
            <p:spPr>
              <a:xfrm>
                <a:off x="793790" y="2533293"/>
                <a:ext cx="226814" cy="28348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52586B"/>
                    </a:solidFill>
                    <a:latin typeface="Mona Sans Light" pitchFamily="34" charset="0"/>
                    <a:ea typeface="Mona Sans Light" pitchFamily="34" charset="-122"/>
                    <a:cs typeface="Mona Sans Light" pitchFamily="34" charset="-120"/>
                  </a:rPr>
                  <a:t>01</a:t>
                </a:r>
                <a:endParaRPr lang="en-US" sz="1750" dirty="0"/>
              </a:p>
            </p:txBody>
          </p:sp>
          <p:sp>
            <p:nvSpPr>
              <p:cNvPr id="26" name="Shape 3">
                <a:extLst>
                  <a:ext uri="{FF2B5EF4-FFF2-40B4-BE49-F238E27FC236}">
                    <a16:creationId xmlns:a16="http://schemas.microsoft.com/office/drawing/2014/main" id="{5239EFC3-9D8B-C192-E7FA-358D5547D803}"/>
                  </a:ext>
                </a:extLst>
              </p:cNvPr>
              <p:cNvSpPr/>
              <p:nvPr/>
            </p:nvSpPr>
            <p:spPr>
              <a:xfrm rot="5400000">
                <a:off x="2723852" y="871311"/>
                <a:ext cx="71322" cy="4196358"/>
              </a:xfrm>
              <a:prstGeom prst="roundRect">
                <a:avLst>
                  <a:gd name="adj" fmla="val 78139"/>
                </a:avLst>
              </a:prstGeom>
              <a:solidFill>
                <a:srgbClr val="373B48"/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5032443-FE89-9152-7E2E-F1D7442E7CFD}"/>
              </a:ext>
            </a:extLst>
          </p:cNvPr>
          <p:cNvGrpSpPr/>
          <p:nvPr/>
        </p:nvGrpSpPr>
        <p:grpSpPr>
          <a:xfrm>
            <a:off x="9628823" y="2689661"/>
            <a:ext cx="4342148" cy="3625453"/>
            <a:chOff x="9628823" y="2466141"/>
            <a:chExt cx="4342148" cy="3625453"/>
          </a:xfrm>
        </p:grpSpPr>
        <p:sp>
          <p:nvSpPr>
            <p:cNvPr id="22" name="Shape 1">
              <a:extLst>
                <a:ext uri="{FF2B5EF4-FFF2-40B4-BE49-F238E27FC236}">
                  <a16:creationId xmlns:a16="http://schemas.microsoft.com/office/drawing/2014/main" id="{B3E22BBC-B75D-46B0-2816-1451352E55BF}"/>
                </a:ext>
              </a:extLst>
            </p:cNvPr>
            <p:cNvSpPr/>
            <p:nvPr/>
          </p:nvSpPr>
          <p:spPr>
            <a:xfrm>
              <a:off x="9628823" y="2466141"/>
              <a:ext cx="4342148" cy="3625453"/>
            </a:xfrm>
            <a:prstGeom prst="roundRect">
              <a:avLst>
                <a:gd name="adj" fmla="val 4035"/>
              </a:avLst>
            </a:prstGeom>
            <a:noFill/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9753540" y="3130886"/>
              <a:ext cx="3249454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000" b="1" dirty="0">
                  <a:solidFill>
                    <a:srgbClr val="52586B"/>
                  </a:solidFill>
                  <a:latin typeface="Mona Sans Expanded" pitchFamily="2" charset="0"/>
                  <a:ea typeface="Mona Sans Semi Bold" pitchFamily="34" charset="-122"/>
                  <a:cs typeface="Mona Sans Semi Bold" pitchFamily="34" charset="-120"/>
                </a:rPr>
                <a:t>Sysmon Log Integration</a:t>
              </a:r>
              <a:endParaRPr lang="en-US" sz="2000" b="1" dirty="0">
                <a:latin typeface="Mona Sans Expanded" pitchFamily="2" charset="0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9765088" y="3553063"/>
              <a:ext cx="4071522" cy="14516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Integrated Sysmon event logs into Wazuh for comprehensive correlation, bridging file integrity monitoring with process-level visibility for enriched alerts.</a:t>
              </a:r>
              <a:endParaRPr lang="en-US" sz="1750" dirty="0"/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444202CD-3A1F-17E7-646F-CBA9D5D67596}"/>
                </a:ext>
              </a:extLst>
            </p:cNvPr>
            <p:cNvGrpSpPr/>
            <p:nvPr/>
          </p:nvGrpSpPr>
          <p:grpSpPr>
            <a:xfrm>
              <a:off x="9628823" y="2533293"/>
              <a:ext cx="4342148" cy="471858"/>
              <a:chOff x="9628823" y="2533293"/>
              <a:chExt cx="4342148" cy="471858"/>
            </a:xfrm>
          </p:grpSpPr>
          <p:sp>
            <p:nvSpPr>
              <p:cNvPr id="14" name="Text 12"/>
              <p:cNvSpPr/>
              <p:nvPr/>
            </p:nvSpPr>
            <p:spPr>
              <a:xfrm>
                <a:off x="9753540" y="2533293"/>
                <a:ext cx="226814" cy="28348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52586B"/>
                    </a:solidFill>
                    <a:latin typeface="Mona Sans Light" pitchFamily="34" charset="0"/>
                    <a:ea typeface="Mona Sans Light" pitchFamily="34" charset="-122"/>
                    <a:cs typeface="Mona Sans Light" pitchFamily="34" charset="-120"/>
                  </a:rPr>
                  <a:t>03</a:t>
                </a:r>
                <a:endParaRPr lang="en-US" sz="1750" dirty="0"/>
              </a:p>
            </p:txBody>
          </p:sp>
          <p:sp>
            <p:nvSpPr>
              <p:cNvPr id="28" name="Shape 3">
                <a:extLst>
                  <a:ext uri="{FF2B5EF4-FFF2-40B4-BE49-F238E27FC236}">
                    <a16:creationId xmlns:a16="http://schemas.microsoft.com/office/drawing/2014/main" id="{87AF8D94-890F-7EAF-E1E0-B03FB7A76B73}"/>
                  </a:ext>
                </a:extLst>
              </p:cNvPr>
              <p:cNvSpPr/>
              <p:nvPr/>
            </p:nvSpPr>
            <p:spPr>
              <a:xfrm rot="5400000">
                <a:off x="11764236" y="798416"/>
                <a:ext cx="71322" cy="4342148"/>
              </a:xfrm>
              <a:prstGeom prst="roundRect">
                <a:avLst>
                  <a:gd name="adj" fmla="val 78139"/>
                </a:avLst>
              </a:prstGeom>
              <a:solidFill>
                <a:srgbClr val="373B48"/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</p:grp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8F70F51-D685-40A9-0FE0-856D1CA5AD88}"/>
              </a:ext>
            </a:extLst>
          </p:cNvPr>
          <p:cNvGrpSpPr/>
          <p:nvPr/>
        </p:nvGrpSpPr>
        <p:grpSpPr>
          <a:xfrm>
            <a:off x="5061031" y="2689661"/>
            <a:ext cx="4352289" cy="3625453"/>
            <a:chOff x="5061031" y="2689661"/>
            <a:chExt cx="4352289" cy="3625453"/>
          </a:xfrm>
        </p:grpSpPr>
        <p:sp>
          <p:nvSpPr>
            <p:cNvPr id="45" name="Flowchart: Alternate Process 44">
              <a:extLst>
                <a:ext uri="{FF2B5EF4-FFF2-40B4-BE49-F238E27FC236}">
                  <a16:creationId xmlns:a16="http://schemas.microsoft.com/office/drawing/2014/main" id="{E8E888F3-6DF3-2C3E-8A64-B9AFBB5F4DDE}"/>
                </a:ext>
              </a:extLst>
            </p:cNvPr>
            <p:cNvSpPr/>
            <p:nvPr/>
          </p:nvSpPr>
          <p:spPr>
            <a:xfrm>
              <a:off x="5094423" y="5278454"/>
              <a:ext cx="4270850" cy="1019074"/>
            </a:xfrm>
            <a:prstGeom prst="flowChartAlternateProcess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Shape 1">
              <a:extLst>
                <a:ext uri="{FF2B5EF4-FFF2-40B4-BE49-F238E27FC236}">
                  <a16:creationId xmlns:a16="http://schemas.microsoft.com/office/drawing/2014/main" id="{391DE2A8-75EE-C194-9205-D988E9AB857A}"/>
                </a:ext>
              </a:extLst>
            </p:cNvPr>
            <p:cNvSpPr/>
            <p:nvPr/>
          </p:nvSpPr>
          <p:spPr>
            <a:xfrm>
              <a:off x="5071290" y="2689661"/>
              <a:ext cx="4301310" cy="3625453"/>
            </a:xfrm>
            <a:prstGeom prst="roundRect">
              <a:avLst>
                <a:gd name="adj" fmla="val 4035"/>
              </a:avLst>
            </a:prstGeom>
            <a:noFill/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5216962" y="3354406"/>
              <a:ext cx="3913942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000" b="1" dirty="0">
                  <a:solidFill>
                    <a:srgbClr val="52586B"/>
                  </a:solidFill>
                  <a:latin typeface="Mona Sans Expanded" pitchFamily="2" charset="0"/>
                  <a:ea typeface="Mona Sans Semi Bold" pitchFamily="34" charset="-122"/>
                  <a:cs typeface="Mona Sans Semi Bold" pitchFamily="34" charset="-120"/>
                </a:rPr>
                <a:t>Wazuh Real-time Monitoring</a:t>
              </a:r>
              <a:endParaRPr lang="en-US" sz="2000" b="1" dirty="0">
                <a:latin typeface="Mona Sans Expanded" pitchFamily="2" charset="0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5216962" y="3776583"/>
              <a:ext cx="4196358" cy="14516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Configured </a:t>
              </a:r>
              <a:r>
                <a:rPr lang="en-US" sz="1750" dirty="0">
                  <a:solidFill>
                    <a:srgbClr val="52586B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ossec.conf</a:t>
              </a:r>
              <a:r>
                <a:rPr lang="en-US" sz="175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 on the Wazuh agent to enable real-time monitoring of critical directories, specifically targeting the </a:t>
              </a:r>
              <a:r>
                <a:rPr lang="en-US" sz="1600" dirty="0">
                  <a:solidFill>
                    <a:schemeClr val="accent2">
                      <a:lumMod val="75000"/>
                    </a:schemeClr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Critical_Project</a:t>
              </a:r>
              <a:r>
                <a:rPr 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 </a:t>
              </a:r>
              <a:r>
                <a:rPr lang="en-US" sz="175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folder.</a:t>
              </a:r>
              <a:endParaRPr lang="en-US" sz="1750" dirty="0"/>
            </a:p>
          </p:txBody>
        </p:sp>
        <p:sp>
          <p:nvSpPr>
            <p:cNvPr id="13" name="Text 11"/>
            <p:cNvSpPr>
              <a:spLocks/>
            </p:cNvSpPr>
            <p:nvPr/>
          </p:nvSpPr>
          <p:spPr>
            <a:xfrm>
              <a:off x="5291257" y="5447107"/>
              <a:ext cx="3765352" cy="78033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5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&lt;directories realtime="yes"&gt;C:\Critical_Project&lt;/directories&gt;</a:t>
              </a:r>
              <a:endParaRPr lang="en-US" sz="15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1B8CEF64-637C-C7F6-EFAA-318EFFF0DBAB}"/>
                </a:ext>
              </a:extLst>
            </p:cNvPr>
            <p:cNvGrpSpPr/>
            <p:nvPr/>
          </p:nvGrpSpPr>
          <p:grpSpPr>
            <a:xfrm>
              <a:off x="5061031" y="2756813"/>
              <a:ext cx="4342148" cy="471858"/>
              <a:chOff x="5061031" y="2533293"/>
              <a:chExt cx="4342148" cy="471858"/>
            </a:xfrm>
          </p:grpSpPr>
          <p:sp>
            <p:nvSpPr>
              <p:cNvPr id="7" name="Text 5"/>
              <p:cNvSpPr/>
              <p:nvPr/>
            </p:nvSpPr>
            <p:spPr>
              <a:xfrm>
                <a:off x="5216962" y="2533293"/>
                <a:ext cx="226814" cy="28348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52586B"/>
                    </a:solidFill>
                    <a:latin typeface="Mona Sans Light" pitchFamily="34" charset="0"/>
                    <a:ea typeface="Mona Sans Light" pitchFamily="34" charset="-122"/>
                    <a:cs typeface="Mona Sans Light" pitchFamily="34" charset="-120"/>
                  </a:rPr>
                  <a:t>02</a:t>
                </a:r>
                <a:endParaRPr lang="en-US" sz="1750" dirty="0"/>
              </a:p>
            </p:txBody>
          </p:sp>
          <p:sp>
            <p:nvSpPr>
              <p:cNvPr id="29" name="Shape 3">
                <a:extLst>
                  <a:ext uri="{FF2B5EF4-FFF2-40B4-BE49-F238E27FC236}">
                    <a16:creationId xmlns:a16="http://schemas.microsoft.com/office/drawing/2014/main" id="{D2C5BECB-E06A-5930-905F-329B06D4D70B}"/>
                  </a:ext>
                </a:extLst>
              </p:cNvPr>
              <p:cNvSpPr/>
              <p:nvPr/>
            </p:nvSpPr>
            <p:spPr>
              <a:xfrm rot="5400000">
                <a:off x="7196444" y="798416"/>
                <a:ext cx="71322" cy="4342148"/>
              </a:xfrm>
              <a:prstGeom prst="roundRect">
                <a:avLst>
                  <a:gd name="adj" fmla="val 78139"/>
                </a:avLst>
              </a:prstGeom>
              <a:solidFill>
                <a:srgbClr val="373B48"/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6286" y="1705151"/>
            <a:ext cx="7282082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b="1" dirty="0">
                <a:solidFill>
                  <a:schemeClr val="bg2">
                    <a:lumMod val="25000"/>
                  </a:schemeClr>
                </a:solidFill>
                <a:latin typeface="Mona Sans Expanded" pitchFamily="2" charset="0"/>
                <a:ea typeface="Mona Sans Semi Bold" pitchFamily="34" charset="-122"/>
                <a:cs typeface="Mona Sans Semi Bold" pitchFamily="34" charset="-120"/>
              </a:rPr>
              <a:t>Attack Simulation: The Rogue Insider</a:t>
            </a:r>
            <a:endParaRPr lang="en-US" sz="2900" b="1" dirty="0">
              <a:solidFill>
                <a:schemeClr val="bg2">
                  <a:lumMod val="25000"/>
                </a:schemeClr>
              </a:solidFill>
              <a:latin typeface="Mona Sans Expanded" pitchFamily="2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307580" y="2759035"/>
            <a:ext cx="15240" cy="3121819"/>
          </a:xfrm>
          <a:prstGeom prst="roundRect">
            <a:avLst>
              <a:gd name="adj" fmla="val 406325"/>
            </a:avLst>
          </a:prstGeom>
          <a:solidFill>
            <a:srgbClr val="C8CACF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59325B3-B5CB-3C0D-1416-3B86B70E5666}"/>
              </a:ext>
            </a:extLst>
          </p:cNvPr>
          <p:cNvGrpSpPr/>
          <p:nvPr/>
        </p:nvGrpSpPr>
        <p:grpSpPr>
          <a:xfrm>
            <a:off x="793790" y="2786658"/>
            <a:ext cx="6576655" cy="836176"/>
            <a:chOff x="793790" y="2786658"/>
            <a:chExt cx="6576655" cy="836176"/>
          </a:xfrm>
        </p:grpSpPr>
        <p:sp>
          <p:nvSpPr>
            <p:cNvPr id="5" name="Shape 2"/>
            <p:cNvSpPr/>
            <p:nvPr/>
          </p:nvSpPr>
          <p:spPr>
            <a:xfrm>
              <a:off x="7035641" y="2917269"/>
              <a:ext cx="294799" cy="15240"/>
            </a:xfrm>
            <a:prstGeom prst="roundRect">
              <a:avLst>
                <a:gd name="adj" fmla="val 406325"/>
              </a:avLst>
            </a:prstGeom>
            <a:solidFill>
              <a:srgbClr val="C8CACF"/>
            </a:solidFill>
            <a:ln/>
          </p:spPr>
          <p:txBody>
            <a:bodyPr/>
            <a:lstStyle/>
            <a:p>
              <a:endParaRPr lang="en-US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7BD13C47-AD83-7F5B-42DF-9FCFCFED910D}"/>
                </a:ext>
              </a:extLst>
            </p:cNvPr>
            <p:cNvGrpSpPr/>
            <p:nvPr/>
          </p:nvGrpSpPr>
          <p:grpSpPr>
            <a:xfrm>
              <a:off x="793790" y="2786658"/>
              <a:ext cx="6576655" cy="836176"/>
              <a:chOff x="793790" y="2786658"/>
              <a:chExt cx="6576655" cy="836176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A9C2BD8D-DF74-2D58-48A6-9BAFCFD5F260}"/>
                  </a:ext>
                </a:extLst>
              </p:cNvPr>
              <p:cNvGrpSpPr/>
              <p:nvPr/>
            </p:nvGrpSpPr>
            <p:grpSpPr>
              <a:xfrm>
                <a:off x="793790" y="2786658"/>
                <a:ext cx="5931694" cy="836176"/>
                <a:chOff x="793790" y="3843933"/>
                <a:chExt cx="5931694" cy="836176"/>
              </a:xfrm>
            </p:grpSpPr>
            <p:sp>
              <p:nvSpPr>
                <p:cNvPr id="7" name="Text 4"/>
                <p:cNvSpPr/>
                <p:nvPr/>
              </p:nvSpPr>
              <p:spPr>
                <a:xfrm>
                  <a:off x="2987040" y="3843933"/>
                  <a:ext cx="3738443" cy="276344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t"/>
                <a:lstStyle/>
                <a:p>
                  <a:pPr marL="0" indent="0" algn="r">
                    <a:lnSpc>
                      <a:spcPts val="2150"/>
                    </a:lnSpc>
                    <a:buNone/>
                  </a:pPr>
                  <a:r>
                    <a:rPr lang="en-US" sz="1700" b="1" dirty="0">
                      <a:solidFill>
                        <a:srgbClr val="52586B"/>
                      </a:solidFill>
                      <a:latin typeface="Mona Sans Expanded" pitchFamily="2" charset="0"/>
                      <a:ea typeface="Mona Sans Semi Bold" pitchFamily="34" charset="-122"/>
                      <a:cs typeface="Mona Sans Semi Bold" pitchFamily="34" charset="-120"/>
                    </a:rPr>
                    <a:t>Scenario: Covert Data Modification</a:t>
                  </a:r>
                  <a:endParaRPr lang="en-US" sz="1700" b="1" dirty="0">
                    <a:latin typeface="Mona Sans Expanded" pitchFamily="2" charset="0"/>
                  </a:endParaRPr>
                </a:p>
              </p:txBody>
            </p:sp>
            <p:sp>
              <p:nvSpPr>
                <p:cNvPr id="8" name="Text 5"/>
                <p:cNvSpPr/>
                <p:nvPr/>
              </p:nvSpPr>
              <p:spPr>
                <a:xfrm>
                  <a:off x="793790" y="4208621"/>
                  <a:ext cx="5931694" cy="471488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t"/>
                <a:lstStyle/>
                <a:p>
                  <a:pPr marL="0" indent="0" algn="just">
                    <a:lnSpc>
                      <a:spcPts val="1850"/>
                    </a:lnSpc>
                    <a:buNone/>
                  </a:pPr>
                  <a:r>
                    <a:rPr lang="en-US" sz="1400" dirty="0">
                      <a:solidFill>
                        <a:srgbClr val="52586B"/>
                      </a:solidFill>
                      <a:latin typeface="Funnel Sans" pitchFamily="34" charset="0"/>
                      <a:ea typeface="Funnel Sans" pitchFamily="34" charset="-122"/>
                      <a:cs typeface="Funnel Sans" pitchFamily="34" charset="-120"/>
                    </a:rPr>
                    <a:t>To rigorously test the system, a "rogue insider" scenario was simulated, focusing on an attempt to surreptitiously modify sensitive data on a critical server.</a:t>
                  </a:r>
                  <a:endParaRPr lang="en-US" sz="1400" dirty="0"/>
                </a:p>
              </p:txBody>
            </p:sp>
          </p:grpSp>
          <p:sp>
            <p:nvSpPr>
              <p:cNvPr id="6" name="Shape 3"/>
              <p:cNvSpPr/>
              <p:nvPr/>
            </p:nvSpPr>
            <p:spPr>
              <a:xfrm>
                <a:off x="7259955" y="2869644"/>
                <a:ext cx="110490" cy="110490"/>
              </a:xfrm>
              <a:prstGeom prst="roundRect">
                <a:avLst>
                  <a:gd name="adj" fmla="val 413793"/>
                </a:avLst>
              </a:prstGeom>
              <a:solidFill>
                <a:srgbClr val="373B48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02B69D9-B748-0679-80F1-2D87E6531016}"/>
              </a:ext>
            </a:extLst>
          </p:cNvPr>
          <p:cNvGrpSpPr/>
          <p:nvPr/>
        </p:nvGrpSpPr>
        <p:grpSpPr>
          <a:xfrm>
            <a:off x="7259955" y="4720828"/>
            <a:ext cx="6500456" cy="1145323"/>
            <a:chOff x="7259955" y="4720828"/>
            <a:chExt cx="6500456" cy="1145323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2DB60CE-31AF-61CE-2481-1887244BA79F}"/>
                </a:ext>
              </a:extLst>
            </p:cNvPr>
            <p:cNvGrpSpPr/>
            <p:nvPr/>
          </p:nvGrpSpPr>
          <p:grpSpPr>
            <a:xfrm>
              <a:off x="7828717" y="4720828"/>
              <a:ext cx="5931694" cy="1145323"/>
              <a:chOff x="7904917" y="4728448"/>
              <a:chExt cx="5931694" cy="836177"/>
            </a:xfrm>
          </p:grpSpPr>
          <p:sp>
            <p:nvSpPr>
              <p:cNvPr id="11" name="Text 8"/>
              <p:cNvSpPr/>
              <p:nvPr/>
            </p:nvSpPr>
            <p:spPr>
              <a:xfrm>
                <a:off x="7904917" y="4728448"/>
                <a:ext cx="2211467" cy="27634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150"/>
                  </a:lnSpc>
                  <a:buNone/>
                </a:pPr>
                <a:r>
                  <a:rPr lang="en-US" sz="1700" b="1" dirty="0">
                    <a:solidFill>
                      <a:srgbClr val="52586B"/>
                    </a:solidFill>
                    <a:latin typeface="Mona Sans Expanded" pitchFamily="2" charset="0"/>
                    <a:ea typeface="Mona Sans Semi Bold" pitchFamily="34" charset="-122"/>
                    <a:cs typeface="Mona Sans Semi Bold" pitchFamily="34" charset="-120"/>
                  </a:rPr>
                  <a:t>Evasion Techniques</a:t>
                </a:r>
                <a:endParaRPr lang="en-US" sz="1700" b="1" dirty="0">
                  <a:latin typeface="Mona Sans Expanded" pitchFamily="2" charset="0"/>
                </a:endParaRPr>
              </a:p>
            </p:txBody>
          </p:sp>
          <p:sp>
            <p:nvSpPr>
              <p:cNvPr id="12" name="Text 9"/>
              <p:cNvSpPr/>
              <p:nvPr/>
            </p:nvSpPr>
            <p:spPr>
              <a:xfrm>
                <a:off x="7904917" y="5093137"/>
                <a:ext cx="5931694" cy="4714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850"/>
                  </a:lnSpc>
                  <a:buNone/>
                </a:pPr>
                <a:r>
                  <a:rPr lang="en-US" sz="1400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The attack deliberately avoided standard GUI tools, instead leveraging </a:t>
                </a:r>
                <a:r>
                  <a:rPr lang="en-US" sz="1400" b="1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PowerShell</a:t>
                </a:r>
                <a:r>
                  <a:rPr lang="en-US" sz="1400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 commands to bypass conventional detection mechanisms and mimic advanced threats.</a:t>
                </a:r>
                <a:endParaRPr lang="en-US" sz="1400" dirty="0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F0334167-E743-1D21-1F84-A6EBEF9F9C13}"/>
                </a:ext>
              </a:extLst>
            </p:cNvPr>
            <p:cNvGrpSpPr/>
            <p:nvPr/>
          </p:nvGrpSpPr>
          <p:grpSpPr>
            <a:xfrm>
              <a:off x="7259955" y="4803815"/>
              <a:ext cx="334804" cy="110490"/>
              <a:chOff x="7259955" y="4803815"/>
              <a:chExt cx="334804" cy="110490"/>
            </a:xfrm>
          </p:grpSpPr>
          <p:sp>
            <p:nvSpPr>
              <p:cNvPr id="9" name="Shape 6"/>
              <p:cNvSpPr/>
              <p:nvPr/>
            </p:nvSpPr>
            <p:spPr>
              <a:xfrm>
                <a:off x="7299960" y="4859060"/>
                <a:ext cx="294799" cy="15240"/>
              </a:xfrm>
              <a:prstGeom prst="roundRect">
                <a:avLst>
                  <a:gd name="adj" fmla="val 406325"/>
                </a:avLst>
              </a:prstGeom>
              <a:solidFill>
                <a:srgbClr val="C8CACF"/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0" name="Shape 7"/>
              <p:cNvSpPr/>
              <p:nvPr/>
            </p:nvSpPr>
            <p:spPr>
              <a:xfrm>
                <a:off x="7259955" y="4803815"/>
                <a:ext cx="110490" cy="110490"/>
              </a:xfrm>
              <a:prstGeom prst="roundRect">
                <a:avLst>
                  <a:gd name="adj" fmla="val 413793"/>
                </a:avLst>
              </a:prstGeom>
              <a:solidFill>
                <a:srgbClr val="373B48"/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</p:grp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00EB2B3-DE36-61F8-9552-3D206B6394B0}"/>
              </a:ext>
            </a:extLst>
          </p:cNvPr>
          <p:cNvGrpSpPr/>
          <p:nvPr/>
        </p:nvGrpSpPr>
        <p:grpSpPr>
          <a:xfrm>
            <a:off x="786527" y="4422100"/>
            <a:ext cx="6583918" cy="1444051"/>
            <a:chOff x="786527" y="4422100"/>
            <a:chExt cx="6583918" cy="1444051"/>
          </a:xfrm>
        </p:grpSpPr>
        <p:sp>
          <p:nvSpPr>
            <p:cNvPr id="13" name="Shape 10"/>
            <p:cNvSpPr/>
            <p:nvPr/>
          </p:nvSpPr>
          <p:spPr>
            <a:xfrm>
              <a:off x="7035641" y="4552712"/>
              <a:ext cx="294799" cy="15240"/>
            </a:xfrm>
            <a:prstGeom prst="roundRect">
              <a:avLst>
                <a:gd name="adj" fmla="val 406325"/>
              </a:avLst>
            </a:prstGeom>
            <a:solidFill>
              <a:srgbClr val="C8CACF"/>
            </a:solidFill>
            <a:ln/>
          </p:spPr>
          <p:txBody>
            <a:bodyPr/>
            <a:lstStyle/>
            <a:p>
              <a:endParaRPr lang="en-US"/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E09A1752-3030-A434-2A99-1EECB8F0CDF6}"/>
                </a:ext>
              </a:extLst>
            </p:cNvPr>
            <p:cNvGrpSpPr/>
            <p:nvPr/>
          </p:nvGrpSpPr>
          <p:grpSpPr>
            <a:xfrm>
              <a:off x="786527" y="4422100"/>
              <a:ext cx="6583918" cy="1444051"/>
              <a:chOff x="786527" y="4422100"/>
              <a:chExt cx="6583918" cy="1444051"/>
            </a:xfrm>
          </p:grpSpPr>
          <p:sp>
            <p:nvSpPr>
              <p:cNvPr id="14" name="Shape 11"/>
              <p:cNvSpPr/>
              <p:nvPr/>
            </p:nvSpPr>
            <p:spPr>
              <a:xfrm>
                <a:off x="7259955" y="4505087"/>
                <a:ext cx="110490" cy="110490"/>
              </a:xfrm>
              <a:prstGeom prst="roundRect">
                <a:avLst>
                  <a:gd name="adj" fmla="val 413793"/>
                </a:avLst>
              </a:prstGeom>
              <a:solidFill>
                <a:srgbClr val="373B48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58063B24-1CA2-929E-5D88-DE43C48EF717}"/>
                  </a:ext>
                </a:extLst>
              </p:cNvPr>
              <p:cNvGrpSpPr/>
              <p:nvPr/>
            </p:nvGrpSpPr>
            <p:grpSpPr>
              <a:xfrm>
                <a:off x="786527" y="4422100"/>
                <a:ext cx="5946219" cy="1444051"/>
                <a:chOff x="786527" y="4422100"/>
                <a:chExt cx="5946219" cy="1444051"/>
              </a:xfrm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1F83546C-ED22-E7C8-91C3-68FBEFC9FCD2}"/>
                    </a:ext>
                  </a:extLst>
                </p:cNvPr>
                <p:cNvGrpSpPr/>
                <p:nvPr/>
              </p:nvGrpSpPr>
              <p:grpSpPr>
                <a:xfrm>
                  <a:off x="786527" y="4422100"/>
                  <a:ext cx="5946219" cy="1413571"/>
                  <a:chOff x="786527" y="5479375"/>
                  <a:chExt cx="5946219" cy="1458754"/>
                </a:xfrm>
              </p:grpSpPr>
              <p:sp>
                <p:nvSpPr>
                  <p:cNvPr id="15" name="Text 12"/>
                  <p:cNvSpPr/>
                  <p:nvPr/>
                </p:nvSpPr>
                <p:spPr>
                  <a:xfrm>
                    <a:off x="3385066" y="5479375"/>
                    <a:ext cx="3340418" cy="276344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none" lIns="0" tIns="0" rIns="0" bIns="0" rtlCol="0" anchor="t"/>
                  <a:lstStyle/>
                  <a:p>
                    <a:pPr marL="0" indent="0" algn="r">
                      <a:lnSpc>
                        <a:spcPts val="2150"/>
                      </a:lnSpc>
                      <a:buNone/>
                    </a:pPr>
                    <a:r>
                      <a:rPr lang="en-US" sz="1700" b="1" dirty="0">
                        <a:solidFill>
                          <a:srgbClr val="52586B"/>
                        </a:solidFill>
                        <a:latin typeface="Mona Sans Expanded" pitchFamily="2" charset="0"/>
                        <a:ea typeface="Mona Sans Semi Bold" pitchFamily="34" charset="-122"/>
                        <a:cs typeface="Mona Sans Semi Bold" pitchFamily="34" charset="-120"/>
                      </a:rPr>
                      <a:t>Malicious Command Execution</a:t>
                    </a:r>
                    <a:endParaRPr lang="en-US" sz="1700" b="1" dirty="0">
                      <a:latin typeface="Mona Sans Expanded" pitchFamily="2" charset="0"/>
                    </a:endParaRPr>
                  </a:p>
                </p:txBody>
              </p:sp>
              <p:sp>
                <p:nvSpPr>
                  <p:cNvPr id="16" name="Text 13"/>
                  <p:cNvSpPr/>
                  <p:nvPr/>
                </p:nvSpPr>
                <p:spPr>
                  <a:xfrm>
                    <a:off x="793790" y="5844064"/>
                    <a:ext cx="5931694" cy="47148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t"/>
                  <a:lstStyle/>
                  <a:p>
                    <a:pPr marL="0" indent="0" algn="just">
                      <a:lnSpc>
                        <a:spcPts val="1850"/>
                      </a:lnSpc>
                      <a:buNone/>
                    </a:pPr>
                    <a:r>
                      <a:rPr lang="en-US" sz="1600" dirty="0">
                        <a:solidFill>
                          <a:srgbClr val="52586B"/>
                        </a:solidFill>
                        <a:latin typeface="Funnel Sans" pitchFamily="34" charset="0"/>
                        <a:ea typeface="Funnel Sans" pitchFamily="34" charset="-122"/>
                        <a:cs typeface="Funnel Sans" pitchFamily="34" charset="-120"/>
                      </a:rPr>
                      <a:t>The insider executed a targeted PowerShell command to inject unauthorised content into a secure file:</a:t>
                    </a:r>
                    <a:endParaRPr lang="en-US" sz="1600" dirty="0"/>
                  </a:p>
                </p:txBody>
              </p:sp>
              <p:sp>
                <p:nvSpPr>
                  <p:cNvPr id="18" name="Shape 15"/>
                  <p:cNvSpPr/>
                  <p:nvPr/>
                </p:nvSpPr>
                <p:spPr>
                  <a:xfrm>
                    <a:off x="786527" y="6481405"/>
                    <a:ext cx="5946219" cy="456724"/>
                  </a:xfrm>
                  <a:prstGeom prst="roundRect">
                    <a:avLst>
                      <a:gd name="adj" fmla="val 4842"/>
                    </a:avLst>
                  </a:prstGeom>
                  <a:solidFill>
                    <a:srgbClr val="F2F2F2"/>
                  </a:solidFill>
                  <a:ln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9" name="Text 16"/>
                <p:cNvSpPr/>
                <p:nvPr/>
              </p:nvSpPr>
              <p:spPr>
                <a:xfrm>
                  <a:off x="981076" y="5484555"/>
                  <a:ext cx="5744408" cy="381596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t"/>
                <a:lstStyle/>
                <a:p>
                  <a:pPr marL="0" indent="0" algn="r">
                    <a:lnSpc>
                      <a:spcPts val="1850"/>
                    </a:lnSpc>
                    <a:buNone/>
                  </a:pPr>
                  <a:r>
                    <a:rPr lang="en-US" sz="1100" dirty="0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highlight>
                        <a:srgbClr val="F2F2F2"/>
                      </a:highlight>
                      <a:latin typeface="Consolas" pitchFamily="34" charset="0"/>
                      <a:ea typeface="Consolas" pitchFamily="34" charset="-122"/>
                      <a:cs typeface="Consolas" pitchFamily="34" charset="-120"/>
                    </a:rPr>
                    <a:t>Add-Content -Path "C:\Critical_Project\secret.txt" -Value "HACKED BY INSIDER"</a:t>
                  </a:r>
                  <a:endParaRPr lang="en-US" sz="1100" dirty="0">
                    <a:solidFill>
                      <a:schemeClr val="tx2">
                        <a:lumMod val="90000"/>
                        <a:lumOff val="10000"/>
                      </a:schemeClr>
                    </a:solidFill>
                  </a:endParaRPr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793790" y="1537790"/>
            <a:ext cx="1265836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000" b="1" dirty="0">
                <a:solidFill>
                  <a:schemeClr val="bg2">
                    <a:lumMod val="25000"/>
                  </a:schemeClr>
                </a:solidFill>
                <a:latin typeface="Mona Sans Expanded" pitchFamily="2" charset="0"/>
                <a:ea typeface="Mona Sans Semi Bold" pitchFamily="34" charset="-122"/>
                <a:cs typeface="Mona Sans Semi Bold" pitchFamily="34" charset="-120"/>
              </a:rPr>
              <a:t>Detection Result 1: Integrity Violation Detected</a:t>
            </a:r>
            <a:endParaRPr lang="en-US" sz="4000" b="1" dirty="0">
              <a:solidFill>
                <a:schemeClr val="bg2">
                  <a:lumMod val="25000"/>
                </a:schemeClr>
              </a:solidFill>
              <a:latin typeface="Mona Sans Expanded" pitchFamily="2" charset="0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9A9E584-7AC8-96F6-1DCB-E3A545C149C2}"/>
              </a:ext>
            </a:extLst>
          </p:cNvPr>
          <p:cNvGrpSpPr/>
          <p:nvPr/>
        </p:nvGrpSpPr>
        <p:grpSpPr>
          <a:xfrm>
            <a:off x="793672" y="2458998"/>
            <a:ext cx="6408062" cy="4594860"/>
            <a:chOff x="793672" y="2458998"/>
            <a:chExt cx="6408062" cy="4594860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E422A926-135E-B95A-9553-2AA75D401CA0}"/>
                </a:ext>
              </a:extLst>
            </p:cNvPr>
            <p:cNvGrpSpPr/>
            <p:nvPr/>
          </p:nvGrpSpPr>
          <p:grpSpPr>
            <a:xfrm>
              <a:off x="793672" y="2458998"/>
              <a:ext cx="6408062" cy="4594860"/>
              <a:chOff x="793672" y="2458998"/>
              <a:chExt cx="6408062" cy="4594860"/>
            </a:xfrm>
          </p:grpSpPr>
          <p:sp>
            <p:nvSpPr>
              <p:cNvPr id="5" name="Shape 2"/>
              <p:cNvSpPr/>
              <p:nvPr/>
            </p:nvSpPr>
            <p:spPr>
              <a:xfrm>
                <a:off x="793790" y="2458998"/>
                <a:ext cx="6407944" cy="4594860"/>
              </a:xfrm>
              <a:prstGeom prst="roundRect">
                <a:avLst>
                  <a:gd name="adj" fmla="val 1973"/>
                </a:avLst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C851AFE6-0410-E38E-0F38-08CB4FC407F2}"/>
                  </a:ext>
                </a:extLst>
              </p:cNvPr>
              <p:cNvGrpSpPr/>
              <p:nvPr/>
            </p:nvGrpSpPr>
            <p:grpSpPr>
              <a:xfrm>
                <a:off x="793672" y="2521190"/>
                <a:ext cx="6408062" cy="482744"/>
                <a:chOff x="793672" y="2521190"/>
                <a:chExt cx="6408062" cy="482744"/>
              </a:xfrm>
            </p:grpSpPr>
            <p:sp>
              <p:nvSpPr>
                <p:cNvPr id="24" name="Text 1">
                  <a:extLst>
                    <a:ext uri="{FF2B5EF4-FFF2-40B4-BE49-F238E27FC236}">
                      <a16:creationId xmlns:a16="http://schemas.microsoft.com/office/drawing/2014/main" id="{E250F208-1DDC-AE8C-7FAC-50FF7B16AB7F}"/>
                    </a:ext>
                  </a:extLst>
                </p:cNvPr>
                <p:cNvSpPr/>
                <p:nvPr/>
              </p:nvSpPr>
              <p:spPr>
                <a:xfrm>
                  <a:off x="926245" y="2521190"/>
                  <a:ext cx="226814" cy="283488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2850"/>
                    </a:lnSpc>
                    <a:buNone/>
                  </a:pPr>
                  <a:r>
                    <a:rPr lang="en-US" sz="175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Mona Sans Light" pitchFamily="34" charset="0"/>
                      <a:ea typeface="Mona Sans Light" pitchFamily="34" charset="-122"/>
                      <a:cs typeface="Mona Sans Light" pitchFamily="34" charset="-120"/>
                    </a:rPr>
                    <a:t>01</a:t>
                  </a:r>
                  <a:endParaRPr lang="en-US" sz="175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  <p:sp>
              <p:nvSpPr>
                <p:cNvPr id="25" name="Shape 3">
                  <a:extLst>
                    <a:ext uri="{FF2B5EF4-FFF2-40B4-BE49-F238E27FC236}">
                      <a16:creationId xmlns:a16="http://schemas.microsoft.com/office/drawing/2014/main" id="{3FA6ABA0-764F-2AC9-011F-43A12EE7F629}"/>
                    </a:ext>
                  </a:extLst>
                </p:cNvPr>
                <p:cNvSpPr/>
                <p:nvPr/>
              </p:nvSpPr>
              <p:spPr>
                <a:xfrm rot="5400000">
                  <a:off x="3962042" y="-235758"/>
                  <a:ext cx="71322" cy="6408062"/>
                </a:xfrm>
                <a:prstGeom prst="roundRect">
                  <a:avLst>
                    <a:gd name="adj" fmla="val 78139"/>
                  </a:avLst>
                </a:prstGeom>
                <a:solidFill>
                  <a:srgbClr val="373B48"/>
                </a:solidFill>
                <a:ln/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FBF0851C-63ED-EAB4-0155-1E9D58FEF7A3}"/>
                </a:ext>
              </a:extLst>
            </p:cNvPr>
            <p:cNvGrpSpPr/>
            <p:nvPr/>
          </p:nvGrpSpPr>
          <p:grpSpPr>
            <a:xfrm>
              <a:off x="1028224" y="3366254"/>
              <a:ext cx="5939076" cy="1650088"/>
              <a:chOff x="1028224" y="3366254"/>
              <a:chExt cx="5939076" cy="1650088"/>
            </a:xfrm>
          </p:grpSpPr>
          <p:sp>
            <p:nvSpPr>
              <p:cNvPr id="8" name="Text 4"/>
              <p:cNvSpPr/>
              <p:nvPr/>
            </p:nvSpPr>
            <p:spPr>
              <a:xfrm>
                <a:off x="1028224" y="3366254"/>
                <a:ext cx="3880961" cy="42529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3300"/>
                  </a:lnSpc>
                  <a:buNone/>
                </a:pPr>
                <a:r>
                  <a:rPr lang="en-US" sz="2400" b="1" dirty="0">
                    <a:solidFill>
                      <a:srgbClr val="52586B"/>
                    </a:solidFill>
                    <a:latin typeface="Mona Sans Expanded" pitchFamily="2" charset="0"/>
                    <a:ea typeface="Mona Sans Semi Bold" pitchFamily="34" charset="-122"/>
                    <a:cs typeface="Mona Sans Semi Bold" pitchFamily="34" charset="-120"/>
                  </a:rPr>
                  <a:t>Immediate Alert Trigger</a:t>
                </a:r>
                <a:endParaRPr lang="en-US" sz="2400" b="1" dirty="0">
                  <a:latin typeface="Mona Sans Expanded" pitchFamily="2" charset="0"/>
                </a:endParaRPr>
              </a:p>
            </p:txBody>
          </p:sp>
          <p:sp>
            <p:nvSpPr>
              <p:cNvPr id="9" name="Text 5"/>
              <p:cNvSpPr/>
              <p:nvPr/>
            </p:nvSpPr>
            <p:spPr>
              <a:xfrm>
                <a:off x="1028224" y="3927634"/>
                <a:ext cx="5939076" cy="10887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Wazuh promptly triggered a Level 7 alert, indicating an "Integrity checksum changed" event, signifying a critical security breach.</a:t>
                </a:r>
                <a:endParaRPr lang="en-US" sz="1750" dirty="0"/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E64C5E7-CE60-8F0F-E57D-61490A55FBD4}"/>
              </a:ext>
            </a:extLst>
          </p:cNvPr>
          <p:cNvGrpSpPr/>
          <p:nvPr/>
        </p:nvGrpSpPr>
        <p:grpSpPr>
          <a:xfrm>
            <a:off x="7428548" y="2458998"/>
            <a:ext cx="6408063" cy="4594860"/>
            <a:chOff x="7428548" y="2458998"/>
            <a:chExt cx="6408063" cy="4594860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6D80BA57-6680-1429-E5FA-EC1A5D5B92D8}"/>
                </a:ext>
              </a:extLst>
            </p:cNvPr>
            <p:cNvGrpSpPr/>
            <p:nvPr/>
          </p:nvGrpSpPr>
          <p:grpSpPr>
            <a:xfrm>
              <a:off x="7428548" y="2458998"/>
              <a:ext cx="6408063" cy="4594860"/>
              <a:chOff x="7428548" y="2458998"/>
              <a:chExt cx="6408063" cy="4594860"/>
            </a:xfrm>
          </p:grpSpPr>
          <p:sp>
            <p:nvSpPr>
              <p:cNvPr id="10" name="Shape 6"/>
              <p:cNvSpPr/>
              <p:nvPr/>
            </p:nvSpPr>
            <p:spPr>
              <a:xfrm>
                <a:off x="7428548" y="2458998"/>
                <a:ext cx="6408063" cy="4594860"/>
              </a:xfrm>
              <a:prstGeom prst="roundRect">
                <a:avLst>
                  <a:gd name="adj" fmla="val 1973"/>
                </a:avLst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375EDCC4-DEE2-DCA5-E4CD-EDADF350FC9C}"/>
                  </a:ext>
                </a:extLst>
              </p:cNvPr>
              <p:cNvGrpSpPr/>
              <p:nvPr/>
            </p:nvGrpSpPr>
            <p:grpSpPr>
              <a:xfrm>
                <a:off x="7428549" y="2528126"/>
                <a:ext cx="6408062" cy="482744"/>
                <a:chOff x="793672" y="2521190"/>
                <a:chExt cx="6408062" cy="482744"/>
              </a:xfrm>
            </p:grpSpPr>
            <p:sp>
              <p:nvSpPr>
                <p:cNvPr id="33" name="Text 1">
                  <a:extLst>
                    <a:ext uri="{FF2B5EF4-FFF2-40B4-BE49-F238E27FC236}">
                      <a16:creationId xmlns:a16="http://schemas.microsoft.com/office/drawing/2014/main" id="{D4B94685-FE19-C7AB-A5D9-26AD3CD0E6F8}"/>
                    </a:ext>
                  </a:extLst>
                </p:cNvPr>
                <p:cNvSpPr/>
                <p:nvPr/>
              </p:nvSpPr>
              <p:spPr>
                <a:xfrm>
                  <a:off x="926245" y="2521190"/>
                  <a:ext cx="226814" cy="283488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2850"/>
                    </a:lnSpc>
                    <a:buNone/>
                  </a:pPr>
                  <a:r>
                    <a:rPr lang="en-US" sz="175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Mona Sans Light" pitchFamily="34" charset="0"/>
                      <a:ea typeface="Mona Sans Light" pitchFamily="34" charset="-122"/>
                      <a:cs typeface="Mona Sans Light" pitchFamily="34" charset="-120"/>
                    </a:rPr>
                    <a:t>02</a:t>
                  </a:r>
                  <a:endParaRPr lang="en-US" sz="175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  <p:sp>
              <p:nvSpPr>
                <p:cNvPr id="34" name="Shape 3">
                  <a:extLst>
                    <a:ext uri="{FF2B5EF4-FFF2-40B4-BE49-F238E27FC236}">
                      <a16:creationId xmlns:a16="http://schemas.microsoft.com/office/drawing/2014/main" id="{0F1BE05A-10DC-7B10-66E4-47E744B39661}"/>
                    </a:ext>
                  </a:extLst>
                </p:cNvPr>
                <p:cNvSpPr/>
                <p:nvPr/>
              </p:nvSpPr>
              <p:spPr>
                <a:xfrm rot="5400000">
                  <a:off x="3962042" y="-235758"/>
                  <a:ext cx="71322" cy="6408062"/>
                </a:xfrm>
                <a:prstGeom prst="roundRect">
                  <a:avLst>
                    <a:gd name="adj" fmla="val 78139"/>
                  </a:avLst>
                </a:prstGeom>
                <a:solidFill>
                  <a:srgbClr val="373B48"/>
                </a:solidFill>
                <a:ln/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C632C03F-53ED-DD7F-E965-1BF52E695BCB}"/>
                </a:ext>
              </a:extLst>
            </p:cNvPr>
            <p:cNvGrpSpPr/>
            <p:nvPr/>
          </p:nvGrpSpPr>
          <p:grpSpPr>
            <a:xfrm>
              <a:off x="7662982" y="3366254"/>
              <a:ext cx="5939195" cy="3453170"/>
              <a:chOff x="7662982" y="3366254"/>
              <a:chExt cx="5939195" cy="3453170"/>
            </a:xfrm>
          </p:grpSpPr>
          <p:sp>
            <p:nvSpPr>
              <p:cNvPr id="13" name="Text 8"/>
              <p:cNvSpPr/>
              <p:nvPr/>
            </p:nvSpPr>
            <p:spPr>
              <a:xfrm>
                <a:off x="7662982" y="3366254"/>
                <a:ext cx="5455206" cy="42529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3300"/>
                  </a:lnSpc>
                  <a:buNone/>
                </a:pPr>
                <a:r>
                  <a:rPr lang="en-US" sz="2400" b="1" dirty="0">
                    <a:solidFill>
                      <a:srgbClr val="52586B"/>
                    </a:solidFill>
                    <a:latin typeface="Mona Sans Expanded" pitchFamily="2" charset="0"/>
                    <a:ea typeface="Mona Sans Semi Bold" pitchFamily="34" charset="-122"/>
                    <a:cs typeface="Mona Sans Semi Bold" pitchFamily="34" charset="-120"/>
                  </a:rPr>
                  <a:t>Cryptographic Proof of Alteration</a:t>
                </a:r>
                <a:endParaRPr lang="en-US" sz="2400" b="1" dirty="0">
                  <a:latin typeface="Mona Sans Expanded" pitchFamily="2" charset="0"/>
                </a:endParaRPr>
              </a:p>
            </p:txBody>
          </p:sp>
          <p:sp>
            <p:nvSpPr>
              <p:cNvPr id="14" name="Text 9"/>
              <p:cNvSpPr/>
              <p:nvPr/>
            </p:nvSpPr>
            <p:spPr>
              <a:xfrm>
                <a:off x="7662982" y="3927634"/>
                <a:ext cx="5939195" cy="7258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The system provided irrefutable cryptographic evidence of the file's modification through SHA-256 hash comparison:</a:t>
                </a:r>
                <a:endParaRPr lang="en-US" sz="1750" dirty="0"/>
              </a:p>
            </p:txBody>
          </p:sp>
          <p:sp>
            <p:nvSpPr>
              <p:cNvPr id="15" name="Text 10"/>
              <p:cNvSpPr/>
              <p:nvPr/>
            </p:nvSpPr>
            <p:spPr>
              <a:xfrm>
                <a:off x="7662982" y="4789527"/>
                <a:ext cx="5939195" cy="36290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342900" indent="-342900" algn="l">
                  <a:lnSpc>
                    <a:spcPts val="2850"/>
                  </a:lnSpc>
                  <a:buSzPct val="100000"/>
                  <a:buChar char="•"/>
                </a:pPr>
                <a:r>
                  <a:rPr lang="en-US" sz="1750" b="1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Old Hash:</a:t>
                </a:r>
                <a:r>
                  <a:rPr lang="en-US" sz="1750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 </a:t>
                </a:r>
                <a:r>
                  <a:rPr lang="en-US" sz="1750" dirty="0">
                    <a:solidFill>
                      <a:srgbClr val="52586B"/>
                    </a:solidFill>
                    <a:highlight>
                      <a:srgbClr val="F2F2F2"/>
                    </a:highlight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c00fe...</a:t>
                </a:r>
                <a:endParaRPr lang="en-US" sz="1750" dirty="0"/>
              </a:p>
            </p:txBody>
          </p:sp>
          <p:sp>
            <p:nvSpPr>
              <p:cNvPr id="16" name="Text 11"/>
              <p:cNvSpPr/>
              <p:nvPr/>
            </p:nvSpPr>
            <p:spPr>
              <a:xfrm>
                <a:off x="7662982" y="5231725"/>
                <a:ext cx="5939195" cy="36290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342900" indent="-342900" algn="l">
                  <a:lnSpc>
                    <a:spcPts val="2850"/>
                  </a:lnSpc>
                  <a:buSzPct val="100000"/>
                  <a:buChar char="•"/>
                </a:pPr>
                <a:r>
                  <a:rPr lang="en-US" sz="1750" b="1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New Hash:</a:t>
                </a:r>
                <a:r>
                  <a:rPr lang="en-US" sz="1750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 </a:t>
                </a:r>
                <a:r>
                  <a:rPr lang="en-US" sz="1750" dirty="0">
                    <a:solidFill>
                      <a:srgbClr val="52586B"/>
                    </a:solidFill>
                    <a:highlight>
                      <a:srgbClr val="F2F2F2"/>
                    </a:highlight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fcd5a...</a:t>
                </a:r>
                <a:endParaRPr lang="en-US" sz="1750" dirty="0"/>
              </a:p>
            </p:txBody>
          </p:sp>
          <p:sp>
            <p:nvSpPr>
              <p:cNvPr id="17" name="Text 12"/>
              <p:cNvSpPr/>
              <p:nvPr/>
            </p:nvSpPr>
            <p:spPr>
              <a:xfrm>
                <a:off x="7662982" y="5730716"/>
                <a:ext cx="5939195" cy="10887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This mathematical validation confirms that the file's contents were indeed altered from their original, trusted state.</a:t>
                </a:r>
                <a:endParaRPr lang="en-US" sz="1750" dirty="0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37308"/>
            <a:ext cx="12352853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200" b="1" dirty="0">
                <a:solidFill>
                  <a:schemeClr val="bg2">
                    <a:lumMod val="25000"/>
                  </a:schemeClr>
                </a:solidFill>
                <a:latin typeface="Mona Sans Expanded" pitchFamily="2" charset="0"/>
                <a:ea typeface="Mona Sans Semi Bold" pitchFamily="34" charset="-122"/>
                <a:cs typeface="Mona Sans Semi Bold" pitchFamily="34" charset="-120"/>
              </a:rPr>
              <a:t>Detection Result 2: Root Cause Analysis with Sysmon</a:t>
            </a:r>
            <a:endParaRPr lang="en-US" sz="3200" b="1" dirty="0">
              <a:solidFill>
                <a:schemeClr val="bg2">
                  <a:lumMod val="25000"/>
                </a:schemeClr>
              </a:solidFill>
              <a:latin typeface="Mona Sans Expanded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303770" y="2353508"/>
            <a:ext cx="22860" cy="4510445"/>
          </a:xfrm>
          <a:prstGeom prst="roundRect">
            <a:avLst>
              <a:gd name="adj" fmla="val 354232"/>
            </a:avLst>
          </a:prstGeom>
          <a:solidFill>
            <a:srgbClr val="C8CACF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1949D74-362D-0C21-DC0F-3DE2A3D9C26E}"/>
              </a:ext>
            </a:extLst>
          </p:cNvPr>
          <p:cNvGrpSpPr/>
          <p:nvPr/>
        </p:nvGrpSpPr>
        <p:grpSpPr>
          <a:xfrm>
            <a:off x="793790" y="2694384"/>
            <a:ext cx="6593681" cy="1402200"/>
            <a:chOff x="793790" y="2694384"/>
            <a:chExt cx="6593681" cy="140220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19A1CE3-6885-D7C0-D36F-E54ECD86E210}"/>
                </a:ext>
              </a:extLst>
            </p:cNvPr>
            <p:cNvGrpSpPr/>
            <p:nvPr/>
          </p:nvGrpSpPr>
          <p:grpSpPr>
            <a:xfrm>
              <a:off x="6952536" y="2828250"/>
              <a:ext cx="434935" cy="144542"/>
              <a:chOff x="6952536" y="2498050"/>
              <a:chExt cx="434935" cy="144542"/>
            </a:xfrm>
          </p:grpSpPr>
          <p:sp>
            <p:nvSpPr>
              <p:cNvPr id="4" name="Shape 2"/>
              <p:cNvSpPr/>
              <p:nvPr/>
            </p:nvSpPr>
            <p:spPr>
              <a:xfrm>
                <a:off x="6952536" y="2558891"/>
                <a:ext cx="385524" cy="22860"/>
              </a:xfrm>
              <a:prstGeom prst="roundRect">
                <a:avLst>
                  <a:gd name="adj" fmla="val 354232"/>
                </a:avLst>
              </a:prstGeom>
              <a:solidFill>
                <a:srgbClr val="C8CACF"/>
              </a:solidFill>
              <a:ln/>
            </p:spPr>
            <p:txBody>
              <a:bodyPr/>
              <a:lstStyle/>
              <a:p>
                <a:endParaRPr lang="en-US" baseline="-25000"/>
              </a:p>
            </p:txBody>
          </p:sp>
          <p:sp>
            <p:nvSpPr>
              <p:cNvPr id="5" name="Shape 3"/>
              <p:cNvSpPr/>
              <p:nvPr/>
            </p:nvSpPr>
            <p:spPr>
              <a:xfrm>
                <a:off x="7242929" y="2498050"/>
                <a:ext cx="144542" cy="144542"/>
              </a:xfrm>
              <a:prstGeom prst="roundRect">
                <a:avLst>
                  <a:gd name="adj" fmla="val 316309"/>
                </a:avLst>
              </a:prstGeom>
              <a:solidFill>
                <a:srgbClr val="373B48"/>
              </a:solidFill>
              <a:ln/>
            </p:spPr>
            <p:txBody>
              <a:bodyPr/>
              <a:lstStyle/>
              <a:p>
                <a:endParaRPr lang="en-US" baseline="-25000"/>
              </a:p>
            </p:txBody>
          </p:sp>
        </p:grpSp>
        <p:sp>
          <p:nvSpPr>
            <p:cNvPr id="6" name="Text 4"/>
            <p:cNvSpPr/>
            <p:nvPr/>
          </p:nvSpPr>
          <p:spPr>
            <a:xfrm>
              <a:off x="2738199" y="2694384"/>
              <a:ext cx="3805833" cy="36147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r">
                <a:lnSpc>
                  <a:spcPts val="2800"/>
                </a:lnSpc>
                <a:buNone/>
              </a:pPr>
              <a:r>
                <a:rPr lang="en-US" sz="2250" b="1" dirty="0">
                  <a:solidFill>
                    <a:srgbClr val="52586B"/>
                  </a:solidFill>
                  <a:latin typeface="Mona Sans Expanded" pitchFamily="2" charset="0"/>
                  <a:ea typeface="Mona Sans Semi Bold" pitchFamily="34" charset="-122"/>
                  <a:cs typeface="Mona Sans Semi Bold" pitchFamily="34" charset="-120"/>
                </a:rPr>
                <a:t>Unmasking the Perpetrator</a:t>
              </a:r>
              <a:endParaRPr lang="en-US" sz="2250" b="1" dirty="0">
                <a:latin typeface="Mona Sans Expanded" pitchFamily="2" charset="0"/>
              </a:endParaRPr>
            </a:p>
          </p:txBody>
        </p:sp>
        <p:sp>
          <p:nvSpPr>
            <p:cNvPr id="7" name="Text 5"/>
            <p:cNvSpPr/>
            <p:nvPr/>
          </p:nvSpPr>
          <p:spPr>
            <a:xfrm>
              <a:off x="793790" y="3171468"/>
              <a:ext cx="5750243" cy="9251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r">
                <a:lnSpc>
                  <a:spcPts val="2400"/>
                </a:lnSpc>
                <a:buNone/>
              </a:pPr>
              <a:r>
                <a:rPr lang="en-US" sz="150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Beyond merely detecting a file change, the crucial forensic question of "WHO did it?" was addressed through Sysmon's detailed logging.</a:t>
              </a:r>
              <a:endParaRPr lang="en-US" sz="150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91E9C77-E288-BA8C-F97A-C0314FA40704}"/>
              </a:ext>
            </a:extLst>
          </p:cNvPr>
          <p:cNvGrpSpPr/>
          <p:nvPr/>
        </p:nvGrpSpPr>
        <p:grpSpPr>
          <a:xfrm>
            <a:off x="7242929" y="3546277"/>
            <a:ext cx="6593682" cy="3317676"/>
            <a:chOff x="7242929" y="3546277"/>
            <a:chExt cx="6593682" cy="3317676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945FAB6-5011-9E9F-7FEA-5387D4B652CF}"/>
                </a:ext>
              </a:extLst>
            </p:cNvPr>
            <p:cNvGrpSpPr/>
            <p:nvPr/>
          </p:nvGrpSpPr>
          <p:grpSpPr>
            <a:xfrm>
              <a:off x="7242929" y="3654743"/>
              <a:ext cx="434935" cy="144542"/>
              <a:chOff x="7242929" y="3654743"/>
              <a:chExt cx="434935" cy="144542"/>
            </a:xfrm>
          </p:grpSpPr>
          <p:sp>
            <p:nvSpPr>
              <p:cNvPr id="8" name="Shape 6"/>
              <p:cNvSpPr/>
              <p:nvPr/>
            </p:nvSpPr>
            <p:spPr>
              <a:xfrm>
                <a:off x="7292340" y="3715583"/>
                <a:ext cx="385524" cy="22860"/>
              </a:xfrm>
              <a:prstGeom prst="roundRect">
                <a:avLst>
                  <a:gd name="adj" fmla="val 354232"/>
                </a:avLst>
              </a:prstGeom>
              <a:solidFill>
                <a:srgbClr val="C8CACF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Shape 7"/>
              <p:cNvSpPr/>
              <p:nvPr/>
            </p:nvSpPr>
            <p:spPr>
              <a:xfrm>
                <a:off x="7242929" y="3654743"/>
                <a:ext cx="144542" cy="144542"/>
              </a:xfrm>
              <a:prstGeom prst="roundRect">
                <a:avLst>
                  <a:gd name="adj" fmla="val 316309"/>
                </a:avLst>
              </a:prstGeom>
              <a:solidFill>
                <a:srgbClr val="373B48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" name="Text 8"/>
            <p:cNvSpPr/>
            <p:nvPr/>
          </p:nvSpPr>
          <p:spPr>
            <a:xfrm>
              <a:off x="8086368" y="3546277"/>
              <a:ext cx="4044672" cy="36147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00"/>
                </a:lnSpc>
                <a:buNone/>
              </a:pPr>
              <a:r>
                <a:rPr lang="en-US" sz="2250" b="1" dirty="0">
                  <a:solidFill>
                    <a:srgbClr val="52586B"/>
                  </a:solidFill>
                  <a:latin typeface="Mona Sans Expanded" pitchFamily="2" charset="0"/>
                  <a:ea typeface="Mona Sans Semi Bold" pitchFamily="34" charset="-122"/>
                  <a:cs typeface="Mona Sans Semi Bold" pitchFamily="34" charset="-120"/>
                </a:rPr>
                <a:t>Actionable Sysmon Evidence</a:t>
              </a:r>
              <a:endParaRPr lang="en-US" sz="2250" b="1" dirty="0">
                <a:latin typeface="Mona Sans Expanded" pitchFamily="2" charset="0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8086368" y="4023360"/>
              <a:ext cx="5750243" cy="30837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00"/>
                </a:lnSpc>
                <a:buNone/>
              </a:pPr>
              <a:r>
                <a:rPr lang="en-US" sz="150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Sysmon logs provided specific, actionable intelligence:</a:t>
              </a:r>
              <a:endParaRPr lang="en-US" sz="15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8086368" y="4447342"/>
              <a:ext cx="5750243" cy="30837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400"/>
                </a:lnSpc>
                <a:buSzPct val="100000"/>
                <a:buChar char="•"/>
              </a:pPr>
              <a:r>
                <a:rPr lang="en-US" sz="1500" b="1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Event ID:</a:t>
              </a:r>
              <a:r>
                <a:rPr lang="en-US" sz="150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 11 (File Create)</a:t>
              </a:r>
              <a:endParaRPr lang="en-US" sz="15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8086368" y="4823103"/>
              <a:ext cx="5750243" cy="6243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 algn="l">
                <a:lnSpc>
                  <a:spcPts val="2400"/>
                </a:lnSpc>
                <a:buSzPct val="100000"/>
                <a:buChar char="•"/>
              </a:pPr>
              <a:r>
                <a:rPr lang="en-US" sz="1500" b="1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Image:</a:t>
              </a:r>
              <a:r>
                <a:rPr lang="en-US" sz="150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 </a:t>
              </a:r>
              <a:r>
                <a:rPr lang="en-US" sz="1500" dirty="0">
                  <a:solidFill>
                    <a:srgbClr val="52586B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powershell.exe</a:t>
              </a:r>
              <a:r>
                <a:rPr lang="en-US" sz="150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 — identifying the tool used for the malicious activity.</a:t>
              </a:r>
              <a:endParaRPr lang="en-US" sz="15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8086368" y="5514856"/>
              <a:ext cx="5750243" cy="616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 algn="l">
                <a:lnSpc>
                  <a:spcPts val="2400"/>
                </a:lnSpc>
                <a:buSzPct val="100000"/>
                <a:buChar char="•"/>
              </a:pPr>
              <a:r>
                <a:rPr lang="en-US" sz="1500" b="1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User:</a:t>
              </a:r>
              <a:r>
                <a:rPr lang="en-US" sz="150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 Rafay Rajpoot — pinpointing the exact user account responsible for the unauthorised modification.</a:t>
              </a:r>
              <a:endParaRPr lang="en-US" sz="15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8086368" y="6247209"/>
              <a:ext cx="5750243" cy="616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400"/>
                </a:lnSpc>
                <a:buNone/>
              </a:pPr>
              <a:r>
                <a:rPr lang="en-US" sz="150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This level of detail is vital for incident response and accountability, transforming a generic alert into a precise security incident report.</a:t>
              </a:r>
              <a:endParaRPr lang="en-US" sz="15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75328"/>
            <a:ext cx="724423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b="1" dirty="0">
                <a:solidFill>
                  <a:schemeClr val="bg2">
                    <a:lumMod val="25000"/>
                  </a:schemeClr>
                </a:solidFill>
                <a:latin typeface="Mona Sans Expanded" pitchFamily="2" charset="0"/>
                <a:ea typeface="Mona Sans Semi Bold" pitchFamily="34" charset="-122"/>
                <a:cs typeface="Mona Sans Semi Bold" pitchFamily="34" charset="-120"/>
              </a:rPr>
              <a:t>Challenges &amp; Refinements</a:t>
            </a:r>
            <a:endParaRPr lang="en-US" sz="4400" b="1" dirty="0">
              <a:solidFill>
                <a:schemeClr val="bg2">
                  <a:lumMod val="25000"/>
                </a:schemeClr>
              </a:solidFill>
              <a:latin typeface="Mona Sans Expanded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46499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Implementing this robust solution involved overcoming several technical hurdles, leading to refined configurations and a deeper understanding of system interactions.</a:t>
            </a:r>
            <a:endParaRPr lang="en-US" sz="175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8120C1B-8D16-A32D-B3D3-0B0E2BD6E848}"/>
              </a:ext>
            </a:extLst>
          </p:cNvPr>
          <p:cNvGrpSpPr/>
          <p:nvPr/>
        </p:nvGrpSpPr>
        <p:grpSpPr>
          <a:xfrm>
            <a:off x="763310" y="3527227"/>
            <a:ext cx="6438424" cy="3318510"/>
            <a:chOff x="763310" y="3527227"/>
            <a:chExt cx="6438424" cy="3318510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C09D13C-5E9C-DB6D-0427-DE64EAAF8334}"/>
                </a:ext>
              </a:extLst>
            </p:cNvPr>
            <p:cNvGrpSpPr/>
            <p:nvPr/>
          </p:nvGrpSpPr>
          <p:grpSpPr>
            <a:xfrm>
              <a:off x="793790" y="3527227"/>
              <a:ext cx="6407944" cy="3318510"/>
              <a:chOff x="793790" y="3527227"/>
              <a:chExt cx="6407944" cy="3318510"/>
            </a:xfrm>
          </p:grpSpPr>
          <p:sp>
            <p:nvSpPr>
              <p:cNvPr id="4" name="Shape 2"/>
              <p:cNvSpPr/>
              <p:nvPr/>
            </p:nvSpPr>
            <p:spPr>
              <a:xfrm>
                <a:off x="793790" y="3527227"/>
                <a:ext cx="6407944" cy="3318510"/>
              </a:xfrm>
              <a:prstGeom prst="roundRect">
                <a:avLst>
                  <a:gd name="adj" fmla="val 4409"/>
                </a:avLst>
              </a:prstGeom>
              <a:solidFill>
                <a:srgbClr val="FFFFFF">
                  <a:alpha val="95000"/>
                </a:srgbClr>
              </a:solidFill>
              <a:ln w="30480">
                <a:solidFill>
                  <a:srgbClr val="C8CACF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Text 4"/>
              <p:cNvSpPr/>
              <p:nvPr/>
            </p:nvSpPr>
            <p:spPr>
              <a:xfrm>
                <a:off x="1142524" y="3784521"/>
                <a:ext cx="4224218" cy="354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750"/>
                  </a:lnSpc>
                  <a:buNone/>
                </a:pPr>
                <a:r>
                  <a:rPr lang="en-US" sz="2200" b="1" dirty="0">
                    <a:solidFill>
                      <a:schemeClr val="bg2">
                        <a:lumMod val="25000"/>
                      </a:schemeClr>
                    </a:solidFill>
                    <a:latin typeface="Mona Sans Expanded" pitchFamily="2" charset="0"/>
                    <a:ea typeface="Mona Sans Semi Bold" pitchFamily="34" charset="-122"/>
                    <a:cs typeface="Mona Sans Semi Bold" pitchFamily="34" charset="-120"/>
                  </a:rPr>
                  <a:t>PowerShell Path Parsing Errors</a:t>
                </a:r>
                <a:endParaRPr lang="en-US" sz="2200" b="1" dirty="0">
                  <a:solidFill>
                    <a:schemeClr val="bg2">
                      <a:lumMod val="25000"/>
                    </a:schemeClr>
                  </a:solidFill>
                  <a:latin typeface="Mona Sans Expanded" pitchFamily="2" charset="0"/>
                </a:endParaRPr>
              </a:p>
            </p:txBody>
          </p:sp>
          <p:sp>
            <p:nvSpPr>
              <p:cNvPr id="7" name="Text 5"/>
              <p:cNvSpPr/>
              <p:nvPr/>
            </p:nvSpPr>
            <p:spPr>
              <a:xfrm>
                <a:off x="1142524" y="4274939"/>
                <a:ext cx="5801916" cy="10887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Initially, PowerShell commands encountered issues parsing file paths containing spaces within usernames or directories. This led to failed execution and detection.</a:t>
                </a:r>
                <a:endParaRPr lang="en-US" sz="1750" dirty="0"/>
              </a:p>
            </p:txBody>
          </p:sp>
          <p:sp>
            <p:nvSpPr>
              <p:cNvPr id="8" name="Text 6"/>
              <p:cNvSpPr/>
              <p:nvPr/>
            </p:nvSpPr>
            <p:spPr>
              <a:xfrm>
                <a:off x="1142524" y="5499735"/>
                <a:ext cx="5801916" cy="10887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b="1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Solution:</a:t>
                </a:r>
                <a:r>
                  <a:rPr lang="en-US" sz="1750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 Implemented strict path encapsulation using double quotes (</a:t>
                </a:r>
                <a:r>
                  <a:rPr lang="en-US" sz="1750" dirty="0">
                    <a:solidFill>
                      <a:srgbClr val="52586B"/>
                    </a:solidFill>
                    <a:highlight>
                      <a:srgbClr val="F2F2F2"/>
                    </a:highlight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" "</a:t>
                </a:r>
                <a:r>
                  <a:rPr lang="en-US" sz="1750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) around affected file paths, ensuring correct interpretation and execution.</a:t>
                </a:r>
                <a:endParaRPr lang="en-US" sz="1750" dirty="0"/>
              </a:p>
            </p:txBody>
          </p:sp>
        </p:grpSp>
        <p:sp>
          <p:nvSpPr>
            <p:cNvPr id="5" name="Shape 3"/>
            <p:cNvSpPr/>
            <p:nvPr/>
          </p:nvSpPr>
          <p:spPr>
            <a:xfrm>
              <a:off x="763310" y="3527227"/>
              <a:ext cx="121920" cy="3318510"/>
            </a:xfrm>
            <a:prstGeom prst="roundRect">
              <a:avLst>
                <a:gd name="adj" fmla="val 78139"/>
              </a:avLst>
            </a:prstGeom>
            <a:solidFill>
              <a:srgbClr val="373B48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051B08D-2FDB-0FE5-C93F-27D707F4E2DE}"/>
              </a:ext>
            </a:extLst>
          </p:cNvPr>
          <p:cNvGrpSpPr/>
          <p:nvPr/>
        </p:nvGrpSpPr>
        <p:grpSpPr>
          <a:xfrm>
            <a:off x="7398067" y="3527227"/>
            <a:ext cx="6438544" cy="3318510"/>
            <a:chOff x="7398067" y="3527227"/>
            <a:chExt cx="6438544" cy="331851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8AC38C63-E116-8295-3B8F-2285A6E13FEE}"/>
                </a:ext>
              </a:extLst>
            </p:cNvPr>
            <p:cNvGrpSpPr/>
            <p:nvPr/>
          </p:nvGrpSpPr>
          <p:grpSpPr>
            <a:xfrm>
              <a:off x="7428548" y="3527227"/>
              <a:ext cx="6408063" cy="3318510"/>
              <a:chOff x="7428548" y="3527227"/>
              <a:chExt cx="6408063" cy="3318510"/>
            </a:xfrm>
          </p:grpSpPr>
          <p:sp>
            <p:nvSpPr>
              <p:cNvPr id="9" name="Shape 7"/>
              <p:cNvSpPr/>
              <p:nvPr/>
            </p:nvSpPr>
            <p:spPr>
              <a:xfrm>
                <a:off x="7428548" y="3527227"/>
                <a:ext cx="6408063" cy="3318510"/>
              </a:xfrm>
              <a:prstGeom prst="roundRect">
                <a:avLst>
                  <a:gd name="adj" fmla="val 4409"/>
                </a:avLst>
              </a:prstGeom>
              <a:solidFill>
                <a:srgbClr val="FFFFFF">
                  <a:alpha val="95000"/>
                </a:srgbClr>
              </a:solidFill>
              <a:ln w="30480">
                <a:solidFill>
                  <a:srgbClr val="C8CACF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1" name="Text 9"/>
              <p:cNvSpPr/>
              <p:nvPr/>
            </p:nvSpPr>
            <p:spPr>
              <a:xfrm>
                <a:off x="7777282" y="3784521"/>
                <a:ext cx="4903708" cy="354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750"/>
                  </a:lnSpc>
                  <a:buNone/>
                </a:pPr>
                <a:r>
                  <a:rPr lang="en-US" sz="2200" b="1" dirty="0">
                    <a:solidFill>
                      <a:schemeClr val="bg2">
                        <a:lumMod val="25000"/>
                      </a:schemeClr>
                    </a:solidFill>
                    <a:latin typeface="Mona Sans Expanded" pitchFamily="2" charset="0"/>
                    <a:ea typeface="Mona Sans Semi Bold" pitchFamily="34" charset="-122"/>
                    <a:cs typeface="Mona Sans Semi Bold" pitchFamily="34" charset="-120"/>
                  </a:rPr>
                  <a:t>Sysmon Log Integration with Wazuh</a:t>
                </a:r>
                <a:endParaRPr lang="en-US" sz="2200" b="1" dirty="0">
                  <a:solidFill>
                    <a:schemeClr val="bg2">
                      <a:lumMod val="25000"/>
                    </a:schemeClr>
                  </a:solidFill>
                  <a:latin typeface="Mona Sans Expanded" pitchFamily="2" charset="0"/>
                </a:endParaRPr>
              </a:p>
            </p:txBody>
          </p:sp>
          <p:sp>
            <p:nvSpPr>
              <p:cNvPr id="12" name="Text 10"/>
              <p:cNvSpPr/>
              <p:nvPr/>
            </p:nvSpPr>
            <p:spPr>
              <a:xfrm>
                <a:off x="7777282" y="4274939"/>
                <a:ext cx="5802035" cy="10887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Integrating the comprehensive Sysmon event logs into the Wazuh manager for correlation proved challenging due to specific formatting and ingestion requirements.</a:t>
                </a:r>
                <a:endParaRPr lang="en-US" sz="1750" dirty="0"/>
              </a:p>
            </p:txBody>
          </p:sp>
          <p:sp>
            <p:nvSpPr>
              <p:cNvPr id="13" name="Text 11"/>
              <p:cNvSpPr/>
              <p:nvPr/>
            </p:nvSpPr>
            <p:spPr>
              <a:xfrm>
                <a:off x="7777282" y="5499735"/>
                <a:ext cx="5802035" cy="10887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b="1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Solution:</a:t>
                </a:r>
                <a:r>
                  <a:rPr lang="en-US" sz="1750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 Manually configured </a:t>
                </a:r>
                <a:r>
                  <a:rPr lang="en-US" sz="1750" dirty="0">
                    <a:solidFill>
                      <a:srgbClr val="52586B"/>
                    </a:solidFill>
                    <a:highlight>
                      <a:srgbClr val="F2F2F2"/>
                    </a:highlight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localfile</a:t>
                </a:r>
                <a:r>
                  <a:rPr lang="en-US" sz="1750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 settings within the </a:t>
                </a:r>
                <a:r>
                  <a:rPr lang="en-US" sz="1750" dirty="0">
                    <a:solidFill>
                      <a:srgbClr val="52586B"/>
                    </a:solidFill>
                    <a:highlight>
                      <a:srgbClr val="F2F2F2"/>
                    </a:highlight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ossec.conf</a:t>
                </a:r>
                <a:r>
                  <a:rPr lang="en-US" sz="1750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 on the Wazuh agent, precisely defining how to read and forward the Sysmon event channel.</a:t>
                </a:r>
                <a:endParaRPr lang="en-US" sz="1750" dirty="0"/>
              </a:p>
            </p:txBody>
          </p:sp>
        </p:grpSp>
        <p:sp>
          <p:nvSpPr>
            <p:cNvPr id="10" name="Shape 8"/>
            <p:cNvSpPr/>
            <p:nvPr/>
          </p:nvSpPr>
          <p:spPr>
            <a:xfrm>
              <a:off x="7398067" y="3527227"/>
              <a:ext cx="121920" cy="3318510"/>
            </a:xfrm>
            <a:prstGeom prst="roundRect">
              <a:avLst>
                <a:gd name="adj" fmla="val 78139"/>
              </a:avLst>
            </a:prstGeom>
            <a:solidFill>
              <a:srgbClr val="373B48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2350" y="1619964"/>
            <a:ext cx="742795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chemeClr val="bg2">
                    <a:lumMod val="25000"/>
                  </a:schemeClr>
                </a:solidFill>
                <a:latin typeface="Mona Sans Expanded" pitchFamily="2" charset="0"/>
                <a:ea typeface="Mona Sans Semi Bold" pitchFamily="34" charset="-122"/>
                <a:cs typeface="Mona Sans Semi Bold" pitchFamily="34" charset="-120"/>
              </a:rPr>
              <a:t>Conclusion &amp; Future Scope</a:t>
            </a:r>
            <a:endParaRPr lang="en-US" sz="4450" b="1" dirty="0">
              <a:solidFill>
                <a:schemeClr val="bg2">
                  <a:lumMod val="25000"/>
                </a:schemeClr>
              </a:solidFill>
              <a:latin typeface="Mona Sans Expanded" pitchFamily="2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D760D0D-3301-344B-17EA-762487E77E95}"/>
              </a:ext>
            </a:extLst>
          </p:cNvPr>
          <p:cNvGrpSpPr/>
          <p:nvPr/>
        </p:nvGrpSpPr>
        <p:grpSpPr>
          <a:xfrm>
            <a:off x="562297" y="2720051"/>
            <a:ext cx="6476202" cy="4137261"/>
            <a:chOff x="562297" y="2720051"/>
            <a:chExt cx="6476202" cy="4137261"/>
          </a:xfrm>
        </p:grpSpPr>
        <p:sp>
          <p:nvSpPr>
            <p:cNvPr id="3" name="Text 1"/>
            <p:cNvSpPr/>
            <p:nvPr/>
          </p:nvSpPr>
          <p:spPr>
            <a:xfrm>
              <a:off x="793790" y="2966839"/>
              <a:ext cx="3402330" cy="4252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300"/>
                </a:lnSpc>
                <a:buNone/>
              </a:pPr>
              <a:r>
                <a:rPr lang="en-US" sz="2650" b="1" dirty="0">
                  <a:solidFill>
                    <a:schemeClr val="bg2">
                      <a:lumMod val="25000"/>
                    </a:schemeClr>
                  </a:solidFill>
                  <a:latin typeface="Mona Sans Expanded" pitchFamily="2" charset="0"/>
                  <a:ea typeface="Mona Sans Semi Bold" pitchFamily="34" charset="-122"/>
                  <a:cs typeface="Mona Sans Semi Bold" pitchFamily="34" charset="-120"/>
                </a:rPr>
                <a:t>Project Conclusion</a:t>
              </a:r>
              <a:endParaRPr lang="en-US" sz="2650" b="1" dirty="0">
                <a:solidFill>
                  <a:schemeClr val="bg2">
                    <a:lumMod val="25000"/>
                  </a:schemeClr>
                </a:solidFill>
                <a:latin typeface="Mona Sans Expanded" pitchFamily="2" charset="0"/>
              </a:endParaRPr>
            </a:p>
          </p:txBody>
        </p:sp>
        <p:sp>
          <p:nvSpPr>
            <p:cNvPr id="4" name="Text 2"/>
            <p:cNvSpPr/>
            <p:nvPr/>
          </p:nvSpPr>
          <p:spPr>
            <a:xfrm>
              <a:off x="793790" y="3547824"/>
              <a:ext cx="6244709" cy="21774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This project successfully demonstrated the capability to secure a critical server environment against unauthorised modifications using open-source tools. The integrated Wazuh and Sysmon solution provides both real-time detection and in-depth forensic analysis, proving invaluable for maintaining system integrity.</a:t>
              </a:r>
              <a:endParaRPr lang="en-US" sz="1750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6F9A459-611C-E9AC-6527-4FDDE7908EAD}"/>
                </a:ext>
              </a:extLst>
            </p:cNvPr>
            <p:cNvGrpSpPr/>
            <p:nvPr/>
          </p:nvGrpSpPr>
          <p:grpSpPr>
            <a:xfrm>
              <a:off x="562297" y="2720051"/>
              <a:ext cx="6476202" cy="4137261"/>
              <a:chOff x="562297" y="2720051"/>
              <a:chExt cx="6476202" cy="4137261"/>
            </a:xfrm>
          </p:grpSpPr>
          <p:sp>
            <p:nvSpPr>
              <p:cNvPr id="10" name="Shape 2">
                <a:extLst>
                  <a:ext uri="{FF2B5EF4-FFF2-40B4-BE49-F238E27FC236}">
                    <a16:creationId xmlns:a16="http://schemas.microsoft.com/office/drawing/2014/main" id="{6F3CC2C1-08C5-B602-7E3B-222C89C3E035}"/>
                  </a:ext>
                </a:extLst>
              </p:cNvPr>
              <p:cNvSpPr/>
              <p:nvPr/>
            </p:nvSpPr>
            <p:spPr>
              <a:xfrm>
                <a:off x="562297" y="2720051"/>
                <a:ext cx="6476202" cy="4125686"/>
              </a:xfrm>
              <a:prstGeom prst="roundRect">
                <a:avLst>
                  <a:gd name="adj" fmla="val 4409"/>
                </a:avLst>
              </a:prstGeom>
              <a:noFill/>
              <a:ln w="30480">
                <a:solidFill>
                  <a:srgbClr val="C8CACF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Shape 3">
                <a:extLst>
                  <a:ext uri="{FF2B5EF4-FFF2-40B4-BE49-F238E27FC236}">
                    <a16:creationId xmlns:a16="http://schemas.microsoft.com/office/drawing/2014/main" id="{0D54F91A-4A45-F931-073B-8533DB9190A8}"/>
                  </a:ext>
                </a:extLst>
              </p:cNvPr>
              <p:cNvSpPr/>
              <p:nvPr/>
            </p:nvSpPr>
            <p:spPr>
              <a:xfrm>
                <a:off x="566541" y="2731626"/>
                <a:ext cx="123219" cy="4125686"/>
              </a:xfrm>
              <a:prstGeom prst="roundRect">
                <a:avLst>
                  <a:gd name="adj" fmla="val 78139"/>
                </a:avLst>
              </a:prstGeom>
              <a:solidFill>
                <a:srgbClr val="373B48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329FBB0-2234-5CFD-1BD0-9F3FF36496E5}"/>
              </a:ext>
            </a:extLst>
          </p:cNvPr>
          <p:cNvGrpSpPr/>
          <p:nvPr/>
        </p:nvGrpSpPr>
        <p:grpSpPr>
          <a:xfrm>
            <a:off x="7315200" y="2705299"/>
            <a:ext cx="6667018" cy="4137261"/>
            <a:chOff x="7315200" y="2705299"/>
            <a:chExt cx="6667018" cy="4137261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E5C55C67-88FF-3DC1-6479-B3C7A9ED985C}"/>
                </a:ext>
              </a:extLst>
            </p:cNvPr>
            <p:cNvGrpSpPr/>
            <p:nvPr/>
          </p:nvGrpSpPr>
          <p:grpSpPr>
            <a:xfrm>
              <a:off x="7599521" y="2966839"/>
              <a:ext cx="6244709" cy="3258701"/>
              <a:chOff x="7599521" y="2966839"/>
              <a:chExt cx="6244709" cy="3258701"/>
            </a:xfrm>
          </p:grpSpPr>
          <p:sp>
            <p:nvSpPr>
              <p:cNvPr id="5" name="Text 3"/>
              <p:cNvSpPr/>
              <p:nvPr/>
            </p:nvSpPr>
            <p:spPr>
              <a:xfrm>
                <a:off x="7599521" y="2966839"/>
                <a:ext cx="4923234" cy="42529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3300"/>
                  </a:lnSpc>
                  <a:buNone/>
                </a:pPr>
                <a:r>
                  <a:rPr lang="en-US" sz="2650" b="1" dirty="0">
                    <a:solidFill>
                      <a:schemeClr val="bg2">
                        <a:lumMod val="25000"/>
                      </a:schemeClr>
                    </a:solidFill>
                    <a:latin typeface="Mona Sans Expanded" pitchFamily="2" charset="0"/>
                    <a:ea typeface="Mona Sans Semi Bold" pitchFamily="34" charset="-122"/>
                    <a:cs typeface="Mona Sans Semi Bold" pitchFamily="34" charset="-120"/>
                  </a:rPr>
                  <a:t>Future Work &amp; Enhancements</a:t>
                </a:r>
                <a:endParaRPr lang="en-US" sz="2650" b="1" dirty="0">
                  <a:solidFill>
                    <a:schemeClr val="bg2">
                      <a:lumMod val="25000"/>
                    </a:schemeClr>
                  </a:solidFill>
                  <a:latin typeface="Mona Sans Expanded" pitchFamily="2" charset="0"/>
                </a:endParaRPr>
              </a:p>
            </p:txBody>
          </p:sp>
          <p:sp>
            <p:nvSpPr>
              <p:cNvPr id="6" name="Text 4"/>
              <p:cNvSpPr/>
              <p:nvPr/>
            </p:nvSpPr>
            <p:spPr>
              <a:xfrm>
                <a:off x="7599521" y="3547824"/>
                <a:ext cx="6244709" cy="14516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342900" indent="-342900" algn="l">
                  <a:lnSpc>
                    <a:spcPts val="2850"/>
                  </a:lnSpc>
                  <a:buSzPct val="100000"/>
                  <a:buChar char="•"/>
                </a:pPr>
                <a:r>
                  <a:rPr lang="en-US" sz="1750" b="1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Active Response Implementation:</a:t>
                </a:r>
                <a:r>
                  <a:rPr lang="en-US" sz="1750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 Develop automated responses to detected threats, such as automatically killing malicious processes or isolating compromised systems.</a:t>
                </a:r>
                <a:endParaRPr lang="en-US" sz="1750" dirty="0"/>
              </a:p>
            </p:txBody>
          </p:sp>
          <p:sp>
            <p:nvSpPr>
              <p:cNvPr id="7" name="Text 5"/>
              <p:cNvSpPr/>
              <p:nvPr/>
            </p:nvSpPr>
            <p:spPr>
              <a:xfrm>
                <a:off x="7599521" y="4773930"/>
                <a:ext cx="6244709" cy="14516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342900" indent="-342900" algn="l">
                  <a:lnSpc>
                    <a:spcPts val="2850"/>
                  </a:lnSpc>
                  <a:buSzPct val="100000"/>
                  <a:buChar char="•"/>
                </a:pPr>
                <a:r>
                  <a:rPr lang="en-US" sz="1750" b="1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Advanced Ransomware Defence:</a:t>
                </a:r>
                <a:r>
                  <a:rPr lang="en-US" sz="1750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 Extend the system's capabilities to detect and mitigate mass-encryption events, providing an early warning and response mechanism against ransomware attacks.</a:t>
                </a:r>
                <a:endParaRPr lang="en-US" sz="1750" dirty="0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C90F611-BA0B-569F-159C-4176F3348AD6}"/>
                </a:ext>
              </a:extLst>
            </p:cNvPr>
            <p:cNvGrpSpPr/>
            <p:nvPr/>
          </p:nvGrpSpPr>
          <p:grpSpPr>
            <a:xfrm>
              <a:off x="7315200" y="2705299"/>
              <a:ext cx="6667018" cy="4137261"/>
              <a:chOff x="562297" y="2720051"/>
              <a:chExt cx="6476202" cy="4137261"/>
            </a:xfrm>
          </p:grpSpPr>
          <p:sp>
            <p:nvSpPr>
              <p:cNvPr id="16" name="Shape 2">
                <a:extLst>
                  <a:ext uri="{FF2B5EF4-FFF2-40B4-BE49-F238E27FC236}">
                    <a16:creationId xmlns:a16="http://schemas.microsoft.com/office/drawing/2014/main" id="{5C58FF1B-3E27-74FA-CDF2-3F7575FDE524}"/>
                  </a:ext>
                </a:extLst>
              </p:cNvPr>
              <p:cNvSpPr/>
              <p:nvPr/>
            </p:nvSpPr>
            <p:spPr>
              <a:xfrm>
                <a:off x="562297" y="2720051"/>
                <a:ext cx="6476202" cy="4125686"/>
              </a:xfrm>
              <a:prstGeom prst="roundRect">
                <a:avLst>
                  <a:gd name="adj" fmla="val 4409"/>
                </a:avLst>
              </a:prstGeom>
              <a:noFill/>
              <a:ln w="30480">
                <a:solidFill>
                  <a:srgbClr val="C8CACF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Shape 3">
                <a:extLst>
                  <a:ext uri="{FF2B5EF4-FFF2-40B4-BE49-F238E27FC236}">
                    <a16:creationId xmlns:a16="http://schemas.microsoft.com/office/drawing/2014/main" id="{DEB01AAA-D4B3-985D-9FD4-65BAD092F740}"/>
                  </a:ext>
                </a:extLst>
              </p:cNvPr>
              <p:cNvSpPr/>
              <p:nvPr/>
            </p:nvSpPr>
            <p:spPr>
              <a:xfrm>
                <a:off x="566541" y="2731626"/>
                <a:ext cx="123219" cy="4125686"/>
              </a:xfrm>
              <a:prstGeom prst="roundRect">
                <a:avLst>
                  <a:gd name="adj" fmla="val 78139"/>
                </a:avLst>
              </a:prstGeom>
              <a:solidFill>
                <a:srgbClr val="373B48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FF91904-B4AE-4477-BF2F-76AFA790FF58}">
  <we:reference id="wa200008583" version="1.0.0.1" store="en-US" storeType="OMEX"/>
  <we:alternateReferences>
    <we:reference id="wa200008583" version="1.0.0.1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178</TotalTime>
  <Words>1016</Words>
  <Application>Microsoft Office PowerPoint</Application>
  <PresentationFormat>Custom</PresentationFormat>
  <Paragraphs>101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Mona Sans Light</vt:lpstr>
      <vt:lpstr>Aptos</vt:lpstr>
      <vt:lpstr>Arial</vt:lpstr>
      <vt:lpstr>Mona Sans Expanded</vt:lpstr>
      <vt:lpstr>Mona Sans Semi Bold</vt:lpstr>
      <vt:lpstr>Funnel Sans</vt:lpstr>
      <vt:lpstr>Consolas</vt:lpstr>
      <vt:lpstr>Aptos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Rafay Rajpoot</dc:creator>
  <cp:lastModifiedBy>RAFAY SADIQ</cp:lastModifiedBy>
  <cp:revision>7</cp:revision>
  <dcterms:created xsi:type="dcterms:W3CDTF">2025-12-13T01:20:16Z</dcterms:created>
  <dcterms:modified xsi:type="dcterms:W3CDTF">2026-01-30T21:22:36Z</dcterms:modified>
</cp:coreProperties>
</file>